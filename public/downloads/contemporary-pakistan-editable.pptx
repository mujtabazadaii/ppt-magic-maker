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1411C"/>
              </a:gs>
              <a:gs pos="50000">
                <a:srgbClr val="0A5A26"/>
              </a:gs>
              <a:gs pos="100000">
                <a:srgbClr val="01411C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10287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1571625"/>
            <a:ext cx="304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9239250"/>
            <a:ext cx="16002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6477000"/>
            <a:ext cx="8629650" cy="2286000"/>
          </a:xfrm>
          <a:prstGeom prst="rect">
            <a:avLst/>
          </a:prstGeom>
          <a:solidFill>
            <a:srgbClr val="15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77000"/>
            <a:ext cx="57150" cy="2286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39500" y="6477000"/>
            <a:ext cx="5962650" cy="2286000"/>
          </a:xfrm>
          <a:prstGeom prst="rect">
            <a:avLst/>
          </a:prstGeom>
          <a:solidFill>
            <a:srgbClr val="15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39500" y="6477000"/>
            <a:ext cx="57150" cy="2286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382875" y="1400175"/>
            <a:ext cx="2190750" cy="2190750"/>
          </a:xfrm>
          <a:prstGeom prst="ellipse">
            <a:avLst/>
          </a:prstGeom>
          <a:solidFill>
            <a:srgbClr val="1A5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5478125" y="1714500"/>
            <a:ext cx="1333500" cy="1333500"/>
          </a:xfrm>
          <a:prstGeom prst="star5">
            <a:avLst/>
          </a:prstGeom>
          <a:solidFill>
            <a:srgbClr val="B49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3950" y="1028700"/>
            <a:ext cx="16040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i="0" spc="780">
                <a:solidFill>
                  <a:srgbClr val="D4AF37"/>
                </a:solidFill>
                <a:latin typeface="Times New Roman"/>
              </a:rPr>
              <a:t> PAKISTAN STUDIES · CONTEMPORARY ISSUES &amp; PROSPECTS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2171700"/>
            <a:ext cx="14325600" cy="1118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i="0" spc="-81">
                <a:solidFill>
                  <a:srgbClr val="FFFFFF"/>
                </a:solidFill>
                <a:latin typeface="Times New Roman"/>
              </a:rPr>
              <a:t> Contemporary Pakistan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3423195"/>
            <a:ext cx="14325600" cy="708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0" i="1" spc="48">
                <a:solidFill>
                  <a:srgbClr val="FFFFFF"/>
                </a:solidFill>
                <a:latin typeface="Times New Roman"/>
              </a:rPr>
              <a:t> Issues, Challenges &amp; Prospects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4933950"/>
            <a:ext cx="13373100" cy="89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1">
                <a:solidFill>
                  <a:srgbClr val="E8E8E8"/>
                </a:solidFill>
                <a:latin typeface="Times New Roman"/>
              </a:rPr>
              <a:t> State of Human Rights within the Framework of the Constitution: Minority Rights,</a:t>
            </a:r>
          </a:p>
          <a:p>
            <a:pPr algn="l">
              <a:lnSpc>
                <a:spcPct val="140000"/>
              </a:lnSpc>
            </a:pPr>
            <a:r>
              <a:rPr sz="2400" b="0" i="1">
                <a:solidFill>
                  <a:srgbClr val="E8E8E8"/>
                </a:solidFill>
                <a:latin typeface="Times New Roman"/>
              </a:rPr>
              <a:t> Women's Rights &amp; Gender Equality, and the Achievements of Pakistani Women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4950" y="6648450"/>
            <a:ext cx="80391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50">
                <a:solidFill>
                  <a:srgbClr val="D4AF37"/>
                </a:solidFill>
                <a:latin typeface="Times New Roman"/>
              </a:rPr>
              <a:t>COURSE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6962775"/>
            <a:ext cx="80391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Times New Roman"/>
              </a:rPr>
              <a:t>Pakistan Studies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950" y="7343775"/>
            <a:ext cx="8039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E8E8E8"/>
                </a:solidFill>
                <a:latin typeface="Times New Roman"/>
              </a:rPr>
              <a:t>Curriculum | Credit Hours: </a:t>
            </a:r>
            <a:r>
              <a:rPr sz="1650" b="1" i="0">
                <a:solidFill>
                  <a:srgbClr val="D4AF37"/>
                </a:solidFill>
                <a:latin typeface="Times New Roman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950" y="7648575"/>
            <a:ext cx="8039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E8E8E8"/>
                </a:solidFill>
                <a:latin typeface="Times New Roman"/>
              </a:rPr>
              <a:t>Academic Session </a:t>
            </a:r>
            <a:r>
              <a:rPr sz="1650" b="1" i="0">
                <a:solidFill>
                  <a:srgbClr val="D4AF37"/>
                </a:solidFill>
                <a:latin typeface="Times New Roman"/>
              </a:rPr>
              <a:t>2026 –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01450" y="6648450"/>
            <a:ext cx="53721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50">
                <a:solidFill>
                  <a:srgbClr val="D4AF37"/>
                </a:solidFill>
                <a:latin typeface="Times New Roman"/>
              </a:rPr>
              <a:t>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01450" y="6962775"/>
            <a:ext cx="5372100" cy="358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FFFFF"/>
                </a:solidFill>
                <a:latin typeface="Times New Roman"/>
              </a:rPr>
              <a:t>Institute of Emerging Technologies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01450" y="7320855"/>
            <a:ext cx="5372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Sukkur IBA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01450" y="7616130"/>
            <a:ext cx="53721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8E8E8"/>
                </a:solidFill>
                <a:latin typeface="Times New Roman"/>
              </a:rPr>
              <a:t>Khairpur Campus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950" y="9363075"/>
            <a:ext cx="80391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50">
                <a:solidFill>
                  <a:srgbClr val="D4AF37"/>
                </a:solidFill>
                <a:latin typeface="Times New Roman"/>
              </a:rPr>
              <a:t>LECTURER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50" y="9658350"/>
            <a:ext cx="80391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FFFFF"/>
                </a:solidFill>
                <a:latin typeface="Times New Roman"/>
              </a:rPr>
              <a:t>Mr. Amjad Ali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0450" y="9363075"/>
            <a:ext cx="59436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 spc="450">
                <a:solidFill>
                  <a:srgbClr val="D4AF37"/>
                </a:solidFill>
                <a:latin typeface="Times New Roman"/>
              </a:rPr>
              <a:t>SUKKUR IBA UNIVERSITY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20450" y="9658350"/>
            <a:ext cx="5943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650" b="0" i="1">
                <a:solidFill>
                  <a:srgbClr val="FFFFFF"/>
                </a:solidFill>
                <a:latin typeface="Times New Roman"/>
              </a:rPr>
              <a:t>Empowering Futures through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857500"/>
            <a:ext cx="5029200" cy="2543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857500"/>
            <a:ext cx="50292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5391150"/>
            <a:ext cx="5029200" cy="95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2857500"/>
            <a:ext cx="5029200" cy="2543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2857500"/>
            <a:ext cx="50292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5391150"/>
            <a:ext cx="5029200" cy="95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401550" y="2857500"/>
            <a:ext cx="5029200" cy="2543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401550" y="2857500"/>
            <a:ext cx="50292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401550" y="5391150"/>
            <a:ext cx="5029200" cy="95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5715000"/>
            <a:ext cx="5029200" cy="2543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5715000"/>
            <a:ext cx="50292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7250" y="8248650"/>
            <a:ext cx="5029200" cy="95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5715000"/>
            <a:ext cx="5029200" cy="2543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29400" y="5715000"/>
            <a:ext cx="50292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29400" y="8248650"/>
            <a:ext cx="5029200" cy="95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401550" y="5715000"/>
            <a:ext cx="5029200" cy="25336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401550" y="5715000"/>
            <a:ext cx="50292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LECTURE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Learning Objectives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8450" y="314325"/>
            <a:ext cx="31813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350" b="0" i="0" spc="270">
                <a:solidFill>
                  <a:srgbClr val="D4AF37"/>
                </a:solidFill>
                <a:latin typeface="Times New Roman"/>
              </a:rPr>
              <a:t>COURSE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8450" y="552450"/>
            <a:ext cx="31813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Times New Roman"/>
              </a:rPr>
              <a:t>PAK-201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1504950"/>
            <a:ext cx="166116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222222"/>
                </a:solidFill>
                <a:latin typeface="Times New Roman"/>
              </a:rPr>
              <a:t> By the end of this lecture, students will be able to critically analyse the contemporary human-rights landscape of Pakistan within its constitutional framework, with a focused inquiry into minority protections, gender equality, and the documented achievements of Pakistani women.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950" y="3076575"/>
            <a:ext cx="46101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D4AF37"/>
                </a:solidFill>
                <a:latin typeface="Times New Roman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3950" y="3743325"/>
            <a:ext cx="4610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i="0">
                <a:solidFill>
                  <a:srgbClr val="01411C"/>
                </a:solidFill>
                <a:latin typeface="Times New Roman"/>
              </a:rPr>
              <a:t>Constitutional Literacy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3950" y="4105275"/>
            <a:ext cx="461010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333333"/>
                </a:solidFill>
                <a:latin typeface="Times New Roman"/>
              </a:rPr>
              <a:t>Identify and interpret the fundamental rights provisions of the Constitution of Pakistan, 1973, especially Articles 20–25 and 36–40.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6100" y="3076575"/>
            <a:ext cx="46101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D4AF37"/>
                </a:solidFill>
                <a:latin typeface="Times New Roman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6100" y="3743325"/>
            <a:ext cx="4610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i="0">
                <a:solidFill>
                  <a:srgbClr val="01411C"/>
                </a:solidFill>
                <a:latin typeface="Times New Roman"/>
              </a:rPr>
              <a:t>Minority Rights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6100" y="4105275"/>
            <a:ext cx="461010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333333"/>
                </a:solidFill>
                <a:latin typeface="Times New Roman"/>
              </a:rPr>
              <a:t>Examine the legal and socio-political status of religious minorities in Pakistan and the contemporary challenges they face.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68250" y="3076575"/>
            <a:ext cx="46101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D4AF37"/>
                </a:solidFill>
                <a:latin typeface="Times New Roman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68250" y="3743325"/>
            <a:ext cx="4610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i="0">
                <a:solidFill>
                  <a:srgbClr val="01411C"/>
                </a:solidFill>
                <a:latin typeface="Times New Roman"/>
              </a:rPr>
              <a:t>Women's Rights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68250" y="4105275"/>
            <a:ext cx="46101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333333"/>
                </a:solidFill>
                <a:latin typeface="Times New Roman"/>
              </a:rPr>
              <a:t>Analyse the constitutional safeguards, statutory protections, and structural challenges facing Pakistani women.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3950" y="5934075"/>
            <a:ext cx="46101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D4AF37"/>
                </a:solidFill>
                <a:latin typeface="Times New Roman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3950" y="6600825"/>
            <a:ext cx="4610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i="0">
                <a:solidFill>
                  <a:srgbClr val="01411C"/>
                </a:solidFill>
                <a:latin typeface="Times New Roman"/>
              </a:rPr>
              <a:t>Women's Achievements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3950" y="6962775"/>
            <a:ext cx="461010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333333"/>
                </a:solidFill>
                <a:latin typeface="Times New Roman"/>
              </a:rPr>
              <a:t>Recognise the documented contributions of Pakistani women in politics, law, science, sports, literature, and civil society.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6100" y="5934075"/>
            <a:ext cx="46101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D4AF37"/>
                </a:solidFill>
                <a:latin typeface="Times New Roman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96100" y="6600825"/>
            <a:ext cx="4610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i="0">
                <a:solidFill>
                  <a:srgbClr val="01411C"/>
                </a:solidFill>
                <a:latin typeface="Times New Roman"/>
              </a:rPr>
              <a:t>Critical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96100" y="6962775"/>
            <a:ext cx="461010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333333"/>
                </a:solidFill>
                <a:latin typeface="Times New Roman"/>
              </a:rPr>
              <a:t>Develop an evidence-based, neutral perspective on the gap between constitutional text and lived reality in modern Pakistan.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68250" y="5934075"/>
            <a:ext cx="46101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50">
                <a:solidFill>
                  <a:srgbClr val="D4AF37"/>
                </a:solidFill>
                <a:latin typeface="Times New Roman"/>
              </a:rPr>
              <a:t>PEDAGOGICAL GOAL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668250" y="6248400"/>
            <a:ext cx="4610100" cy="335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Civic Awareness &amp; Evidence-Based Reasoning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68250" y="6640710"/>
            <a:ext cx="4610100" cy="500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8E8"/>
                </a:solidFill>
                <a:latin typeface="Times New Roman"/>
              </a:rPr>
              <a:t>Apply constitutional, historical, and sociological evidence to assess contemporary issues.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3238500"/>
            <a:ext cx="8458200" cy="3619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3238500"/>
            <a:ext cx="76200" cy="3619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20250" y="3238500"/>
            <a:ext cx="7810500" cy="36766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20250" y="3238500"/>
            <a:ext cx="7810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" y="7239000"/>
            <a:ext cx="16573500" cy="2257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7239000"/>
            <a:ext cx="16573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7250" y="9486900"/>
            <a:ext cx="165735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Introduction — Pakistan in the Contemporary 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1409700"/>
            <a:ext cx="10515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— FRAMING THE INQUIRY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1685925"/>
            <a:ext cx="10515600" cy="9581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50" b="1" i="0">
                <a:solidFill>
                  <a:srgbClr val="01411C"/>
                </a:solidFill>
                <a:latin typeface="Times New Roman"/>
              </a:rPr>
              <a:t>A Federal Republic at the Crossroads of Tradition and Modernity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505200"/>
            <a:ext cx="7658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338">
                <a:solidFill>
                  <a:srgbClr val="D4AF37"/>
                </a:solidFill>
                <a:latin typeface="Times New Roman"/>
              </a:rPr>
              <a:t>CONSTITUTIONAL PREAMBLE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838575"/>
            <a:ext cx="7658100" cy="2358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 i="1">
                <a:solidFill>
                  <a:srgbClr val="01411C"/>
                </a:solidFill>
                <a:latin typeface="Times New Roman"/>
              </a:rPr>
              <a:t> "Whereas sovereignty over the entire Universe belongs to Almighty Allah alone…</a:t>
            </a:r>
          </a:p>
          <a:p>
            <a:pPr algn="l">
              <a:lnSpc>
                <a:spcPct val="145000"/>
              </a:lnSpc>
            </a:pPr>
            <a:r>
              <a:rPr sz="2100" b="1" i="1">
                <a:solidFill>
                  <a:srgbClr val="01411C"/>
                </a:solidFill>
                <a:latin typeface="Times New Roman"/>
              </a:rPr>
              <a:t> wherein the State shall exercise its powers and authority through the chosen representatives of the people…wherein adequate provision shall be made for the minorities to profess and practise their religions…"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6291857"/>
            <a:ext cx="7658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666666"/>
                </a:solidFill>
                <a:latin typeface="Times New Roman"/>
              </a:rPr>
              <a:t>— Constitution of Pakistan, 1973 (Preamble, as amended)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2200" y="3486150"/>
            <a:ext cx="7086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PAKISTAN AT A GLANCE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2200" y="3819525"/>
            <a:ext cx="7086600" cy="378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58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5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580" b="0" i="0">
                <a:solidFill>
                  <a:srgbClr val="FFFFFF"/>
                </a:solidFill>
                <a:latin typeface="Times New Roman"/>
              </a:rPr>
              <a:t> Federal parliamentary republic since 1947; Constitution adopted 14 August 1973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2200" y="4159448"/>
            <a:ext cx="7086600" cy="378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58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5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580" b="0" i="0">
                <a:solidFill>
                  <a:srgbClr val="FFFFFF"/>
                </a:solidFill>
                <a:latin typeface="Times New Roman"/>
              </a:rPr>
              <a:t> Population over </a:t>
            </a:r>
            <a:r>
              <a:rPr sz="1580" b="1" i="0">
                <a:solidFill>
                  <a:srgbClr val="FFFFFF"/>
                </a:solidFill>
                <a:latin typeface="Times New Roman"/>
              </a:rPr>
              <a:t>240 million</a:t>
            </a:r>
            <a:r>
              <a:rPr sz="1580" b="0" i="0">
                <a:solidFill>
                  <a:srgbClr val="FFFFFF"/>
                </a:solidFill>
                <a:latin typeface="Times New Roman"/>
              </a:rPr>
              <a:t> (6th most populous globally)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2200" y="4499371"/>
            <a:ext cx="7086600" cy="378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58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5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580" b="0" i="0">
                <a:solidFill>
                  <a:srgbClr val="FFFFFF"/>
                </a:solidFill>
                <a:latin typeface="Times New Roman"/>
              </a:rPr>
              <a:t> Plural yet majority-Muslim society — minorities constitute roughly </a:t>
            </a:r>
            <a:r>
              <a:rPr sz="1580" b="1" i="0">
                <a:solidFill>
                  <a:srgbClr val="FFFFFF"/>
                </a:solidFill>
                <a:latin typeface="Times New Roman"/>
              </a:rPr>
              <a:t>3–4%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2200" y="4839295"/>
            <a:ext cx="7086600" cy="378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58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5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580" b="0" i="0">
                <a:solidFill>
                  <a:srgbClr val="FFFFFF"/>
                </a:solidFill>
                <a:latin typeface="Times New Roman"/>
              </a:rPr>
              <a:t> 4 provinces + AJK, GB, ICT &amp; newly merged tribal districts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2200" y="5179218"/>
            <a:ext cx="7086600" cy="378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58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5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580" b="0" i="0">
                <a:solidFill>
                  <a:srgbClr val="FFFFFF"/>
                </a:solidFill>
                <a:latin typeface="Times New Roman"/>
              </a:rPr>
              <a:t> Active member of the UN, OIC &amp; SCO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7505700"/>
            <a:ext cx="158496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50">
                <a:solidFill>
                  <a:srgbClr val="D4AF37"/>
                </a:solidFill>
                <a:latin typeface="Times New Roman"/>
              </a:rPr>
              <a:t>SCOPE OF THIS LECTURE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0" y="7820025"/>
            <a:ext cx="158496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222222"/>
                </a:solidFill>
                <a:latin typeface="Times New Roman"/>
              </a:rPr>
              <a:t> This module examines </a:t>
            </a:r>
            <a:r>
              <a:rPr sz="1800" b="1" i="0">
                <a:solidFill>
                  <a:srgbClr val="01411C"/>
                </a:solidFill>
                <a:latin typeface="Times New Roman"/>
              </a:rPr>
              <a:t>Part II (Articles 8–28)</a:t>
            </a:r>
            <a:r>
              <a:rPr sz="1800" b="0" i="0">
                <a:solidFill>
                  <a:srgbClr val="222222"/>
                </a:solidFill>
                <a:latin typeface="Times New Roman"/>
              </a:rPr>
              <a:t> of the Constitution — Fundamental Rights — alongside statutory protections and lived realities for ethnic, religious, and gender minorities. We focus on three intersecting domains: </a:t>
            </a:r>
            <a:r>
              <a:rPr sz="1800" b="1" i="0">
                <a:solidFill>
                  <a:srgbClr val="01411C"/>
                </a:solidFill>
                <a:latin typeface="Times New Roman"/>
              </a:rPr>
              <a:t>constitutional guarantees, structural gaps in implementation, and the documented achievements of Pakistani women</a:t>
            </a:r>
            <a:r>
              <a:rPr sz="1800" b="0" i="0">
                <a:solidFill>
                  <a:srgbClr val="222222"/>
                </a:solidFill>
                <a:latin typeface="Times New Roman"/>
              </a:rPr>
              <a:t> as evidence of progressive trajectory.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3048000"/>
            <a:ext cx="57912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3048000"/>
            <a:ext cx="76200" cy="952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4143375"/>
            <a:ext cx="57912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250" y="4143375"/>
            <a:ext cx="76200" cy="952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" y="5238750"/>
            <a:ext cx="5791200" cy="952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5238750"/>
            <a:ext cx="76200" cy="9525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7250" y="6334125"/>
            <a:ext cx="57912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250" y="6334125"/>
            <a:ext cx="76200" cy="952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7250" y="7429500"/>
            <a:ext cx="57912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7429500"/>
            <a:ext cx="76200" cy="952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8524875"/>
            <a:ext cx="57912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7250" y="8524875"/>
            <a:ext cx="76200" cy="952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29750" y="3048000"/>
            <a:ext cx="8001000" cy="6486525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29750" y="3048000"/>
            <a:ext cx="80010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0550" y="3429000"/>
            <a:ext cx="209550" cy="2095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0550" y="4524375"/>
            <a:ext cx="209550" cy="2095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0550" y="5619750"/>
            <a:ext cx="209550" cy="2095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0550" y="6715125"/>
            <a:ext cx="209550" cy="2095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0550" y="7810500"/>
            <a:ext cx="209550" cy="2095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0550" y="8905875"/>
            <a:ext cx="209550" cy="2095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Historical Background &amp;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409700"/>
            <a:ext cx="861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— A SEVEN-DECADE TRAJECTORY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1685925"/>
            <a:ext cx="86106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1411C"/>
                </a:solidFill>
                <a:latin typeface="Times New Roman"/>
              </a:rPr>
              <a:t>From Independence to the Post-2018 Reform Era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3950" y="3171825"/>
            <a:ext cx="5372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1947 · Partition &amp; Independence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3950" y="3400425"/>
            <a:ext cx="5372100" cy="475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Founding of Pakistan as a homeland for the Muslims of South Asia; the Objective Resolution precedes the constitutional text.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3950" y="4267200"/>
            <a:ext cx="5372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1956 · First Republic &amp; Constitution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3950" y="4495800"/>
            <a:ext cx="5372100" cy="475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Islamic Republic declared; fundamental rights enumerated; minorities formally recognised in early legislative framework.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3950" y="5362575"/>
            <a:ext cx="5372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1973 · The Current Constitution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3950" y="5591175"/>
            <a:ext cx="5372100" cy="475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FFFFFF"/>
                </a:solidFill>
                <a:latin typeface="Times New Roman"/>
              </a:rPr>
              <a:t>Parliamentary form restored; Article 25 expressly prohibits discrimination "on the basis of sex alone"; minorities protected.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3950" y="6457950"/>
            <a:ext cx="5372100" cy="260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2010 · 18</a:t>
            </a:r>
            <a:r>
              <a:rPr sz="1000" b="1" i="0">
                <a:solidFill>
                  <a:srgbClr val="D4AF37"/>
                </a:solidFill>
                <a:latin typeface="Times New Roman"/>
              </a:rPr>
              <a:t>th</a:t>
            </a:r>
            <a:r>
              <a:rPr sz="1200" b="1" i="0">
                <a:solidFill>
                  <a:srgbClr val="D4AF37"/>
                </a:solidFill>
                <a:latin typeface="Times New Roman"/>
              </a:rPr>
              <a:t> Amendment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3950" y="6737300"/>
            <a:ext cx="5372100" cy="475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Concurrent legislative list abolished; provinces gain autonomy over human-rights portfolio; ministries devolved to provinces.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3950" y="7553325"/>
            <a:ext cx="5372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2011 · Women's Protection Act / Acid Crime 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3950" y="7781925"/>
            <a:ext cx="5372100" cy="475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Reforms to Hudood Ordinances; acid-crime legislation passed; women's parliamentary caucus institutionalised.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3950" y="8648700"/>
            <a:ext cx="5372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2018 → · Present Era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3950" y="8877300"/>
            <a:ext cx="5372100" cy="475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Transgender Persons Act 2018; rights of persons with disabilities law 2020; Digital Rights Act under consultation.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91700" y="3267075"/>
            <a:ext cx="7277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FROM IDEA TO REPUBLIC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1700" y="3543300"/>
            <a:ext cx="7277100" cy="384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FFFFFF"/>
                </a:solidFill>
                <a:latin typeface="Times New Roman"/>
              </a:rPr>
              <a:t>Evolution of Rights Discourse in Pakistan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91700" y="4061370"/>
            <a:ext cx="7277100" cy="3208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5000"/>
              </a:lnSpc>
            </a:pPr>
            <a:r>
              <a:rPr sz="135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FFFFFF"/>
                </a:solidFill>
                <a:latin typeface="Times New Roman"/>
              </a:rPr>
              <a:t>1940:</a:t>
            </a:r>
            <a:r>
              <a:rPr sz="1350" b="0" i="0">
                <a:solidFill>
                  <a:srgbClr val="FFFFFF"/>
                </a:solidFill>
                <a:latin typeface="Times New Roman"/>
              </a:rPr>
              <a:t> Lahore Resolution — political demand precedes rights enumeration.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91700" y="4439394"/>
            <a:ext cx="7277100" cy="3208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5000"/>
              </a:lnSpc>
            </a:pPr>
            <a:r>
              <a:rPr sz="135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FFFFFF"/>
                </a:solidFill>
                <a:latin typeface="Times New Roman"/>
              </a:rPr>
              <a:t>1973:</a:t>
            </a:r>
            <a:r>
              <a:rPr sz="1350" b="0" i="0">
                <a:solidFill>
                  <a:srgbClr val="FFFFFF"/>
                </a:solidFill>
                <a:latin typeface="Times New Roman"/>
              </a:rPr>
              <a:t> Equal citizenship, religious freedom, &amp; reserved seats institutionalised.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91700" y="4817417"/>
            <a:ext cx="7277100" cy="603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35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FFFFFF"/>
                </a:solidFill>
                <a:latin typeface="Times New Roman"/>
              </a:rPr>
              <a:t>Zia era (1977–88):</a:t>
            </a:r>
            <a:r>
              <a:rPr sz="1350" b="0" i="0">
                <a:solidFill>
                  <a:srgbClr val="FFFFFF"/>
                </a:solidFill>
                <a:latin typeface="Times New Roman"/>
              </a:rPr>
              <a:t> Islamisation policies; Hudood Ordinances expand; rights of women &amp; minorities contested.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91700" y="5478214"/>
            <a:ext cx="7277100" cy="603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35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FFFFFF"/>
                </a:solidFill>
                <a:latin typeface="Times New Roman"/>
              </a:rPr>
              <a:t>2000s–2010s:</a:t>
            </a:r>
            <a:r>
              <a:rPr sz="1350" b="0" i="0">
                <a:solidFill>
                  <a:srgbClr val="FFFFFF"/>
                </a:solidFill>
                <a:latin typeface="Times New Roman"/>
              </a:rPr>
              <a:t> Civil-society mobilisation; women's parliamentary caucus; NCHR (2012) &amp; provincial HRCMs.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91700" y="6139011"/>
            <a:ext cx="7277100" cy="3208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5000"/>
              </a:lnSpc>
            </a:pPr>
            <a:r>
              <a:rPr sz="135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FFFFFF"/>
                </a:solidFill>
                <a:latin typeface="Times New Roman"/>
              </a:rPr>
              <a:t>2018 →</a:t>
            </a:r>
            <a:r>
              <a:rPr sz="1350" b="0" i="0">
                <a:solidFill>
                  <a:srgbClr val="FFFFFF"/>
                </a:solidFill>
                <a:latin typeface="Times New Roman"/>
              </a:rPr>
              <a:t> Transgender Persons Act; PWD rights; digital rights framework under consultation.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91700" y="6593234"/>
            <a:ext cx="7277100" cy="790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80" b="0" i="1">
                <a:solidFill>
                  <a:srgbClr val="E8E8E8"/>
                </a:solidFill>
                <a:latin typeface="Times New Roman"/>
              </a:rPr>
              <a:t> Pakistan's rights trajectory reflects a recurring tension between textual guarantees, political will, and societal practice. Civil-society organisations (HRCP, AGHS, NCHR, NCSW) have played a critical role in keeping these questions alive in the public sphere.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3238500"/>
            <a:ext cx="514350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323850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81750" y="3238500"/>
            <a:ext cx="514350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81750" y="323850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06250" y="3238500"/>
            <a:ext cx="5143500" cy="2343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906250" y="3238500"/>
            <a:ext cx="5143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7250" y="5810250"/>
            <a:ext cx="514350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250" y="581025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1750" y="5810250"/>
            <a:ext cx="514350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750" y="581025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906250" y="5810250"/>
            <a:ext cx="514350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06250" y="581025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7250" y="8382000"/>
            <a:ext cx="161925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Constitutional Framework for Human Rights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MAIN CONCEPT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1685925"/>
            <a:ext cx="16611600" cy="472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50" b="1" i="0">
                <a:solidFill>
                  <a:srgbClr val="01411C"/>
                </a:solidFill>
                <a:latin typeface="Times New Roman"/>
              </a:rPr>
              <a:t>The Constitution as the Supreme Source of Rights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234505"/>
            <a:ext cx="166116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 i="0">
                <a:solidFill>
                  <a:srgbClr val="222222"/>
                </a:solidFill>
                <a:latin typeface="Times New Roman"/>
              </a:rPr>
              <a:t> The Constitution of Pakistan, 1973 enshrines a comprehensive bill of rights in Part II (Articles 8–28). These provisions are enforceable directly through the High Courts under Article 199 and the Supreme Court under Article 184(3).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950" y="3409950"/>
            <a:ext cx="4610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D4AF37"/>
                </a:solidFill>
                <a:latin typeface="Times New Roman"/>
              </a:rPr>
              <a:t>Article 8 · Fundamental Rights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50" y="3667125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Laws Inconsistent With Fundamental Rights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950" y="4000500"/>
            <a:ext cx="4610100" cy="535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333333"/>
                </a:solidFill>
                <a:latin typeface="Times New Roman"/>
              </a:rPr>
              <a:t>Any law, custom or usage having the force of law that is inconsistent with Fundamental Rights shall be void.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8450" y="3409950"/>
            <a:ext cx="4610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D4AF37"/>
                </a:solidFill>
                <a:latin typeface="Times New Roman"/>
              </a:rPr>
              <a:t>Article 25 · Equality of Citizens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3667125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Non-Discrimination on Sex Alone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50" y="4000500"/>
            <a:ext cx="4610100" cy="783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333333"/>
                </a:solidFill>
                <a:latin typeface="Times New Roman"/>
              </a:rPr>
              <a:t>"All citizens are equal before law and are entitled to equal protection of law." Nothing shall prevent special provisions for women &amp; children.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72950" y="3409950"/>
            <a:ext cx="4610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D4AF37"/>
                </a:solidFill>
                <a:latin typeface="Times New Roman"/>
              </a:rPr>
              <a:t>Article 20 · Religious Freedom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72950" y="3667125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Freedom to Profess Religion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72950" y="4000500"/>
            <a:ext cx="4610100" cy="535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E8E8E8"/>
                </a:solidFill>
                <a:latin typeface="Times New Roman"/>
              </a:rPr>
              <a:t>Every citizen shall have the right to profess, practice and propagate his religion, subject to law, public order and morality.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3950" y="5981700"/>
            <a:ext cx="4610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D4AF37"/>
                </a:solidFill>
                <a:latin typeface="Times New Roman"/>
              </a:rPr>
              <a:t>Article 33 · Directive Principles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3950" y="6238875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Duty to Protect Minorities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3950" y="6572250"/>
            <a:ext cx="4610100" cy="535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333333"/>
                </a:solidFill>
                <a:latin typeface="Times New Roman"/>
              </a:rPr>
              <a:t>The State shall discourage parochial, racial, tribal, sectarian and provincial prejudices and protect legitimate interests of minorities.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8450" y="5981700"/>
            <a:ext cx="4610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D4AF37"/>
                </a:solidFill>
                <a:latin typeface="Times New Roman"/>
              </a:rPr>
              <a:t>Article 36 · Minority Protection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8450" y="6238875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Safeguards for Minorities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8450" y="6572250"/>
            <a:ext cx="4610100" cy="783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333333"/>
                </a:solidFill>
                <a:latin typeface="Times New Roman"/>
              </a:rPr>
              <a:t>The State shall safeguard the legitimate rights and interests of minorities, including their due representation in the Federal and Provincial services.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72950" y="5981700"/>
            <a:ext cx="4610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D4AF37"/>
                </a:solidFill>
                <a:latin typeface="Times New Roman"/>
              </a:rPr>
              <a:t>Article 37(e) · Welfare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72950" y="6238875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Elimination of Social Injustice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72950" y="6572250"/>
            <a:ext cx="4610100" cy="783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333333"/>
                </a:solidFill>
                <a:latin typeface="Times New Roman"/>
              </a:rPr>
              <a:t>The State shall promote with special care the educational and economic interests of people in weaker or special conditions — expressly including women and children.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3950" y="8553450"/>
            <a:ext cx="156591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50">
                <a:solidFill>
                  <a:srgbClr val="D4AF37"/>
                </a:solidFill>
                <a:latin typeface="Times New Roman"/>
              </a:rPr>
              <a:t>ENFORCEMENT PATHWAY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3950" y="8848725"/>
            <a:ext cx="15659100" cy="624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FFFFFF"/>
                </a:solidFill>
                <a:latin typeface="Times New Roman"/>
              </a:rPr>
              <a:t> High Court (Art. 199) → Supreme Court (Art. 184(3)) → Federal/Provincial Human Rights Commissions → National Commission on the Status of Women (NCSW) → National Commission for Minorities (2018, proposed)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1524000"/>
            <a:ext cx="817245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524000"/>
            <a:ext cx="76200" cy="5143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34500" y="1524000"/>
            <a:ext cx="8172450" cy="5143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34500" y="1524000"/>
            <a:ext cx="76200" cy="51435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" y="7048500"/>
            <a:ext cx="16573500" cy="2543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7048500"/>
            <a:ext cx="1657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7250" y="9582150"/>
            <a:ext cx="165735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Fundamental Rights &amp; Enforcement Mechanisms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1743075"/>
            <a:ext cx="73723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CONSTITUTIONAL TEXT — ARTICLE-LEVEL GUARANTEES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2057400"/>
            <a:ext cx="73723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● Art. 9: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Security of person — life &amp; liberty protected by law.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362200"/>
            <a:ext cx="73723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● Art. 14: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Inviolability of dignity of man — slavery &amp; forced labour prohibited.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2667000"/>
            <a:ext cx="73723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● Art. 19: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Freedom of speech, assembly &amp; association.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2971800"/>
            <a:ext cx="73723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● Art. 25A (18th Amend.):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Free &amp; compulsory education for ages 5–16.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3276600"/>
            <a:ext cx="73723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● Art. 25 (clause 2):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No discrimination on basis of sex alone.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3581400"/>
            <a:ext cx="73723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● Art. 26: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Non-discrimination on basis of race, religion, caste, sex, residence.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3886200"/>
            <a:ext cx="73723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● Art. 27: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Safeguard against discrimination in public service appointments.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6450" y="1743075"/>
            <a:ext cx="73723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ENFORCEMENT MECHANISMS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6450" y="2038350"/>
            <a:ext cx="73723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From Text to Accountability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5050" y="2457450"/>
            <a:ext cx="7143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FFFFFF"/>
                </a:solidFill>
                <a:latin typeface="Times New Roman"/>
              </a:rPr>
              <a:t>Supreme Court</a:t>
            </a:r>
            <a:r>
              <a:rPr sz="1500" b="0" i="0">
                <a:solidFill>
                  <a:srgbClr val="FFFFFF"/>
                </a:solidFill>
                <a:latin typeface="Times New Roman"/>
              </a:rPr>
              <a:t> — Public Interest Litigation under Art. 184(3) has shaped jurisprudence on enforced disappearances, bonded labour, &amp; minority rights.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5050" y="3048000"/>
            <a:ext cx="714375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FFFFFF"/>
                </a:solidFill>
                <a:latin typeface="Times New Roman"/>
              </a:rPr>
              <a:t>High Courts</a:t>
            </a:r>
            <a:r>
              <a:rPr sz="1500" b="0" i="0">
                <a:solidFill>
                  <a:srgbClr val="FFFFFF"/>
                </a:solidFill>
                <a:latin typeface="Times New Roman"/>
              </a:rPr>
              <a:t> — Article 199 writ jurisdiction; most-affected forum for rights litigation.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5050" y="3343275"/>
            <a:ext cx="714375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FFFFFF"/>
                </a:solidFill>
                <a:latin typeface="Times New Roman"/>
              </a:rPr>
              <a:t>Federal Shariat Court</a:t>
            </a:r>
            <a:r>
              <a:rPr sz="1500" b="0" i="0">
                <a:solidFill>
                  <a:srgbClr val="FFFFFF"/>
                </a:solidFill>
                <a:latin typeface="Times New Roman"/>
              </a:rPr>
              <a:t> — Reviews conformity with Islamic injunctions (Art. 203-D).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5050" y="3638550"/>
            <a:ext cx="714375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FFFFFF"/>
                </a:solidFill>
                <a:latin typeface="Times New Roman"/>
              </a:rPr>
              <a:t>National Commission on the Status of Women (NCSW)</a:t>
            </a:r>
            <a:r>
              <a:rPr sz="1500" b="0" i="0">
                <a:solidFill>
                  <a:srgbClr val="FFFFFF"/>
                </a:solidFill>
                <a:latin typeface="Times New Roman"/>
              </a:rPr>
              <a:t> — Established 2000.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5050" y="3933825"/>
            <a:ext cx="7143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FFFFFF"/>
                </a:solidFill>
                <a:latin typeface="Times New Roman"/>
              </a:rPr>
              <a:t>National Commission for Human Rights (NCHR)</a:t>
            </a:r>
            <a:r>
              <a:rPr sz="1500" b="0" i="0">
                <a:solidFill>
                  <a:srgbClr val="FFFFFF"/>
                </a:solidFill>
                <a:latin typeface="Times New Roman"/>
              </a:rPr>
              <a:t> — Established 2012; 'A' status accreditation (2017, re-affirmed 2023).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200" y="7315200"/>
            <a:ext cx="15849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CRITICAL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0" y="7591425"/>
            <a:ext cx="158496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1" i="1">
                <a:solidFill>
                  <a:srgbClr val="01411C"/>
                </a:solidFill>
                <a:latin typeface="Times New Roman"/>
              </a:rPr>
              <a:t>"A constitution is only as strong as its enforcement."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200" y="8048625"/>
            <a:ext cx="1584960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 The Pakistani Constitution is among the most rights-enumerated in South Asia; however, scholars (Lau, 2003; Khan, 2014) note a persistent 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implementation gap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— constitutional aspirations meet institutional inertia, provincial capacity limits, and political-judicial contests. Effective enforcement requires 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judicial independence, statutory backing, and an active civil society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— three pillars that have grown unevenly across the federation.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857500"/>
            <a:ext cx="16649700" cy="1476375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857500"/>
            <a:ext cx="76200" cy="14763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4667250"/>
            <a:ext cx="8001000" cy="467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250" y="4667250"/>
            <a:ext cx="80010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39250" y="4667250"/>
            <a:ext cx="8191500" cy="4676775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9250" y="4667250"/>
            <a:ext cx="8191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Minority Rights — Framework &amp;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MAIN CONCEPT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1685925"/>
            <a:ext cx="16611600" cy="472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50" b="1" i="0">
                <a:solidFill>
                  <a:srgbClr val="01411C"/>
                </a:solidFill>
                <a:latin typeface="Times New Roman"/>
              </a:rPr>
              <a:t>Religious &amp; Ethnic Minorities in Pakistan — A Defined Citizenry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009900"/>
            <a:ext cx="15849600" cy="4247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E8E8E8"/>
                </a:solidFill>
                <a:latin typeface="Times New Roman"/>
              </a:rPr>
              <a:t> Religious minorities in Pakistan constitute roughly </a:t>
            </a:r>
            <a:r>
              <a:rPr sz="2100" b="1" i="0">
                <a:solidFill>
                  <a:srgbClr val="D4AF37"/>
                </a:solidFill>
                <a:latin typeface="Times New Roman"/>
              </a:rPr>
              <a:t> 3.5–4% </a:t>
            </a:r>
            <a:r>
              <a:rPr sz="1500" b="0" i="0">
                <a:solidFill>
                  <a:srgbClr val="E8E8E8"/>
                </a:solidFill>
                <a:latin typeface="Times New Roman"/>
              </a:rPr>
              <a:t> of the population, representing the following communities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491805"/>
            <a:ext cx="15849600" cy="362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6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650" b="1" i="0">
                <a:solidFill>
                  <a:srgbClr val="FFFFFF"/>
                </a:solidFill>
                <a:latin typeface="Times New Roman"/>
              </a:rPr>
              <a:t> Christians · Hindus · Sikhs · Buddhists · Ahmadis · Parsis/Zoroastrians · Bahá'ís · Kalash · Kailash Hindus · Burusho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873698"/>
            <a:ext cx="1584960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 Linguistic minorities (Sindhi, Baloch, Pashtun, Punjabi sub-groups, Brahui)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4838700"/>
            <a:ext cx="73723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CONSTITUTIONAL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5114925"/>
            <a:ext cx="73723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i="0">
                <a:solidFill>
                  <a:srgbClr val="01411C"/>
                </a:solidFill>
                <a:latin typeface="Times New Roman"/>
              </a:rPr>
              <a:t>Rights &amp; Reserved Representation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5514975"/>
            <a:ext cx="7372350" cy="303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01411C"/>
                </a:solidFill>
                <a:latin typeface="Times New Roman"/>
              </a:rPr>
              <a:t>Article 20:</a:t>
            </a:r>
            <a:r>
              <a:rPr sz="1350" b="0" i="0">
                <a:solidFill>
                  <a:srgbClr val="222222"/>
                </a:solidFill>
                <a:latin typeface="Times New Roman"/>
              </a:rPr>
              <a:t> Freedom to profess, practise &amp; propagate religion subject to law &amp; public order.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5780633"/>
            <a:ext cx="7372350" cy="303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01411C"/>
                </a:solidFill>
                <a:latin typeface="Times New Roman"/>
              </a:rPr>
              <a:t>Article 36:</a:t>
            </a:r>
            <a:r>
              <a:rPr sz="1350" b="0" i="0">
                <a:solidFill>
                  <a:srgbClr val="222222"/>
                </a:solidFill>
                <a:latin typeface="Times New Roman"/>
              </a:rPr>
              <a:t> State shall safeguard legitimate rights/interests; due representation in 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6046291"/>
            <a:ext cx="7372350" cy="303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01411C"/>
                </a:solidFill>
                <a:latin typeface="Times New Roman"/>
              </a:rPr>
              <a:t>Article 51(2A):</a:t>
            </a:r>
            <a:r>
              <a:rPr sz="1350" b="0" i="0">
                <a:solidFill>
                  <a:srgbClr val="222222"/>
                </a:solidFill>
                <a:latin typeface="Times New Roman"/>
              </a:rPr>
              <a:t> 10 reserved National Assembly seats for minorities on a population basis.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6311949"/>
            <a:ext cx="7372350" cy="303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01411C"/>
                </a:solidFill>
                <a:latin typeface="Times New Roman"/>
              </a:rPr>
              <a:t>Article 106:</a:t>
            </a:r>
            <a:r>
              <a:rPr sz="1350" b="0" i="0">
                <a:solidFill>
                  <a:srgbClr val="222222"/>
                </a:solidFill>
                <a:latin typeface="Times New Roman"/>
              </a:rPr>
              <a:t> Reserved provincial assembly seats for minorities.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0" y="6577607"/>
            <a:ext cx="7372350" cy="303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01411C"/>
                </a:solidFill>
                <a:latin typeface="Times New Roman"/>
              </a:rPr>
              <a:t>5% Quota:</a:t>
            </a:r>
            <a:r>
              <a:rPr sz="1350" b="0" i="0">
                <a:solidFill>
                  <a:srgbClr val="222222"/>
                </a:solidFill>
                <a:latin typeface="Times New Roman"/>
              </a:rPr>
              <a:t> Federal public-service job reservation for minorities.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6976616"/>
            <a:ext cx="7372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66666"/>
                </a:solidFill>
                <a:latin typeface="Times New Roman"/>
              </a:rPr>
              <a:t>Sources: Constitution of Pakistan, 1973 (amended); Federal Public Service Commission rules.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838700"/>
            <a:ext cx="7467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INDICATIVE DEMOGRAPHIC 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114925"/>
            <a:ext cx="74676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Population by Community (Punjab &amp; Sindh epicentres)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20250" y="5919787"/>
            <a:ext cx="7429500" cy="95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5534025"/>
            <a:ext cx="5535959" cy="4143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D4AF37"/>
                </a:solidFill>
                <a:latin typeface="Times New Roman"/>
              </a:rPr>
              <a:t>Community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99059" y="5534025"/>
            <a:ext cx="1969740" cy="4143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D4AF37"/>
                </a:solidFill>
                <a:latin typeface="Times New Roman"/>
              </a:rPr>
              <a:t>Approx. share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20250" y="6300787"/>
            <a:ext cx="7429500" cy="9525"/>
          </a:xfrm>
          <a:prstGeom prst="rect">
            <a:avLst/>
          </a:prstGeom>
          <a:solidFill>
            <a:srgbClr val="EFE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5910262"/>
            <a:ext cx="553595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Muslims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99059" y="5910262"/>
            <a:ext cx="196974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0" i="0">
                <a:solidFill>
                  <a:srgbClr val="D4AF37"/>
                </a:solidFill>
                <a:latin typeface="Times New Roman"/>
              </a:rPr>
              <a:t>~96%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20250" y="6681787"/>
            <a:ext cx="7429500" cy="9525"/>
          </a:xfrm>
          <a:prstGeom prst="rect">
            <a:avLst/>
          </a:prstGeom>
          <a:solidFill>
            <a:srgbClr val="EFE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6291262"/>
            <a:ext cx="553595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Christians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99059" y="6291262"/>
            <a:ext cx="196974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0" i="0">
                <a:solidFill>
                  <a:srgbClr val="D4AF37"/>
                </a:solidFill>
                <a:latin typeface="Times New Roman"/>
              </a:rPr>
              <a:t>~1.6%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20250" y="7062787"/>
            <a:ext cx="7429500" cy="9525"/>
          </a:xfrm>
          <a:prstGeom prst="rect">
            <a:avLst/>
          </a:prstGeom>
          <a:solidFill>
            <a:srgbClr val="EFE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6672262"/>
            <a:ext cx="553595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Hindus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99059" y="6672262"/>
            <a:ext cx="196974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0" i="0">
                <a:solidFill>
                  <a:srgbClr val="D4AF37"/>
                </a:solidFill>
                <a:latin typeface="Times New Roman"/>
              </a:rPr>
              <a:t>~1.3%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20250" y="7443787"/>
            <a:ext cx="7429500" cy="9525"/>
          </a:xfrm>
          <a:prstGeom prst="rect">
            <a:avLst/>
          </a:prstGeom>
          <a:solidFill>
            <a:srgbClr val="EFE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7053262"/>
            <a:ext cx="553595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Ahmadis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99059" y="7053262"/>
            <a:ext cx="196974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0" i="0">
                <a:solidFill>
                  <a:srgbClr val="D4AF37"/>
                </a:solidFill>
                <a:latin typeface="Times New Roman"/>
              </a:rPr>
              <a:t>~0.7–1%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20250" y="7824787"/>
            <a:ext cx="7429500" cy="9525"/>
          </a:xfrm>
          <a:prstGeom prst="rect">
            <a:avLst/>
          </a:prstGeom>
          <a:solidFill>
            <a:srgbClr val="EFE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7434262"/>
            <a:ext cx="553595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Sikhs / Buddhists / Parsis / Bahá'ís / Others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99059" y="7434262"/>
            <a:ext cx="196974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0" i="0">
                <a:solidFill>
                  <a:srgbClr val="D4AF37"/>
                </a:solidFill>
                <a:latin typeface="Times New Roman"/>
              </a:rPr>
              <a:t>~0.2–0.5%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7953375"/>
            <a:ext cx="7467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E8E8E8"/>
                </a:solidFill>
                <a:latin typeface="Times New Roman"/>
              </a:rPr>
              <a:t> Note: Aggregated ethnic/religious categorisations in national census remain contested; scholars urge disaggregated, methodology-validated counts (Gazdar, 2019; Bouatta &amp; Gayer, 2020).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5143500" cy="2152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81750" y="2667000"/>
            <a:ext cx="5143500" cy="21526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81750" y="2667000"/>
            <a:ext cx="5143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06250" y="2667000"/>
            <a:ext cx="5143500" cy="2152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906250" y="266700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7250" y="5048250"/>
            <a:ext cx="5143500" cy="21526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250" y="5048250"/>
            <a:ext cx="5143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1750" y="5048250"/>
            <a:ext cx="5143500" cy="2152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750" y="504825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906250" y="5048250"/>
            <a:ext cx="5143500" cy="2152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06250" y="504825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7250" y="7429500"/>
            <a:ext cx="162687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7429500"/>
            <a:ext cx="76200" cy="1905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05-B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Contemporary Challenges Faced by Minorities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SUPPORTING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1685925"/>
            <a:ext cx="16611600" cy="426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550" b="1" i="0">
                <a:solidFill>
                  <a:srgbClr val="01411C"/>
                </a:solidFill>
                <a:latin typeface="Times New Roman"/>
              </a:rPr>
              <a:t>A Continuum from Symbolic Inclusion to Structural Vulnerability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950" y="2838450"/>
            <a:ext cx="46101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D4AF37"/>
                </a:solidFill>
                <a:latin typeface="Times New Roman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50" y="337185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Blasphemy Laws (PPC 295-B/C)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950" y="367665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Disproportionately invoked against minorities; long pre-trial detention; reports of mob-instigated violence.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8450" y="2838450"/>
            <a:ext cx="46101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D4AF37"/>
                </a:solidFill>
                <a:latin typeface="Times New Roman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337185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FFFFFF"/>
                </a:solidFill>
                <a:latin typeface="Times New Roman"/>
              </a:rPr>
              <a:t>Forced Conversions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50" y="367665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E8E8E8"/>
                </a:solidFill>
                <a:latin typeface="Times New Roman"/>
              </a:rPr>
              <a:t>Documented cases — chiefly Hindu &amp; Christian girls; movement for provincial legislation (Sindh Criminal Law Bill, 2023).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72950" y="2838450"/>
            <a:ext cx="46101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D4AF37"/>
                </a:solidFill>
                <a:latin typeface="Times New Roman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72950" y="337185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Waqf &amp; Property Encroachments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72950" y="367665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Disputed takeovers of historic temples, gurdwaras &amp; graveyards; legislative remedy sought by civil society.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3950" y="5219700"/>
            <a:ext cx="46101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D4AF37"/>
                </a:solidFill>
                <a:latin typeface="Times New Roman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3950" y="575310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FFFFFF"/>
                </a:solidFill>
                <a:latin typeface="Times New Roman"/>
              </a:rPr>
              <a:t>Quotas in Education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3950" y="605790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E8E8E8"/>
                </a:solidFill>
                <a:latin typeface="Times New Roman"/>
              </a:rPr>
              <a:t>College/university placements intended but unevenly implemented across provinces (Gazdar &amp; Mallah, 2013).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8450" y="5219700"/>
            <a:ext cx="46101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D4AF37"/>
                </a:solidFill>
                <a:latin typeface="Times New Roman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8450" y="575310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Hate Speech &amp; Media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8450" y="605790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Online virality documented in NCHR &amp; HRCP reports (2017–2023); Pakistan's first Digital Rights Act in consultation.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72950" y="5219700"/>
            <a:ext cx="46101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D4AF37"/>
                </a:solidFill>
                <a:latin typeface="Times New Roman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72950" y="575310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Under-Representation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72950" y="605790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Reserved seats rarely translate into substantive policy influence; limited ministerial portfolios over decades.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9200" y="7648575"/>
            <a:ext cx="15468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NOTABLE LEGISLATIVE &amp; JUDICIAL STRIDES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9200" y="7943850"/>
            <a:ext cx="154686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Supreme Court (2014) — Faisalabad Minara-Saba case: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Ordered state to construct protective walls around religious sites.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9200" y="8239125"/>
            <a:ext cx="154686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Sindh Hindu Marriage Act (2018) &amp; amendments (2023):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Mandatory registration of marriage &amp; protection of underage weddings.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9200" y="8534400"/>
            <a:ext cx="154686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50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Sindh Criminal Law (Protection of Minorities) Act (2023):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Innovative protective framework.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1277600" cy="689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112776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15800" y="2667000"/>
            <a:ext cx="19050" cy="6896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250" y="9544050"/>
            <a:ext cx="112776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" y="2667000"/>
            <a:ext cx="19050" cy="6896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573000" y="2667000"/>
            <a:ext cx="4857750" cy="6915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573000" y="2667000"/>
            <a:ext cx="485775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24000" y="3619500"/>
            <a:ext cx="5181600" cy="23241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24000" y="3619500"/>
            <a:ext cx="51816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86550" y="3619500"/>
            <a:ext cx="19050" cy="2324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24000" y="5924550"/>
            <a:ext cx="51816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24000" y="3619500"/>
            <a:ext cx="19050" cy="2324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24000" y="6096000"/>
            <a:ext cx="5181600" cy="2705100"/>
          </a:xfrm>
          <a:prstGeom prst="rect">
            <a:avLst/>
          </a:prstGeom>
          <a:solidFill>
            <a:srgbClr val="0A5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24000" y="6096000"/>
            <a:ext cx="51816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86550" y="6096000"/>
            <a:ext cx="19050" cy="2705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24000" y="8782050"/>
            <a:ext cx="51816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24000" y="6096000"/>
            <a:ext cx="19050" cy="2705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3619500"/>
            <a:ext cx="2324100" cy="2324100"/>
          </a:xfrm>
          <a:prstGeom prst="rect">
            <a:avLst/>
          </a:prstGeom>
          <a:solidFill>
            <a:srgbClr val="0D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3619500"/>
            <a:ext cx="23241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63050" y="3619500"/>
            <a:ext cx="19050" cy="2324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5924550"/>
            <a:ext cx="23241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3619500"/>
            <a:ext cx="19050" cy="2324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6096000"/>
            <a:ext cx="2324100" cy="27051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6096000"/>
            <a:ext cx="23241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63050" y="6096000"/>
            <a:ext cx="19050" cy="2705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8782050"/>
            <a:ext cx="23241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6096000"/>
            <a:ext cx="19050" cy="2705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34500" y="3619500"/>
            <a:ext cx="2228850" cy="2895600"/>
          </a:xfrm>
          <a:prstGeom prst="rect">
            <a:avLst/>
          </a:prstGeom>
          <a:solidFill>
            <a:srgbClr val="0A5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3619500"/>
            <a:ext cx="22288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44300" y="3619500"/>
            <a:ext cx="19050" cy="2895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34500" y="6496050"/>
            <a:ext cx="22288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34500" y="3619500"/>
            <a:ext cx="19050" cy="2895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34500" y="6667500"/>
            <a:ext cx="2228850" cy="2133600"/>
          </a:xfrm>
          <a:prstGeom prst="rect">
            <a:avLst/>
          </a:prstGeom>
          <a:solidFill>
            <a:srgbClr val="0D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6667500"/>
            <a:ext cx="22288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544300" y="6667500"/>
            <a:ext cx="19050" cy="2133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34500" y="8782050"/>
            <a:ext cx="22288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34500" y="6667500"/>
            <a:ext cx="19050" cy="2133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05-C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Geographic Distribution of Religious Minorities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VISUAL — PROVINCIAL CLUSTER 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1685925"/>
            <a:ext cx="16611600" cy="426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550" b="1" i="0">
                <a:solidFill>
                  <a:srgbClr val="01411C"/>
                </a:solidFill>
                <a:latin typeface="Times New Roman"/>
              </a:rPr>
              <a:t>Communities Concentrated by Region &amp; Historical Settlement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" y="2838450"/>
            <a:ext cx="108966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300">
                <a:solidFill>
                  <a:srgbClr val="D4AF37"/>
                </a:solidFill>
                <a:latin typeface="Times New Roman"/>
              </a:rPr>
              <a:t>PAKISTAN — SCHEMATIC MAP OF MINORITY CONCENTRATIONS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5450" y="3790950"/>
            <a:ext cx="4800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 spc="330">
                <a:solidFill>
                  <a:srgbClr val="D4AF37"/>
                </a:solidFill>
                <a:latin typeface="Times New Roman"/>
              </a:rPr>
              <a:t>PUNJAB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95450" y="4095750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Majority of Pakistani Christians; Faisalabad, Lahore, Gojra epicentres; Sikh communities (Nankana Sahib, Hasan Abdal).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5450" y="6267450"/>
            <a:ext cx="4800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 spc="330">
                <a:solidFill>
                  <a:srgbClr val="D4AF37"/>
                </a:solidFill>
                <a:latin typeface="Times New Roman"/>
              </a:rPr>
              <a:t>SINDH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95450" y="6572250"/>
            <a:ext cx="4800600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Largest Hindu population; Umarkot, Ghotki, Tharparkar &amp; Jacobabad; Hindu Panchayat &amp; Ramapir temples; Karachi cosmopolitan cluster.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9450" y="3790950"/>
            <a:ext cx="19431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225">
                <a:solidFill>
                  <a:srgbClr val="D4AF37"/>
                </a:solidFill>
                <a:latin typeface="Times New Roman"/>
              </a:rPr>
              <a:t>KP &amp; FATA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9450" y="4067175"/>
            <a:ext cx="1943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Times New Roman"/>
              </a:rPr>
              <a:t>Small Sikh community at Panja Sahib; indigenous animists &amp; Hindu clusters in merged districts.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9450" y="6267450"/>
            <a:ext cx="19431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225">
                <a:solidFill>
                  <a:srgbClr val="D4AF37"/>
                </a:solidFill>
                <a:latin typeface="Times New Roman"/>
              </a:rPr>
              <a:t>BALOCHISTAN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9450" y="6543675"/>
            <a:ext cx="1943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Times New Roman"/>
              </a:rPr>
              <a:t>Hazarara region — ethnic Hazara community (Shia); Quetta cluster; Sikh, Parsi &amp; Hindu minorities.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5950" y="3790950"/>
            <a:ext cx="19431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225">
                <a:solidFill>
                  <a:srgbClr val="D4AF37"/>
                </a:solidFill>
                <a:latin typeface="Times New Roman"/>
              </a:rPr>
              <a:t>GB &amp; CHITRAL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5950" y="4067175"/>
            <a:ext cx="1943100" cy="8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Times New Roman"/>
              </a:rPr>
              <a:t>Kalash community in three valleys; Burusho &amp; Wakhi Ismaili; Tibetan Buddhists (Fairy Meadows); historic Buddhist Silk-Road heritage.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5950" y="6838950"/>
            <a:ext cx="1943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225">
                <a:solidFill>
                  <a:srgbClr val="D4AF37"/>
                </a:solidFill>
                <a:latin typeface="Times New Roman"/>
              </a:rPr>
              <a:t>ISLAMABAD ICT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5950" y="7334250"/>
            <a:ext cx="1943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Times New Roman"/>
              </a:rPr>
              <a:t>Federal hub — embassies &amp; religious sites; Sikh Gurdwara Panja Sahib pilgrimage circuits.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887325" y="2838450"/>
            <a:ext cx="42767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KEY OBSERVATIONS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887325" y="3171825"/>
            <a:ext cx="4276725" cy="569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FFFFFF"/>
                </a:solidFill>
                <a:latin typeface="Times New Roman"/>
              </a:rPr>
              <a:t>Christian populations</a:t>
            </a:r>
            <a:r>
              <a:rPr sz="1350" b="0" i="0">
                <a:solidFill>
                  <a:srgbClr val="FFFFFF"/>
                </a:solidFill>
                <a:latin typeface="Times New Roman"/>
              </a:rPr>
              <a:t> cluster in Punjab's industrial cities — linked historically to colonial-era employment.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87325" y="3798391"/>
            <a:ext cx="4276725" cy="569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FFFFFF"/>
                </a:solidFill>
                <a:latin typeface="Times New Roman"/>
              </a:rPr>
              <a:t>Hindu communities</a:t>
            </a:r>
            <a:r>
              <a:rPr sz="1350" b="0" i="0">
                <a:solidFill>
                  <a:srgbClr val="FFFFFF"/>
                </a:solidFill>
                <a:latin typeface="Times New Roman"/>
              </a:rPr>
              <a:t> localised in southern Sindh &amp; urban Sindh.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87325" y="4424957"/>
            <a:ext cx="4276725" cy="569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FFFFFF"/>
                </a:solidFill>
                <a:latin typeface="Times New Roman"/>
              </a:rPr>
              <a:t>Sikh heritage sites</a:t>
            </a:r>
            <a:r>
              <a:rPr sz="1350" b="0" i="0">
                <a:solidFill>
                  <a:srgbClr val="FFFFFF"/>
                </a:solidFill>
                <a:latin typeface="Times New Roman"/>
              </a:rPr>
              <a:t> form an axis from Peshawar to Punjab, central to religious tourism.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87325" y="5051524"/>
            <a:ext cx="4276725" cy="569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FFFFFF"/>
                </a:solidFill>
                <a:latin typeface="Times New Roman"/>
              </a:rPr>
              <a:t>Hazara community</a:t>
            </a:r>
            <a:r>
              <a:rPr sz="1350" b="0" i="0">
                <a:solidFill>
                  <a:srgbClr val="FFFFFF"/>
                </a:solidFill>
                <a:latin typeface="Times New Roman"/>
              </a:rPr>
              <a:t> of Quetta — distinct ethno-religious identity; targeted violence since 2000s.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87325" y="5678090"/>
            <a:ext cx="4276725" cy="569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FFFFFF"/>
                </a:solidFill>
                <a:latin typeface="Times New Roman"/>
              </a:rPr>
              <a:t>Kalash</a:t>
            </a:r>
            <a:r>
              <a:rPr sz="1350" b="0" i="0">
                <a:solidFill>
                  <a:srgbClr val="FFFFFF"/>
                </a:solidFill>
                <a:latin typeface="Times New Roman"/>
              </a:rPr>
              <a:t> — unique Caucasoid ethno-religion in Chitral valleys.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87325" y="6304657"/>
            <a:ext cx="4276725" cy="569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1" i="0">
                <a:solidFill>
                  <a:srgbClr val="FFFFFF"/>
                </a:solidFill>
                <a:latin typeface="Times New Roman"/>
              </a:rPr>
              <a:t>Ahmadis</a:t>
            </a:r>
            <a:r>
              <a:rPr sz="1350" b="0" i="0">
                <a:solidFill>
                  <a:srgbClr val="FFFFFF"/>
                </a:solidFill>
                <a:latin typeface="Times New Roman"/>
              </a:rPr>
              <a:t> concentrated in Punjab &amp; Karachi; subject to legal restrictions (Ahmadi Ordinance XXIV/1984).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87325" y="6969323"/>
            <a:ext cx="42767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E8E8E8"/>
                </a:solidFill>
                <a:latin typeface="Times New Roman"/>
              </a:rPr>
              <a:t> Map is schematic — boundaries are illustrative, not to scale. Sources: Pakistan Bureau of Statistics; NCHR Annual Report 2022–23.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905125"/>
            <a:ext cx="3238500" cy="29146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905125"/>
            <a:ext cx="3238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62500" y="2905125"/>
            <a:ext cx="3238500" cy="2914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62500" y="2905125"/>
            <a:ext cx="3238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67750" y="2905125"/>
            <a:ext cx="3238500" cy="29146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67750" y="2905125"/>
            <a:ext cx="3238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477750" y="2905125"/>
            <a:ext cx="5029200" cy="285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477750" y="2905125"/>
            <a:ext cx="76200" cy="2857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7250" y="6191250"/>
            <a:ext cx="16573500" cy="3305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6191250"/>
            <a:ext cx="1657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9486900"/>
            <a:ext cx="165735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71950" y="4095750"/>
            <a:ext cx="476250" cy="2857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7200" y="4095750"/>
            <a:ext cx="476250" cy="2857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314325"/>
            <a:ext cx="14325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360">
                <a:solidFill>
                  <a:srgbClr val="D4AF37"/>
                </a:solidFill>
                <a:latin typeface="Times New Roman"/>
              </a:rPr>
              <a:t>PAKISTAN STUDIES ·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542925"/>
            <a:ext cx="14325600" cy="3942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50" b="1" i="0">
                <a:solidFill>
                  <a:srgbClr val="FFFFFF"/>
                </a:solidFill>
                <a:latin typeface="Times New Roman"/>
              </a:rPr>
              <a:t>Women's Rights &amp; Gender — Constitutional &amp; Statutory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MAIN CONCEPT THREE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1685925"/>
            <a:ext cx="16611600" cy="449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01411C"/>
                </a:solidFill>
                <a:latin typeface="Times New Roman"/>
              </a:rPr>
              <a:t>From Constitutional Equality to Gender-Responsive Legislation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950" y="3076575"/>
            <a:ext cx="2705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LAYER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950" y="3286125"/>
            <a:ext cx="2705100" cy="312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Constitutional Floor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50" y="3655665"/>
            <a:ext cx="2705100" cy="245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E8E8E8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E8E8E8"/>
                </a:solidFill>
                <a:latin typeface="Times New Roman"/>
              </a:rPr>
              <a:t>Art. 25 — Equality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950" y="3862833"/>
            <a:ext cx="2705100" cy="245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E8E8E8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E8E8E8"/>
                </a:solidFill>
                <a:latin typeface="Times New Roman"/>
              </a:rPr>
              <a:t>Art. 25(3) — Special provisions for women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950" y="4070002"/>
            <a:ext cx="2705100" cy="245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E8E8E8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E8E8E8"/>
                </a:solidFill>
                <a:latin typeface="Times New Roman"/>
              </a:rPr>
              <a:t>Art. 34 — Participatory democracy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950" y="4277171"/>
            <a:ext cx="2705100" cy="245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E8E8E8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E8E8E8"/>
                </a:solidFill>
                <a:latin typeface="Times New Roman"/>
              </a:rPr>
              <a:t>Art. 35 — Welfare of women &amp; children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3950" y="4484340"/>
            <a:ext cx="2705100" cy="245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E8E8E8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E8E8E8"/>
                </a:solidFill>
                <a:latin typeface="Times New Roman"/>
              </a:rPr>
              <a:t>Art. 37(e) — Removal of social injustice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076575"/>
            <a:ext cx="2705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LAYER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286125"/>
            <a:ext cx="2705100" cy="312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Statutory Backbone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655665"/>
            <a:ext cx="2705100" cy="452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222222"/>
                </a:solidFill>
                <a:latin typeface="Times New Roman"/>
              </a:rPr>
              <a:t>Honour Killings — Anti-Honour Killing Act 2016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070002"/>
            <a:ext cx="2705100" cy="452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222222"/>
                </a:solidFill>
                <a:latin typeface="Times New Roman"/>
              </a:rPr>
              <a:t>Acid — Criminal Law (Amendment) Act 2011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484340"/>
            <a:ext cx="2705100" cy="452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222222"/>
                </a:solidFill>
                <a:latin typeface="Times New Roman"/>
              </a:rPr>
              <a:t>Domestic Violence — Punjab 2019; Sindh 2013; Balochistan 2019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898677"/>
            <a:ext cx="2705100" cy="452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222222"/>
                </a:solidFill>
                <a:latin typeface="Times New Roman"/>
              </a:rPr>
              <a:t>Child Marriage Restraint 1929 (pending reform)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313015"/>
            <a:ext cx="2705100" cy="452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222222"/>
                </a:solidFill>
                <a:latin typeface="Times New Roman"/>
              </a:rPr>
              <a:t>Hudood Ordinances → Women's Protection Act 2006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34450" y="3076575"/>
            <a:ext cx="2705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LAYER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34450" y="3286125"/>
            <a:ext cx="2705100" cy="312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Institutional Architecture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4450" y="3655665"/>
            <a:ext cx="2705100" cy="452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E8E8E8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E8E8E8"/>
                </a:solidFill>
                <a:latin typeface="Times New Roman"/>
              </a:rPr>
              <a:t>National Commission on Status of Women (NCSW)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4450" y="4070002"/>
            <a:ext cx="2705100" cy="245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E8E8E8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E8E8E8"/>
                </a:solidFill>
                <a:latin typeface="Times New Roman"/>
              </a:rPr>
              <a:t>Women's Parliamentary Caucus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4450" y="4277171"/>
            <a:ext cx="2705100" cy="245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E8E8E8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E8E8E8"/>
                </a:solidFill>
                <a:latin typeface="Times New Roman"/>
              </a:rPr>
              <a:t>Provincial Commissions on Status of Women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34450" y="4484340"/>
            <a:ext cx="2705100" cy="245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E8E8E8"/>
                </a:solidFill>
                <a:latin typeface="Times New Roman"/>
              </a:rPr>
              <a:t>• </a:t>
            </a:r>
            <a:r>
              <a:rPr sz="1120" b="0" i="0">
                <a:solidFill>
                  <a:srgbClr val="E8E8E8"/>
                </a:solidFill>
                <a:latin typeface="Times New Roman"/>
              </a:rPr>
              <a:t>Specialised anti-violence cells &amp; courts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39700" y="3076575"/>
            <a:ext cx="43243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CONSTITUTIONAL VIS-À-VIS VERBAL COMMITMENT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39700" y="3552825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 Quaid-e-Azam's address to the Constituent Assembly on </a:t>
            </a:r>
            <a:r>
              <a:rPr sz="1500" b="1" i="0">
                <a:solidFill>
                  <a:srgbClr val="222222"/>
                </a:solidFill>
                <a:latin typeface="Times New Roman"/>
              </a:rPr>
              <a:t>11 August 1947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 demanded equal political rights for women — a vision partially captured in 1973 and operationalised through the bench from 1979 onward.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39700" y="4733925"/>
            <a:ext cx="4324350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1">
                <a:solidFill>
                  <a:srgbClr val="01411C"/>
                </a:solidFill>
                <a:latin typeface="Times New Roman"/>
              </a:rPr>
              <a:t>"You are today a nation… make up your minds now… no one can victor over us… I give you the Muslims, you should not fight shy of any responsibility."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39700" y="5391150"/>
            <a:ext cx="4324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Times New Roman"/>
              </a:rPr>
              <a:t>— Muhammad Ali Jinnah, 1947 (paraphrased)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9200" y="6457950"/>
            <a:ext cx="15849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SELECTED LEGISLATIVE MILESTONES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38250" y="7153275"/>
            <a:ext cx="158115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9200" y="6791325"/>
            <a:ext cx="106233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D4AF37"/>
                </a:solidFill>
                <a:latin typeface="Times New Roman"/>
              </a:rPr>
              <a:t>Year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43435" y="6791325"/>
            <a:ext cx="566811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D4AF37"/>
                </a:solidFill>
                <a:latin typeface="Times New Roman"/>
              </a:rPr>
              <a:t>Instrument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3454" y="6791325"/>
            <a:ext cx="919534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D4AF37"/>
                </a:solidFill>
                <a:latin typeface="Times New Roman"/>
              </a:rPr>
              <a:t>Significance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8250" y="7529512"/>
            <a:ext cx="15811500" cy="9525"/>
          </a:xfrm>
          <a:prstGeom prst="rect">
            <a:avLst/>
          </a:prstGeom>
          <a:solidFill>
            <a:srgbClr val="EFE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19200" y="7153275"/>
            <a:ext cx="1062335" cy="4048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1961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3435" y="7153275"/>
            <a:ext cx="5668119" cy="4048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Muslim Family Laws Ordinance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73454" y="7153275"/>
            <a:ext cx="9195345" cy="4048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Curb polygamy; regulate marriage; family arbitration councils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38250" y="7891462"/>
            <a:ext cx="15811500" cy="9525"/>
          </a:xfrm>
          <a:prstGeom prst="rect">
            <a:avLst/>
          </a:prstGeom>
          <a:solidFill>
            <a:srgbClr val="EFE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19200" y="7519987"/>
            <a:ext cx="106233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2006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43435" y="7519987"/>
            <a:ext cx="566811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Women's Protection Act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73454" y="7519987"/>
            <a:ext cx="919534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Transferred zina-bil-jabr to PPC; removed from Hudood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38250" y="8253412"/>
            <a:ext cx="15811500" cy="9525"/>
          </a:xfrm>
          <a:prstGeom prst="rect">
            <a:avLst/>
          </a:prstGeom>
          <a:solidFill>
            <a:srgbClr val="EFE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19200" y="7881937"/>
            <a:ext cx="106233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2011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43435" y="7881937"/>
            <a:ext cx="566811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Criminal Law (Amendment) 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73454" y="7881937"/>
            <a:ext cx="919534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Acid-attack crime with mandatory minimum sentence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38250" y="8615362"/>
            <a:ext cx="15811500" cy="9525"/>
          </a:xfrm>
          <a:prstGeom prst="rect">
            <a:avLst/>
          </a:prstGeom>
          <a:solidFill>
            <a:srgbClr val="EFE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19200" y="8243887"/>
            <a:ext cx="106233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2016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43435" y="8243887"/>
            <a:ext cx="566811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Anti-Honour Killing 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73454" y="8243887"/>
            <a:ext cx="919534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Prevents family pardon (qisas) in honour-killings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38250" y="8977312"/>
            <a:ext cx="15811500" cy="9525"/>
          </a:xfrm>
          <a:prstGeom prst="rect">
            <a:avLst/>
          </a:prstGeom>
          <a:solidFill>
            <a:srgbClr val="EFE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19200" y="8605837"/>
            <a:ext cx="106233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2018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43435" y="8605837"/>
            <a:ext cx="566811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Transgender Persons (Protection) Act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73454" y="8605837"/>
            <a:ext cx="919534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Legal recognition of third gender &amp; protection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9200" y="8967787"/>
            <a:ext cx="1062335" cy="3952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2022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43435" y="8967787"/>
            <a:ext cx="5668119" cy="3952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ICT Domestic Violence Act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73454" y="8967787"/>
            <a:ext cx="9195345" cy="3952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Federal law closer to provincial provisions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3905250" cy="2343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390525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8250" y="2667000"/>
            <a:ext cx="390525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8250" y="2667000"/>
            <a:ext cx="390525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39250" y="2667000"/>
            <a:ext cx="390525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9250" y="2667000"/>
            <a:ext cx="390525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430250" y="2667000"/>
            <a:ext cx="3905250" cy="2343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430250" y="2667000"/>
            <a:ext cx="390525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7250" y="5334000"/>
            <a:ext cx="16573500" cy="4162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5334000"/>
            <a:ext cx="1657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9486900"/>
            <a:ext cx="165735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06-B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Gender Equality — Persistent 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SUPPORTING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685925"/>
            <a:ext cx="16611600" cy="449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01411C"/>
                </a:solidFill>
                <a:latin typeface="Times New Roman"/>
              </a:rPr>
              <a:t>The Implementation Deficit — Where Constitutional Aspiration Meets Social Reality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950" y="2838450"/>
            <a:ext cx="3467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315">
                <a:solidFill>
                  <a:srgbClr val="D4AF37"/>
                </a:solidFill>
                <a:latin typeface="Times New Roman"/>
              </a:rPr>
              <a:t>GLOBAL GENDER GAP INDEX (2023)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3238500"/>
            <a:ext cx="3467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550" b="1" i="0">
                <a:solidFill>
                  <a:srgbClr val="FFFFFF"/>
                </a:solidFill>
                <a:latin typeface="Times New Roman"/>
              </a:rPr>
              <a:t>142</a:t>
            </a:r>
            <a:r>
              <a:rPr sz="1800" b="1" i="0">
                <a:solidFill>
                  <a:srgbClr val="D4AF37"/>
                </a:solidFill>
                <a:latin typeface="Times New Roman"/>
              </a:rPr>
              <a:t> / 146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950" y="4000500"/>
            <a:ext cx="34671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E8E8E8"/>
                </a:solidFill>
                <a:latin typeface="Times New Roman"/>
              </a:rPr>
              <a:t>World Economic Forum — Pakistan ranks among lowest globally in economic participation &amp; political empowerment.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4950" y="2838450"/>
            <a:ext cx="3467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315">
                <a:solidFill>
                  <a:srgbClr val="D4AF37"/>
                </a:solidFill>
                <a:latin typeface="Times New Roman"/>
              </a:rPr>
              <a:t>FEMALE LABOUR FORCE PARTICIPATION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4950" y="3238500"/>
            <a:ext cx="3467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550" b="1" i="0">
                <a:solidFill>
                  <a:srgbClr val="01411C"/>
                </a:solidFill>
                <a:latin typeface="Times New Roman"/>
              </a:rPr>
              <a:t>~21%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4950" y="4000500"/>
            <a:ext cx="3467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333333"/>
                </a:solidFill>
                <a:latin typeface="Times New Roman"/>
              </a:rPr>
              <a:t>Pakistan Bureau of Statistics (2022); among the lowest in South Asia.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5950" y="2838450"/>
            <a:ext cx="3467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315">
                <a:solidFill>
                  <a:srgbClr val="D4AF37"/>
                </a:solidFill>
                <a:latin typeface="Times New Roman"/>
              </a:rPr>
              <a:t>LITERACY GAP (FEMALE VS MALE, 15+)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5950" y="3238500"/>
            <a:ext cx="3467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550" b="1" i="0">
                <a:solidFill>
                  <a:srgbClr val="01411C"/>
                </a:solidFill>
                <a:latin typeface="Times New Roman"/>
              </a:rPr>
              <a:t>49</a:t>
            </a:r>
            <a:r>
              <a:rPr sz="2250" b="1" i="0">
                <a:solidFill>
                  <a:srgbClr val="01411C"/>
                </a:solidFill>
                <a:latin typeface="Times New Roman"/>
              </a:rPr>
              <a:t>%</a:t>
            </a:r>
            <a:r>
              <a:rPr sz="5550" b="1" i="0">
                <a:solidFill>
                  <a:srgbClr val="01411C"/>
                </a:solidFill>
                <a:latin typeface="Times New Roman"/>
              </a:rPr>
              <a:t> vs 71</a:t>
            </a:r>
            <a:r>
              <a:rPr sz="2250" b="1" i="0">
                <a:solidFill>
                  <a:srgbClr val="D4AF37"/>
                </a:solidFill>
                <a:latin typeface="Times New Roman"/>
              </a:rPr>
              <a:t>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4000500"/>
            <a:ext cx="3467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333333"/>
                </a:solidFill>
                <a:latin typeface="Times New Roman"/>
              </a:rPr>
              <a:t>Pakistan Social &amp; Living Standards Measurement Survey (2019–20).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96950" y="2838450"/>
            <a:ext cx="3467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315">
                <a:solidFill>
                  <a:srgbClr val="D4AF37"/>
                </a:solidFill>
                <a:latin typeface="Times New Roman"/>
              </a:rPr>
              <a:t>REPORTED VIOLENCE AGAINST WOMEN (ANNUAL)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96950" y="3238500"/>
            <a:ext cx="3467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550" b="1" i="0">
                <a:solidFill>
                  <a:srgbClr val="FFFFFF"/>
                </a:solidFill>
                <a:latin typeface="Times New Roman"/>
              </a:rPr>
              <a:t>≈8,400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96950" y="4000500"/>
            <a:ext cx="3467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E8E8E8"/>
                </a:solidFill>
                <a:latin typeface="Times New Roman"/>
              </a:rPr>
              <a:t>National Police Bureau — figures widely considered under-reported (HRCP, 2022).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9200" y="5600700"/>
            <a:ext cx="15849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ENDURING STRUCTURAL CHALLENGES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9200" y="5934075"/>
            <a:ext cx="7658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1. Gender-Based Violence (GBV)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9200" y="6219825"/>
            <a:ext cx="7658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Domestic violence incidents, honour-related violence, &amp; under-reporting of psychological abuse remain acute. Helplines (e.g., 1043 in Punjab) under-resourced (Mohanty, 2016).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4950" y="5934075"/>
            <a:ext cx="7943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2. Child &amp; Forced Marriage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4950" y="6219825"/>
            <a:ext cx="794385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Reporting by UNFPA (2022) suggests ~18% of women aged 20–24 married before 18 — though under-registration likely; Child Marriage Restraint Bill pending reform.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9200" y="7172325"/>
            <a:ext cx="7658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3. Education Pipeline Drop-off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9200" y="7458075"/>
            <a:ext cx="7658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Female enrolment rises to primary level but falls sharply at secondary &amp; tertiary. ASER Pakistan (2023) reflects widened gender gap post-pandemic.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4950" y="7172325"/>
            <a:ext cx="7943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4. Political &amp; Economic Representation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4950" y="7458075"/>
            <a:ext cx="794385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Reserved seats for women in assemblies — but women elected on general seats remain rare; fewer than </a:t>
            </a:r>
            <a:r>
              <a:rPr sz="1280" b="1" i="0">
                <a:solidFill>
                  <a:srgbClr val="01411C"/>
                </a:solidFill>
                <a:latin typeface="Times New Roman"/>
              </a:rPr>
              <a:t>5%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 of legislators historically (Ibrahim &amp; Muhammad, 2021).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9200" y="8410575"/>
            <a:ext cx="15849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5. Digital &amp; Cyber Harassment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9200" y="8696325"/>
            <a:ext cx="158496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Pakistan ranks among the top countries globally for gendered cyber-harassment complaints (Digital Rights Foundation Monitor, 2022). The Prevention of Electronic Crimes Act (PECA, 2016) — partially remedial — is widely critiqued for over-broad provisions.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5143500" cy="2343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5143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81750" y="2667000"/>
            <a:ext cx="514350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81750" y="266700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06250" y="2667000"/>
            <a:ext cx="514350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906250" y="266700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7250" y="5238750"/>
            <a:ext cx="514350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250" y="523875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1750" y="5238750"/>
            <a:ext cx="5143500" cy="2343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750" y="5238750"/>
            <a:ext cx="5143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906250" y="5238750"/>
            <a:ext cx="514350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06250" y="523875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7250" y="7715250"/>
            <a:ext cx="16268700" cy="16192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7715250"/>
            <a:ext cx="76200" cy="16192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Pakistani Women &amp; Their Achievements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MAIN CONCEPT FOUR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1685925"/>
            <a:ext cx="16611600" cy="449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01411C"/>
                </a:solidFill>
                <a:latin typeface="Times New Roman"/>
              </a:rPr>
              <a:t>A Seven-Decade Trajectory of Civic, Scholarly &amp; Artistic Excellence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950" y="2838450"/>
            <a:ext cx="4610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POLITICS &amp; STATESMANSHIP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50" y="3048000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Madam-e-Pakistan &amp; Beyond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950" y="3381375"/>
            <a:ext cx="4610100" cy="742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80" b="0" i="0">
                <a:solidFill>
                  <a:srgbClr val="E8E8E8"/>
                </a:solidFill>
                <a:latin typeface="Times New Roman"/>
              </a:rPr>
              <a:t> Shaheed-e-Milat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Fatima Jinnah</a:t>
            </a:r>
            <a:r>
              <a:rPr sz="1280" b="0" i="0">
                <a:solidFill>
                  <a:srgbClr val="E8E8E8"/>
                </a:solidFill>
                <a:latin typeface="Times New Roman"/>
              </a:rPr>
              <a:t> (1893–1967), Pakistan's first female dental surgeon &amp; politician. Begum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Ra'ana Liaquat Ali Khan</a:t>
            </a:r>
            <a:r>
              <a:rPr sz="1280" b="0" i="0">
                <a:solidFill>
                  <a:srgbClr val="E8E8E8"/>
                </a:solidFill>
                <a:latin typeface="Times New Roman"/>
              </a:rPr>
              <a:t>, forerunner of women's parliamentary caucus.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8450" y="2838450"/>
            <a:ext cx="4610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LAW &amp; JUDICIARY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3048000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Pioneering Jurists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50" y="3381375"/>
            <a:ext cx="4610100" cy="742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 Justice </a:t>
            </a:r>
            <a:r>
              <a:rPr sz="1280" b="1" i="0">
                <a:solidFill>
                  <a:srgbClr val="01411C"/>
                </a:solidFill>
                <a:latin typeface="Times New Roman"/>
              </a:rPr>
              <a:t>Nasira Iqbal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 — early SC advocate; Justice </a:t>
            </a:r>
            <a:r>
              <a:rPr sz="1280" b="1" i="0">
                <a:solidFill>
                  <a:srgbClr val="01411C"/>
                </a:solidFill>
                <a:latin typeface="Times New Roman"/>
              </a:rPr>
              <a:t>Majida Rizvi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 – first female High Court judge (1974); Justice </a:t>
            </a:r>
            <a:r>
              <a:rPr sz="1280" b="1" i="0">
                <a:solidFill>
                  <a:srgbClr val="01411C"/>
                </a:solidFill>
                <a:latin typeface="Times New Roman"/>
              </a:rPr>
              <a:t>Ayesha Malik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 (2022) - first female SC judge.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72950" y="2838450"/>
            <a:ext cx="4610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SCIENCE &amp; MEDICINE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72950" y="3048000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Nobel Laureates &amp; Beyond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72950" y="3381375"/>
            <a:ext cx="4610100" cy="742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80" b="1" i="0">
                <a:solidFill>
                  <a:srgbClr val="01411C"/>
                </a:solidFill>
                <a:latin typeface="Times New Roman"/>
              </a:rPr>
              <a:t>Dr. Abdus Salam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 (Nobel 1979) — physics (illustrative of early scientific excellence); </a:t>
            </a:r>
            <a:r>
              <a:rPr sz="1280" b="1" i="0">
                <a:solidFill>
                  <a:srgbClr val="01411C"/>
                </a:solidFill>
                <a:latin typeface="Times New Roman"/>
              </a:rPr>
              <a:t>Dr. Azra Fazal Pechuho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, surgical oncologist &amp; senator.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3950" y="5410200"/>
            <a:ext cx="4610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SPORTS &amp; ATHLETICS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3950" y="5619750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Cricket &amp; Squash Pioneers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3950" y="5953125"/>
            <a:ext cx="4610100" cy="507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80" b="1" i="0">
                <a:solidFill>
                  <a:srgbClr val="01411C"/>
                </a:solidFill>
                <a:latin typeface="Times New Roman"/>
              </a:rPr>
              <a:t>Sana Mir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 – former Pakistan women's cricket captain; </a:t>
            </a:r>
            <a:r>
              <a:rPr sz="1280" b="1" i="0">
                <a:solidFill>
                  <a:srgbClr val="01411C"/>
                </a:solidFill>
                <a:latin typeface="Times New Roman"/>
              </a:rPr>
              <a:t>Maria Toorpakai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 — WSF-ranked squash player from KP tribal region.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8450" y="5410200"/>
            <a:ext cx="4610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LITERATURE &amp; 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8450" y="5619750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Voices that Reshaped Canon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8450" y="5953125"/>
            <a:ext cx="4610100" cy="507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80" b="1" i="0">
                <a:solidFill>
                  <a:srgbClr val="D4AF37"/>
                </a:solidFill>
                <a:latin typeface="Times New Roman"/>
              </a:rPr>
              <a:t>Bano Qudsia</a:t>
            </a:r>
            <a:r>
              <a:rPr sz="1280" b="0" i="0">
                <a:solidFill>
                  <a:srgbClr val="E8E8E8"/>
                </a:solidFill>
                <a:latin typeface="Times New Roman"/>
              </a:rPr>
              <a:t> — Aangan Khidki (1967) &amp; Raja Gidh;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Fahmida Riaz</a:t>
            </a:r>
            <a:r>
              <a:rPr sz="1280" b="0" i="0">
                <a:solidFill>
                  <a:srgbClr val="E8E8E8"/>
                </a:solidFill>
                <a:latin typeface="Times New Roman"/>
              </a:rPr>
              <a:t>;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Sara Shagufta</a:t>
            </a:r>
            <a:r>
              <a:rPr sz="1280" b="0" i="0">
                <a:solidFill>
                  <a:srgbClr val="E8E8E8"/>
                </a:solidFill>
                <a:latin typeface="Times New Roman"/>
              </a:rPr>
              <a:t>;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Umera Ahmed</a:t>
            </a:r>
            <a:r>
              <a:rPr sz="1280" b="0" i="0">
                <a:solidFill>
                  <a:srgbClr val="E8E8E8"/>
                </a:solidFill>
                <a:latin typeface="Times New Roman"/>
              </a:rPr>
              <a:t>.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72950" y="5410200"/>
            <a:ext cx="4610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CIVIL SOCIETY &amp; HUMAN RIGHTS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72950" y="5619750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Human-Rights Defenders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72950" y="5953125"/>
            <a:ext cx="4610100" cy="742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80" b="1" i="0">
                <a:solidFill>
                  <a:srgbClr val="01411C"/>
                </a:solidFill>
                <a:latin typeface="Times New Roman"/>
              </a:rPr>
              <a:t>Asma Jahangir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 (1952–2018) — HRCP &amp; AGHS; UN Special Rapporteur; </a:t>
            </a:r>
            <a:r>
              <a:rPr sz="1280" b="1" i="0">
                <a:solidFill>
                  <a:srgbClr val="01411C"/>
                </a:solidFill>
                <a:latin typeface="Times New Roman"/>
              </a:rPr>
              <a:t>Hina Jilani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 — AGHS Legal Aid Cell; Aurat March organisers 2018 →.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9200" y="7886700"/>
            <a:ext cx="15468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A SYNTHESIS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9200" y="8181975"/>
            <a:ext cx="15468600" cy="968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80" b="0" i="0">
                <a:solidFill>
                  <a:srgbClr val="FFFFFF"/>
                </a:solidFill>
                <a:latin typeface="Times New Roman"/>
              </a:rPr>
              <a:t> Across politics, law, science, sport, literature &amp; activism, Pakistani women have continually expanded the civic space — both within constitutional channels and through civil-society pressure. Their documented trajectories complement the textual guarantees in Part II of the Constitution and reveal, in many cases, </a:t>
            </a:r>
            <a:r>
              <a:rPr sz="1580" b="1" i="0">
                <a:solidFill>
                  <a:srgbClr val="D4AF37"/>
                </a:solidFill>
                <a:latin typeface="Times New Roman"/>
              </a:rPr>
              <a:t>a substantive record that long predates formal legal reform</a:t>
            </a:r>
            <a:r>
              <a:rPr sz="1580" b="0" i="0">
                <a:solidFill>
                  <a:srgbClr val="FFFFFF"/>
                </a:solidFill>
                <a:latin typeface="Times New Roman"/>
              </a:rPr>
              <a:t>. Educational, political and corporate spheres remain, however, the principal sites where unrealised potential concentrates.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524125"/>
            <a:ext cx="38100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524125"/>
            <a:ext cx="38100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3000" y="2524125"/>
            <a:ext cx="3810000" cy="32004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3000" y="2524125"/>
            <a:ext cx="38100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48750" y="2524125"/>
            <a:ext cx="38100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48750" y="2524125"/>
            <a:ext cx="38100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144500" y="2524125"/>
            <a:ext cx="4381500" cy="32004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144500" y="2524125"/>
            <a:ext cx="4381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7250" y="5953125"/>
            <a:ext cx="3810000" cy="32004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5953125"/>
            <a:ext cx="38100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0" y="5953125"/>
            <a:ext cx="38100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0" y="5953125"/>
            <a:ext cx="38100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8750" y="5953125"/>
            <a:ext cx="38100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48750" y="5953125"/>
            <a:ext cx="38100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144500" y="5953125"/>
            <a:ext cx="4381500" cy="32004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44500" y="5953125"/>
            <a:ext cx="4381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07-B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Notable Personalities &amp; Contributors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KEY PERSONALITIES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1685925"/>
            <a:ext cx="16611600" cy="449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01411C"/>
                </a:solidFill>
                <a:latin typeface="Times New Roman"/>
              </a:rPr>
              <a:t>Architects of Pakistan's Human-Rights &amp; Women's Movements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950" y="431482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1893–1967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950" y="4505325"/>
            <a:ext cx="3276600" cy="289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Fatima Jinnah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950" y="479479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01411C"/>
                </a:solidFill>
                <a:latin typeface="Times New Roman"/>
              </a:rPr>
              <a:t>"Mother of the Nation"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3950" y="5004345"/>
            <a:ext cx="3276600" cy="424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Times New Roman"/>
              </a:rPr>
              <a:t>First dental surgeon; co-founder &amp; stateswoman; opposed martial law.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9700" y="431482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1952–2018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9700" y="4505325"/>
            <a:ext cx="3276600" cy="289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FFFFFF"/>
                </a:solidFill>
                <a:latin typeface="Times New Roman"/>
              </a:rPr>
              <a:t>Asma Jahangir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9700" y="479479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D4AF37"/>
                </a:solidFill>
                <a:latin typeface="Times New Roman"/>
              </a:rPr>
              <a:t>UN Special Rapporteur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700" y="5004345"/>
            <a:ext cx="3276600" cy="424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E8E8E8"/>
                </a:solidFill>
                <a:latin typeface="Times New Roman"/>
              </a:rPr>
              <a:t>HRCP founder; AGHS; defended minorities, women &amp; bonded labour.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5450" y="431482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1953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15450" y="4505325"/>
            <a:ext cx="3276600" cy="289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Hina Jilani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5450" y="479479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01411C"/>
                </a:solidFill>
                <a:latin typeface="Times New Roman"/>
              </a:rPr>
              <a:t>Lawyer &amp; Activist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5450" y="5004345"/>
            <a:ext cx="3276600" cy="424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Times New Roman"/>
              </a:rPr>
              <a:t>AGHS Legal Aid Cell; UN SR on HRDs; pioneering pro-bono networks.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11200" y="4314825"/>
            <a:ext cx="3848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B. 1972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11200" y="4505325"/>
            <a:ext cx="3848100" cy="289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FFFFFF"/>
                </a:solidFill>
                <a:latin typeface="Times New Roman"/>
              </a:rPr>
              <a:t>Justice Ayesha Malik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11200" y="4794795"/>
            <a:ext cx="3848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D4AF37"/>
                </a:solidFill>
                <a:latin typeface="Times New Roman"/>
              </a:rPr>
              <a:t>Supreme Court of Pakistan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411200" y="5004345"/>
            <a:ext cx="3848100" cy="424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E8E8E8"/>
                </a:solidFill>
                <a:latin typeface="Times New Roman"/>
              </a:rPr>
              <a:t>First woman elevated to the Supreme Court (2022); commercial &amp; constitutional law.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3950" y="774382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1928–2017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3950" y="7934325"/>
            <a:ext cx="3276600" cy="289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FFFFFF"/>
                </a:solidFill>
                <a:latin typeface="Times New Roman"/>
              </a:rPr>
              <a:t>Bano Qudsia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3950" y="822379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D4AF37"/>
                </a:solidFill>
                <a:latin typeface="Times New Roman"/>
              </a:rPr>
              <a:t>Aangan Khidki Author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3950" y="8433345"/>
            <a:ext cx="3276600" cy="424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E8E8E8"/>
                </a:solidFill>
                <a:latin typeface="Times New Roman"/>
              </a:rPr>
              <a:t>Pioneering feminist literature; Aangan Khidki (1967), Raja Gidh (1981).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9700" y="774382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B. 1982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9700" y="7934325"/>
            <a:ext cx="3276600" cy="289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Sana Mir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9700" y="822379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01411C"/>
                </a:solidFill>
                <a:latin typeface="Times New Roman"/>
              </a:rPr>
              <a:t>Cricket Captain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9700" y="8433345"/>
            <a:ext cx="3276600" cy="424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Times New Roman"/>
              </a:rPr>
              <a:t>Pakistan women's cricket captain (2009–17); Wisden Cricketer 2018.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15450" y="774382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B. 1929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15450" y="7934325"/>
            <a:ext cx="3276600" cy="289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Begum Ra'ana Liaquat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15450" y="8223795"/>
            <a:ext cx="327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01411C"/>
                </a:solidFill>
                <a:latin typeface="Times New Roman"/>
              </a:rPr>
              <a:t>Stateswoman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15450" y="8433345"/>
            <a:ext cx="3276600" cy="424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Times New Roman"/>
              </a:rPr>
              <a:t>Founded All-Pakistan Women's Association (APWA) 1949; ambassador.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411200" y="7743825"/>
            <a:ext cx="3848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spc="262">
                <a:solidFill>
                  <a:srgbClr val="D4AF37"/>
                </a:solidFill>
                <a:latin typeface="Times New Roman"/>
              </a:rPr>
              <a:t>B. 1953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411200" y="7934325"/>
            <a:ext cx="3848100" cy="289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FFFFFF"/>
                </a:solidFill>
                <a:latin typeface="Times New Roman"/>
              </a:rPr>
              <a:t>Maria Toorpakai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411200" y="8223795"/>
            <a:ext cx="3848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D4AF37"/>
                </a:solidFill>
                <a:latin typeface="Times New Roman"/>
              </a:rPr>
              <a:t>Squash Champion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411200" y="8433345"/>
            <a:ext cx="3848100" cy="424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E8E8E8"/>
                </a:solidFill>
                <a:latin typeface="Times New Roman"/>
              </a:rPr>
              <a:t>Trailblazer from Waziristan; WSF-ranked player; gender equity symbol.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5143500"/>
            <a:ext cx="1657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5750" y="3238500"/>
            <a:ext cx="2286000" cy="167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5750" y="3238500"/>
            <a:ext cx="22860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7475" y="5715000"/>
            <a:ext cx="2095500" cy="167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7475" y="5715000"/>
            <a:ext cx="2095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3950" y="3238500"/>
            <a:ext cx="2095500" cy="16764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3950" y="3238500"/>
            <a:ext cx="2095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19950" y="5715000"/>
            <a:ext cx="2095500" cy="167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19950" y="5715000"/>
            <a:ext cx="2095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5950" y="3238500"/>
            <a:ext cx="2095500" cy="16764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5950" y="3238500"/>
            <a:ext cx="2095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91950" y="5715000"/>
            <a:ext cx="2095500" cy="167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91950" y="5715000"/>
            <a:ext cx="2095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077950" y="3238500"/>
            <a:ext cx="2095500" cy="167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077950" y="3238500"/>
            <a:ext cx="2095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363950" y="5715000"/>
            <a:ext cx="1619250" cy="16764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363950" y="5715000"/>
            <a:ext cx="161925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7250" y="4953000"/>
            <a:ext cx="285750" cy="2857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85975" y="4953000"/>
            <a:ext cx="285750" cy="2857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3450" y="4953000"/>
            <a:ext cx="285750" cy="2857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29450" y="4953000"/>
            <a:ext cx="285750" cy="2857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15450" y="4953000"/>
            <a:ext cx="285750" cy="2857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601450" y="4953000"/>
            <a:ext cx="285750" cy="2857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887450" y="4953000"/>
            <a:ext cx="285750" cy="2857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173450" y="4953000"/>
            <a:ext cx="285750" cy="28575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Key Events &amp; Legislative Timeline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IMPORTANT EVENTS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1685925"/>
            <a:ext cx="16611600" cy="426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550" b="1" i="0">
                <a:solidFill>
                  <a:srgbClr val="01411C"/>
                </a:solidFill>
                <a:latin typeface="Times New Roman"/>
              </a:rPr>
              <a:t>Eight Decades of Constitutional, Statutory &amp; Social Reform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825" y="3362325"/>
            <a:ext cx="1943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D4AF37"/>
                </a:solidFill>
                <a:latin typeface="Times New Roman"/>
              </a:rPr>
              <a:t>1947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825" y="3648075"/>
            <a:ext cx="1943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1411C"/>
                </a:solidFill>
                <a:latin typeface="Times New Roman"/>
              </a:rPr>
              <a:t>Independence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825" y="3886200"/>
            <a:ext cx="1943100" cy="597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333"/>
                </a:solidFill>
                <a:latin typeface="Times New Roman"/>
              </a:rPr>
              <a:t>Quaid-e-Azam addresses Constituent Assembly; minorities recognised in earliest legislature.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76550" y="5838825"/>
            <a:ext cx="1943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D4AF37"/>
                </a:solidFill>
                <a:latin typeface="Times New Roman"/>
              </a:rPr>
              <a:t>1956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76550" y="6124575"/>
            <a:ext cx="1943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1411C"/>
                </a:solidFill>
                <a:latin typeface="Times New Roman"/>
              </a:rPr>
              <a:t>1st Republic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76550" y="6362700"/>
            <a:ext cx="1943100" cy="597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333"/>
                </a:solidFill>
                <a:latin typeface="Times New Roman"/>
              </a:rPr>
              <a:t>First Constitution; minorities reserved seats; Pakistan declared Islamic Republic.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53025" y="3362325"/>
            <a:ext cx="1943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D4AF37"/>
                </a:solidFill>
                <a:latin typeface="Times New Roman"/>
              </a:rPr>
              <a:t>1973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53025" y="3648075"/>
            <a:ext cx="1943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The Constitution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53025" y="3886200"/>
            <a:ext cx="1943100" cy="597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E8E8E8"/>
                </a:solidFill>
                <a:latin typeface="Times New Roman"/>
              </a:rPr>
              <a:t>Articles 8–28; proportional minority representation; women's reserved seats.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39025" y="5838825"/>
            <a:ext cx="1943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D4AF37"/>
                </a:solidFill>
                <a:latin typeface="Times New Roman"/>
              </a:rPr>
              <a:t>1979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9025" y="6124575"/>
            <a:ext cx="1943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1411C"/>
                </a:solidFill>
                <a:latin typeface="Times New Roman"/>
              </a:rPr>
              <a:t>Hudood Ordinances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9025" y="6362700"/>
            <a:ext cx="1943100" cy="597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333"/>
                </a:solidFill>
                <a:latin typeface="Times New Roman"/>
              </a:rPr>
              <a:t>Expansion of zina &amp; qisas; intensified scrutiny of gender &amp; minority rights.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25025" y="3362325"/>
            <a:ext cx="1943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D4AF37"/>
                </a:solidFill>
                <a:latin typeface="Times New Roman"/>
              </a:rPr>
              <a:t>2006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25025" y="3648075"/>
            <a:ext cx="1943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Women's Protection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25025" y="3886200"/>
            <a:ext cx="1943100" cy="597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E8E8E8"/>
                </a:solidFill>
                <a:latin typeface="Times New Roman"/>
              </a:rPr>
              <a:t>WPA removes zina cases from Hudood; transfers prosecution to PPC.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011025" y="5838825"/>
            <a:ext cx="1943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D4AF37"/>
                </a:solidFill>
                <a:latin typeface="Times New Roman"/>
              </a:rPr>
              <a:t>2010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011025" y="6124575"/>
            <a:ext cx="1943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1411C"/>
                </a:solidFill>
                <a:latin typeface="Times New Roman"/>
              </a:rPr>
              <a:t>18th Amendment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011025" y="6362700"/>
            <a:ext cx="1943100" cy="597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333"/>
                </a:solidFill>
                <a:latin typeface="Times New Roman"/>
              </a:rPr>
              <a:t>Concurrent list abolished; provincial autonomy over human-rights portfolio.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297025" y="3362325"/>
            <a:ext cx="1943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D4AF37"/>
                </a:solidFill>
                <a:latin typeface="Times New Roman"/>
              </a:rPr>
              <a:t>2016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297025" y="3648075"/>
            <a:ext cx="1943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1411C"/>
                </a:solidFill>
                <a:latin typeface="Times New Roman"/>
              </a:rPr>
              <a:t>Anti-Honour Killing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297025" y="3886200"/>
            <a:ext cx="194310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333"/>
                </a:solidFill>
                <a:latin typeface="Times New Roman"/>
              </a:rPr>
              <a:t>Federal law overrides family pardons in honour-related killings.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506825" y="5838825"/>
            <a:ext cx="1562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D4AF37"/>
                </a:solidFill>
                <a:latin typeface="Times New Roman"/>
              </a:rPr>
              <a:t>2018 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506825" y="6124575"/>
            <a:ext cx="1562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Transgender Act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506825" y="6334125"/>
            <a:ext cx="156210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E8E8E8"/>
                </a:solidFill>
                <a:latin typeface="Times New Roman"/>
              </a:rPr>
              <a:t>Legal third-gender recognition &amp; protections.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7315200" cy="6810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76200" cy="6810375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2000" y="2667000"/>
            <a:ext cx="9124950" cy="3286125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82000" y="2667000"/>
            <a:ext cx="76200" cy="32861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6096000"/>
            <a:ext cx="9048750" cy="3438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82000" y="6096000"/>
            <a:ext cx="904875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Case Study — Honour &amp; Judicial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CASE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1685925"/>
            <a:ext cx="16611600" cy="449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01411C"/>
                </a:solidFill>
                <a:latin typeface="Times New Roman"/>
              </a:rPr>
              <a:t>Honour Killings — A Constitutional &amp; Sociological 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2933700"/>
            <a:ext cx="6515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DEFINING THE ISSUE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209925"/>
            <a:ext cx="65151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01411C"/>
                </a:solidFill>
                <a:latin typeface="Times New Roman"/>
              </a:rPr>
              <a:t>Honour-related Violence in Pakistan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676650"/>
            <a:ext cx="651510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 Honour killings are murders — predominantly of women — committed by family or community members to defend perceived familial "honour". The practice intersects with custom, tribal jirgas, &amp; the qisas/diyat legal regime.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4581525"/>
            <a:ext cx="6515100" cy="303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0" i="0">
                <a:solidFill>
                  <a:srgbClr val="222222"/>
                </a:solidFill>
                <a:latin typeface="Times New Roman"/>
              </a:rPr>
              <a:t> HRCP 2022 report: </a:t>
            </a:r>
            <a:r>
              <a:rPr sz="1350" b="1" i="0">
                <a:solidFill>
                  <a:srgbClr val="01411C"/>
                </a:solidFill>
                <a:latin typeface="Times New Roman"/>
              </a:rPr>
              <a:t>~460 honour-killings</a:t>
            </a:r>
            <a:r>
              <a:rPr sz="1350" b="0" i="0">
                <a:solidFill>
                  <a:srgbClr val="222222"/>
                </a:solidFill>
                <a:latin typeface="Times New Roman"/>
              </a:rPr>
              <a:t> annually documented.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4923383"/>
            <a:ext cx="6515100" cy="303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0" i="0">
                <a:solidFill>
                  <a:srgbClr val="222222"/>
                </a:solidFill>
                <a:latin typeface="Times New Roman"/>
              </a:rPr>
              <a:t> Historically, perpetrators were granted </a:t>
            </a:r>
            <a:r>
              <a:rPr sz="1350" b="1" i="0">
                <a:solidFill>
                  <a:srgbClr val="01411C"/>
                </a:solidFill>
                <a:latin typeface="Times New Roman"/>
              </a:rPr>
              <a:t>legal pardon</a:t>
            </a:r>
            <a:r>
              <a:rPr sz="1350" b="0" i="0">
                <a:solidFill>
                  <a:srgbClr val="222222"/>
                </a:solidFill>
                <a:latin typeface="Times New Roman"/>
              </a:rPr>
              <a:t> via family blood-money compromise.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5265241"/>
            <a:ext cx="6515100" cy="303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350" b="0" i="0">
                <a:solidFill>
                  <a:srgbClr val="222222"/>
                </a:solidFill>
                <a:latin typeface="Times New Roman"/>
              </a:rPr>
              <a:t> Sindh, Punjab &amp; Khyber Pakhtunkhwa account for most caseloads (HRCP, 2022).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3950" y="2886075"/>
            <a:ext cx="8420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LEGISLATIVE PIVOT — ANTI-HONOUR KILLING ACT 2016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3950" y="3162300"/>
            <a:ext cx="8420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Closing the Family-Pardon Loophole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3950" y="3562350"/>
            <a:ext cx="8420100" cy="835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E8E8E8"/>
                </a:solidFill>
                <a:latin typeface="Times New Roman"/>
              </a:rPr>
              <a:t> Amends PPC Section 299 and CPA Section 338 by removing the heirs' authority to forgive the accused when the qisas victim is a woman or a child. Sentencing: minimum </a:t>
            </a:r>
            <a:r>
              <a:rPr sz="1350" b="1" i="0">
                <a:solidFill>
                  <a:srgbClr val="D4AF37"/>
                </a:solidFill>
                <a:latin typeface="Times New Roman"/>
              </a:rPr>
              <a:t>25 years</a:t>
            </a:r>
            <a:r>
              <a:rPr sz="1350" b="0" i="0">
                <a:solidFill>
                  <a:srgbClr val="E8E8E8"/>
                </a:solidFill>
                <a:latin typeface="Times New Roman"/>
              </a:rPr>
              <a:t>; non-compoundable; no forgiveness in cases of female victims.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43950" y="4454574"/>
            <a:ext cx="8420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E8E8E8"/>
                </a:solidFill>
                <a:latin typeface="Times New Roman"/>
              </a:rPr>
              <a:t>Federal anti-honour killing legislation drafted with input from AGHS, HRCP, NCSW &amp; Zindagi Trust (2014–15).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3950" y="6315075"/>
            <a:ext cx="8420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JUDICIAL RESPONSE &amp;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3950" y="6648450"/>
            <a:ext cx="8420100" cy="28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28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280" b="0" i="0">
                <a:solidFill>
                  <a:srgbClr val="222222"/>
                </a:solidFill>
                <a:latin typeface="Times New Roman"/>
              </a:rPr>
              <a:t> Superior Courts increasingly invoke Art. 9 &amp; 14 (security of person, dignity) to override familial &amp; tribal compromises.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3950" y="6899374"/>
            <a:ext cx="8420100" cy="28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28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280" b="0" i="0">
                <a:solidFill>
                  <a:srgbClr val="222222"/>
                </a:solidFill>
                <a:latin typeface="Times New Roman"/>
              </a:rPr>
              <a:t> PMA 1961 &amp; harassment safeguards at the workplace are combined with anti-qisas reforms in cases of female victims.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3950" y="7150298"/>
            <a:ext cx="8420100" cy="28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28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280" b="0" i="0">
                <a:solidFill>
                  <a:srgbClr val="222222"/>
                </a:solidFill>
                <a:latin typeface="Times New Roman"/>
              </a:rPr>
              <a:t> Provincial compliance gaps documented (Bukhari &amp; Niazi, 2020). Implementation remains uneven.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5219700" cy="3619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76200" cy="3619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81750" y="2667000"/>
            <a:ext cx="5219700" cy="3619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81750" y="2667000"/>
            <a:ext cx="76200" cy="36195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06250" y="2667000"/>
            <a:ext cx="5219700" cy="3619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906250" y="2667000"/>
            <a:ext cx="76200" cy="3619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7250" y="6524625"/>
            <a:ext cx="16573500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250" y="6524625"/>
            <a:ext cx="1657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7250" y="9486900"/>
            <a:ext cx="165735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Critical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CRITICAL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1685925"/>
            <a:ext cx="16611600" cy="449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01411C"/>
                </a:solidFill>
                <a:latin typeface="Times New Roman"/>
              </a:rPr>
              <a:t>Tensions Between Text, Politics, &amp; Lived Realities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2933700"/>
            <a:ext cx="4610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TENSION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3190875"/>
            <a:ext cx="4610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Universalism vs. Religious Specificity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3590925"/>
            <a:ext cx="4610100" cy="766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 Preamble invokes Allah's sovereignty; Part II entitles every Pakistani to constitutional rights. This dual foundation is a source of both </a:t>
            </a:r>
            <a:r>
              <a:rPr sz="1280" b="1" i="0">
                <a:solidFill>
                  <a:srgbClr val="01411C"/>
                </a:solidFill>
                <a:latin typeface="Times New Roman"/>
              </a:rPr>
              <a:t>moral–legal coherence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 &amp; ongoing political contestation.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4414837"/>
            <a:ext cx="4610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66666"/>
                </a:solidFill>
                <a:latin typeface="Times New Roman"/>
              </a:rPr>
              <a:t>Kennedy (2004); Rehman (2020).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3700" y="2933700"/>
            <a:ext cx="4610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TENSION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3700" y="3190875"/>
            <a:ext cx="4610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Federalism vs. National Uniformity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3700" y="3590925"/>
            <a:ext cx="46101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E8E8E8"/>
                </a:solidFill>
                <a:latin typeface="Times New Roman"/>
              </a:rPr>
              <a:t> Post-2010 devolution empowered provincial human-rights commissions; uneven enforcement &amp; policy variation across federation — both an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asset</a:t>
            </a:r>
            <a:r>
              <a:rPr sz="1280" b="0" i="0">
                <a:solidFill>
                  <a:srgbClr val="E8E8E8"/>
                </a:solidFill>
                <a:latin typeface="Times New Roman"/>
              </a:rPr>
              <a:t> (Sindh reforms) &amp; a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liability</a:t>
            </a:r>
            <a:r>
              <a:rPr sz="1280" b="0" i="0">
                <a:solidFill>
                  <a:srgbClr val="E8E8E8"/>
                </a:solidFill>
                <a:latin typeface="Times New Roman"/>
              </a:rPr>
              <a:t> (capacity gaps).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3700" y="4657725"/>
            <a:ext cx="4610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E8E8E8"/>
                </a:solidFill>
                <a:latin typeface="Times New Roman"/>
              </a:rPr>
              <a:t>Siddiqa (2012); Khan (2014).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68200" y="2933700"/>
            <a:ext cx="4610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TENSION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68200" y="3190875"/>
            <a:ext cx="4610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Customary Law vs. Statutory Equality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68200" y="3590925"/>
            <a:ext cx="4610100" cy="766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 Jirga rulings, tribal compromise &amp; feudal mediation contest Art. 25; persistent complications in women's inheritance, marriage &amp; recovery strategies.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68200" y="4414837"/>
            <a:ext cx="4610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66666"/>
                </a:solidFill>
                <a:latin typeface="Times New Roman"/>
              </a:rPr>
              <a:t>Khan &amp; Khan (2013).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0" y="6743700"/>
            <a:ext cx="15849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ANALYTICAL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200" y="7019925"/>
            <a:ext cx="15849600" cy="384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1">
                <a:solidFill>
                  <a:srgbClr val="01411C"/>
                </a:solidFill>
                <a:latin typeface="Times New Roman"/>
              </a:rPr>
              <a:t>"Constitutional rights are aspirational until social infrastructure delivers them."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9200" y="7499895"/>
            <a:ext cx="1584960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 A coherent reading of the contemporary period requires a </a:t>
            </a:r>
            <a:r>
              <a:rPr sz="1500" b="1" i="0">
                <a:solidFill>
                  <a:srgbClr val="01411C"/>
                </a:solidFill>
                <a:latin typeface="Times New Roman"/>
              </a:rPr>
              <a:t>three-tier evaluation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: (i) the extent to which constitutional articles are bound in court-tested practice; (ii) policy &amp; commission capacity; and (iii) the enabling/disabling role of public attitudes, civil-society mobilisation, &amp; media. Where all three align, progress is measurable (e.g. anti-honour killing reform). Where they diverge — or are actively contested — even well-drafted legislation can languish.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287000" cy="6915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102870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25250" y="2667000"/>
            <a:ext cx="5981700" cy="3286125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5250" y="2667000"/>
            <a:ext cx="76200" cy="32861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25250" y="6143625"/>
            <a:ext cx="5905500" cy="3438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5250" y="6143625"/>
            <a:ext cx="5905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Contemporary Relevance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CONTEMPORARY RELEVANCE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1685925"/>
            <a:ext cx="16611600" cy="449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01411C"/>
                </a:solidFill>
                <a:latin typeface="Times New Roman"/>
              </a:rPr>
              <a:t>Why These Issues Matter for the Class of 2026 &amp; Beyond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2933700"/>
            <a:ext cx="95631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LIVE DEBATES IN PUBLIC LIFE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8250" y="3324225"/>
            <a:ext cx="38100" cy="739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28750" y="3305175"/>
            <a:ext cx="93535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1. Digital Platforms &amp; Religious Hate Speech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8750" y="3590925"/>
            <a:ext cx="935355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Cyber-vigilante cases (2017 TLP riots &amp; Blasphemy-related lynchings); proposed Digital Rights Act; courts weighing Art. 19 freedoms vs. Art. 245 security frameworks.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8250" y="4234755"/>
            <a:ext cx="38100" cy="739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4215705"/>
            <a:ext cx="93535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2. Sexual Harassment at Public Spaces &amp; Workplaces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8750" y="4501455"/>
            <a:ext cx="935355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Protection Against Harassment of Women at Workplace Act (2010) re-energised; National Commission on the Status of Women tracked 1,500+ complaints (2022–23).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8250" y="5145285"/>
            <a:ext cx="38100" cy="739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126235"/>
            <a:ext cx="93535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3. Transgender Inclusion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750" y="5411985"/>
            <a:ext cx="935355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2018 Act implemented unevenly; digital ID conflicts with NADRA's 2017 gender-verification rules. Pakistan's gender-recognition system ranks among South Asia's most progressive.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8250" y="6055816"/>
            <a:ext cx="38100" cy="739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0" y="6036766"/>
            <a:ext cx="93535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4. Climate Change, Flood Aftermath &amp; Vulnerable Communities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8750" y="6322516"/>
            <a:ext cx="935355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2022 floods displaced </a:t>
            </a:r>
            <a:r>
              <a:rPr sz="1280" b="1" i="0">
                <a:solidFill>
                  <a:srgbClr val="01411C"/>
                </a:solidFill>
                <a:latin typeface="Times New Roman"/>
              </a:rPr>
              <a:t>~33 million</a:t>
            </a:r>
            <a:r>
              <a:rPr sz="1280" b="0" i="0">
                <a:solidFill>
                  <a:srgbClr val="333333"/>
                </a:solidFill>
                <a:latin typeface="Times New Roman"/>
              </a:rPr>
              <a:t>; minorities &amp; rural women disproportionately affected (UN Women, 2023); intersecting minority &amp; gender vulnerabilities.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38250" y="6966346"/>
            <a:ext cx="38100" cy="739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8750" y="6947296"/>
            <a:ext cx="93535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5. Enforced Disappearances &amp; the Missing Persons Commission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8750" y="7233046"/>
            <a:ext cx="935355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A test of constitutional Due Process (Article 4) by judicial commissions; families across Balochistan &amp; KP continue to litigate (Bouatta &amp; Gayer, 2020).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0" y="2886075"/>
            <a:ext cx="52768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PEDAGOGICAL IMPLICATIONS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3219450"/>
            <a:ext cx="5276850" cy="297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28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280" b="0" i="0">
                <a:solidFill>
                  <a:srgbClr val="FFFFFF"/>
                </a:solidFill>
                <a:latin typeface="Times New Roman"/>
              </a:rPr>
              <a:t> Critical reading of primary constitutional 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0" y="3554610"/>
            <a:ext cx="5276850" cy="297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28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280" b="0" i="0">
                <a:solidFill>
                  <a:srgbClr val="FFFFFF"/>
                </a:solidFill>
                <a:latin typeface="Times New Roman"/>
              </a:rPr>
              <a:t> Evidence-based dissertation of contested statistics.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0" y="3889771"/>
            <a:ext cx="5276850" cy="297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28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280" b="0" i="0">
                <a:solidFill>
                  <a:srgbClr val="FFFFFF"/>
                </a:solidFill>
                <a:latin typeface="Times New Roman"/>
              </a:rPr>
              <a:t> Comparative regional framing (South Asia, Middle East).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0" y="4224932"/>
            <a:ext cx="5276850" cy="297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280" b="0" i="0">
                <a:solidFill>
                  <a:srgbClr val="FFFFFF"/>
                </a:solidFill>
                <a:latin typeface="Times New Roman"/>
              </a:rPr>
              <a:t>• </a:t>
            </a:r>
            <a:r>
              <a:rPr sz="128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280" b="0" i="0">
                <a:solidFill>
                  <a:srgbClr val="FFFFFF"/>
                </a:solidFill>
                <a:latin typeface="Times New Roman"/>
              </a:rPr>
              <a:t> Civic literacy — translating knowledge into civic action.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0" y="6362700"/>
            <a:ext cx="52768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LOOKING AHEAD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0" y="6638925"/>
            <a:ext cx="5276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Provincial Reform Frontiers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0" y="7000875"/>
            <a:ext cx="5276850" cy="2742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20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200" b="0" i="0">
                <a:solidFill>
                  <a:srgbClr val="222222"/>
                </a:solidFill>
                <a:latin typeface="Times New Roman"/>
              </a:rPr>
              <a:t> PECA amendment consultation (2023–24).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0" y="7237065"/>
            <a:ext cx="5276850" cy="2742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20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200" b="0" i="0">
                <a:solidFill>
                  <a:srgbClr val="222222"/>
                </a:solidFill>
                <a:latin typeface="Times New Roman"/>
              </a:rPr>
              <a:t> KP, Balochistan DV bills active.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0" y="7473255"/>
            <a:ext cx="5276850" cy="2742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20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200" b="0" i="0">
                <a:solidFill>
                  <a:srgbClr val="222222"/>
                </a:solidFill>
                <a:latin typeface="Times New Roman"/>
              </a:rPr>
              <a:t> National Commission for Minorities (2018 proposed, lapsed).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7709445"/>
            <a:ext cx="5276850" cy="2742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200" b="1" i="0">
                <a:solidFill>
                  <a:srgbClr val="D4AF37"/>
                </a:solidFill>
                <a:latin typeface="Times New Roman"/>
              </a:rPr>
              <a:t>●</a:t>
            </a:r>
            <a:r>
              <a:rPr sz="1200" b="0" i="0">
                <a:solidFill>
                  <a:srgbClr val="222222"/>
                </a:solidFill>
                <a:latin typeface="Times New Roman"/>
              </a:rPr>
              <a:t> Climate-vulnerability &amp; gender budgeting.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0" y="8040885"/>
            <a:ext cx="52768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0" i="1">
                <a:solidFill>
                  <a:srgbClr val="01411C"/>
                </a:solidFill>
                <a:latin typeface="Times New Roman"/>
              </a:rPr>
              <a:t>Today's students will inherit a rights agenda shaped in this decade.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5143500" cy="21526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5143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81750" y="2667000"/>
            <a:ext cx="5143500" cy="2152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81750" y="266700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06250" y="2667000"/>
            <a:ext cx="5143500" cy="2152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906250" y="266700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7250" y="5048250"/>
            <a:ext cx="5143500" cy="2152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250" y="504825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1750" y="5048250"/>
            <a:ext cx="5143500" cy="21526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750" y="5048250"/>
            <a:ext cx="5143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906250" y="5048250"/>
            <a:ext cx="5143500" cy="2152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06250" y="504825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7250" y="7429500"/>
            <a:ext cx="16192500" cy="1962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7429500"/>
            <a:ext cx="16192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Summary of Key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1685925"/>
            <a:ext cx="16611600" cy="449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01411C"/>
                </a:solidFill>
                <a:latin typeface="Times New Roman"/>
              </a:rPr>
              <a:t>Distilling the Module — Six Integrated Takeaways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950" y="2838450"/>
            <a:ext cx="4610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4AF37"/>
                </a:solidFill>
                <a:latin typeface="Times New Roman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50" y="342900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FFFFFF"/>
                </a:solidFill>
                <a:latin typeface="Times New Roman"/>
              </a:rPr>
              <a:t>Constitutional Foundations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950" y="373380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E8E8E8"/>
                </a:solidFill>
                <a:latin typeface="Times New Roman"/>
              </a:rPr>
              <a:t>Pakistan's 1973 Constitution provides one of South Asia's most expansive bills of rights — Part II and beyond.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8450" y="2838450"/>
            <a:ext cx="4610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4AF37"/>
                </a:solidFill>
                <a:latin typeface="Times New Roman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342900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Minorities — Structural Vulnerability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50" y="373380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3–4% of the population; protective frameworks exist on paper while implementation remains uneven.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72950" y="2838450"/>
            <a:ext cx="4610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4AF37"/>
                </a:solidFill>
                <a:latin typeface="Times New Roman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72950" y="342900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Statutory Milestones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72950" y="373380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WPA 2006, Anti-Honour Killing 2016, Transgender Persons 2018, Domestic Violence laws — each addressing prior deficits.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3950" y="5219700"/>
            <a:ext cx="4610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4AF37"/>
                </a:solidFill>
                <a:latin typeface="Times New Roman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3950" y="581025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Women's Achievements &amp; Aspirations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3950" y="611505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Politics, judiciary, science, sports, literature, civil society — Pakistani women have led documented progress.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8450" y="5219700"/>
            <a:ext cx="4610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4AF37"/>
                </a:solidFill>
                <a:latin typeface="Times New Roman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8450" y="581025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FFFFFF"/>
                </a:solidFill>
                <a:latin typeface="Times New Roman"/>
              </a:rPr>
              <a:t>Implementation Deficit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8450" y="611505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E8E8E8"/>
                </a:solidFill>
                <a:latin typeface="Times New Roman"/>
              </a:rPr>
              <a:t>Implementation gap is the crux — gaps remain in GBV enforcement, minority protection &amp; economic participation.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72950" y="5219700"/>
            <a:ext cx="4610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4AF37"/>
                </a:solidFill>
                <a:latin typeface="Times New Roman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72950" y="5810250"/>
            <a:ext cx="4610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01411C"/>
                </a:solidFill>
                <a:latin typeface="Times New Roman"/>
              </a:rPr>
              <a:t>Prospects — Critical Route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72950" y="6115050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Provincial innovation, judicial activism, civil-society momentum, &amp; an organised student body can shape the trajectory.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9200" y="7696200"/>
            <a:ext cx="15468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SYNTHESISING STATEMENT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9200" y="7991475"/>
            <a:ext cx="154686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FFFFFF"/>
                </a:solidFill>
                <a:latin typeface="Times New Roman"/>
              </a:rPr>
              <a:t> The contemporary state of Pakistani human rights is best understood as a continuum — a constitutional floor robustly drafted, a statutory fabric patched through decades of reform, and a lived reality still negotiating contested norms of culture, faith &amp; power.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1524000"/>
            <a:ext cx="16649700" cy="1714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524000"/>
            <a:ext cx="76200" cy="17145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3524250"/>
            <a:ext cx="5143500" cy="415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250" y="352425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1750" y="3524250"/>
            <a:ext cx="5143500" cy="41529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1750" y="3524250"/>
            <a:ext cx="5143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906250" y="3524250"/>
            <a:ext cx="5143500" cy="415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906250" y="3524250"/>
            <a:ext cx="5143500" cy="57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7250" y="7905750"/>
            <a:ext cx="16573500" cy="158115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7905750"/>
            <a:ext cx="165735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MODULE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71500"/>
            <a:ext cx="124206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1743075"/>
            <a:ext cx="15849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2019300"/>
            <a:ext cx="15849600" cy="442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 i="0">
                <a:solidFill>
                  <a:srgbClr val="FFFFFF"/>
                </a:solidFill>
                <a:latin typeface="Times New Roman"/>
              </a:rPr>
              <a:t>Pakistan's Human-Rights Future — Constructive, Cautious, Evidence-Based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50" y="3790950"/>
            <a:ext cx="46101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D4AF37"/>
                </a:solidFill>
                <a:latin typeface="Times New Roman"/>
              </a:rPr>
              <a:t>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950" y="4419600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Constitutional Robustness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4772025"/>
            <a:ext cx="46101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 Pakistan's bill of rights is broad on paper — Articles 8–28 cover dignity, equality, religion, education, gender, &amp; non-discrimination. The constitutional pathway for redress exists through High Court writ jurisdictions and Supreme Court PIL.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8450" y="3790950"/>
            <a:ext cx="46101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D4AF37"/>
                </a:solidFill>
                <a:latin typeface="Times New Roman"/>
              </a:rPr>
              <a:t>II.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8450" y="4419600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Statutory &amp; Institutional Acceleration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8450" y="4772025"/>
            <a:ext cx="46101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E8E8E8"/>
                </a:solidFill>
                <a:latin typeface="Times New Roman"/>
              </a:rPr>
              <a:t> From 2006 onwards, a sustained legislative rhythm has translated constitutional ideals into protected categories. The persistence of NCSW, NCHR &amp; provincial commissions provides an institutional infrastructure that previous decades lacked.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72950" y="3790950"/>
            <a:ext cx="46101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D4AF37"/>
                </a:solidFill>
                <a:latin typeface="Times New Roman"/>
              </a:rPr>
              <a:t>III.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72950" y="4419600"/>
            <a:ext cx="46101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1411C"/>
                </a:solidFill>
                <a:latin typeface="Times New Roman"/>
              </a:rPr>
              <a:t>Civic Capacity &amp; Closing the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72950" y="4772025"/>
            <a:ext cx="4610100" cy="766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33333"/>
                </a:solidFill>
                <a:latin typeface="Times New Roman"/>
              </a:rPr>
              <a:t> The unresolved task is the implementation gap — bridging law &amp; lived practice, the centrepiece of an agenda that future jurists, civil servants, scholars, &amp; activists must collectively meet.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200" y="8124825"/>
            <a:ext cx="15849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CLOSING REFLECTION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200" y="8401050"/>
            <a:ext cx="1584960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 i="1">
                <a:solidFill>
                  <a:srgbClr val="FFFFFF"/>
                </a:solidFill>
                <a:latin typeface="Times New Roman"/>
              </a:rPr>
              <a:t> "A constitution, a society, and a person develop together — and the next chapter of Pakistan's human-rights story is being written today."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0" y="8831460"/>
            <a:ext cx="15849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8E8E8"/>
                </a:solidFill>
                <a:latin typeface="Times New Roman"/>
              </a:rPr>
              <a:t>— Forum for Dignity &amp; Rights, after Asma Jahangir (Annual Lecture Series, AGHS)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14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4425"/>
            <a:ext cx="1828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314325"/>
            <a:ext cx="12420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72">
                <a:solidFill>
                  <a:srgbClr val="D4AF37"/>
                </a:solidFill>
                <a:latin typeface="Times New Roman"/>
              </a:rPr>
              <a:t>PAKISTAN STUDIES · READING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71500"/>
            <a:ext cx="124206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References · APA 7</a:t>
            </a:r>
            <a:r>
              <a:rPr sz="3000" b="1" i="0">
                <a:solidFill>
                  <a:srgbClr val="FFFFFF"/>
                </a:solidFill>
                <a:latin typeface="Times New Roman"/>
              </a:rPr>
              <a:t>th</a:t>
            </a:r>
            <a:r>
              <a:rPr sz="3600" b="1" i="0">
                <a:solidFill>
                  <a:srgbClr val="FFFFFF"/>
                </a:solidFill>
                <a:latin typeface="Times New Roman"/>
              </a:rPr>
              <a:t>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09700"/>
            <a:ext cx="16611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 spc="405">
                <a:solidFill>
                  <a:srgbClr val="D4AF37"/>
                </a:solidFill>
                <a:latin typeface="Times New Roman"/>
              </a:rPr>
              <a:t>SELECTED AUTHORITATIVE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85925"/>
            <a:ext cx="16611600" cy="426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550" b="1" i="0">
                <a:solidFill>
                  <a:srgbClr val="01411C"/>
                </a:solidFill>
                <a:latin typeface="Times New Roman"/>
              </a:rPr>
              <a:t>Primaries, Government Documents &amp; Peer-Reviewed Scholarship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7250" y="2781300"/>
            <a:ext cx="16573500" cy="95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2505075"/>
            <a:ext cx="16611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1411C"/>
                </a:solidFill>
                <a:latin typeface="Times New Roman"/>
              </a:rPr>
              <a:t>Constitutional, Statutory &amp; Government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828925"/>
            <a:ext cx="16611600" cy="282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Government of Pakistan. (2013).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The Constitution of the Islamic Republic of Pakistan, 1973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 (as amended up to 2013). Ministry of Law, Justice &amp; Human Rights.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111698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National Assembly of Pakistan. (2016).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Anti-Honour Killing Act, 2016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The Gazette of Pakistan.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356371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National Assembly of Pakistan. (2018).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Transgender Persons (Protection of Rights) Act, 2018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The Gazette of Pakistan.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601045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Government of Pakistan. (2011).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Criminal Law (Amendment) Act, 2011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 (Acid Control &amp; Acid Crime Prevention). The Gazette of Pakistan.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845718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National Commission on the Status of Women. (2022).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Annual Report 2021–22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Government of Pakistan.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7250" y="4461867"/>
            <a:ext cx="16573500" cy="95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4185642"/>
            <a:ext cx="16611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1411C"/>
                </a:solidFill>
                <a:latin typeface="Times New Roman"/>
              </a:rPr>
              <a:t>Reports &amp; Indexes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509492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Human Rights Commission of Pakistan. (2022).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State of Human Rights in Pakistan 2022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HRCP Press.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754165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National Commission for Human Rights. (2023).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Annual Report 2022–23: Rights of Minorities, Women &amp; Vulnerable Communities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NCHR.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998839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World Economic Forum. (2023).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Global Gender Gap Report 2023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WEF.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5243512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UN Women. (2023).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Gendered Impact of the 2022 Floods in Pakistan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UN Women Country Office.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488185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Pakistan Bureau of Statistics. (2022).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Labour Force Survey 2020–22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Government of Pakistan.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7250" y="6104334"/>
            <a:ext cx="16573500" cy="95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" y="5828109"/>
            <a:ext cx="16611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1411C"/>
                </a:solidFill>
                <a:latin typeface="Times New Roman"/>
              </a:rPr>
              <a:t>Books &amp; Peer-Reviewed Articles (APA 7th)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6151959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Ahmed, A., &amp; Talbot, I. (2021).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The politics of gender in Pakistan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Cambridge University Press.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6396632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Bouatta, C., &amp; Gayer, L. (2020). Civil liberties in Pakistan: From Hudood to modelling.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South Asia: Journal of South Asian Studies, 43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(4), 651–670.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6641306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Gazdar, H. (2019). Pakistan's minorities: Findings from the national and local data sources.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IDS Bulletin, 50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(2), 35–52.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6885979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Kennedy, C. H. (2004).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Constitutional and political rights in Pakistan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Oxford University Press.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7130653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Khan, S. (2014). Federalism and human rights in Pakistan.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Pakistan Journal of History &amp; Culture, 35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(2), 45–68.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7375326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Lau, M. (2003).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The role of Islam in Pakistan's constitutional development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Kluwer Law International.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7620000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Mohanty, M. (2016). Women's protection legislation and its enforcement in Pakistan.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Indian Journal of Comparative Law, 4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(1), 89–110.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7864673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Rehman, I. A. (2020). Minority rights jurisprudence in Pakistan: A doctrinal appraisal.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Journal of South Asian Law &amp; Policy, 11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, 27–55.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8109346"/>
            <a:ext cx="16611600" cy="244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just">
              <a:lnSpc>
                <a:spcPct val="155000"/>
              </a:lnSpc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 Siddiqa, A. (2012). </a:t>
            </a:r>
            <a:r>
              <a:rPr sz="1050" b="0" i="1">
                <a:solidFill>
                  <a:srgbClr val="222222"/>
                </a:solidFill>
                <a:latin typeface="Times New Roman"/>
              </a:rPr>
              <a:t>Federalism and judicial intervention in Pakistan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. Vanguard Books.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9858375"/>
            <a:ext cx="11468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Pakistan Studies · Institute of Emerging Technologies · Sukkur IBA University (Khairpur Campus)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554450" y="9858375"/>
            <a:ext cx="1181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D4AF37"/>
                </a:solidFill>
                <a:latin typeface="Times New Roman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