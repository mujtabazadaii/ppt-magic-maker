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Lst>
  <p:sldSz cx="18288000" cy="10287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1143000" y="762000"/>
            <a:ext cx="16002000" cy="19050"/>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410950" y="1885950"/>
            <a:ext cx="5753100" cy="55245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Image: Topographic map of Pakistan</a:t>
            </a:r>
          </a:p>
          <a:p>
            <a:pPr algn="l">
              <a:lnSpc>
                <a:spcPct val="120000"/>
              </a:lnSpc>
            </a:pPr>
            <a:r>
              <a:rPr sz="1200" b="0" i="0">
                <a:solidFill>
                  <a:srgbClr val="000000"/>
                </a:solidFill>
                <a:latin typeface="Times New Roman"/>
              </a:rPr>
              <a:t>showing mountains, Indus plain,</a:t>
            </a:r>
          </a:p>
          <a:p>
            <a:pPr algn="l">
              <a:lnSpc>
                <a:spcPct val="120000"/>
              </a:lnSpc>
            </a:pPr>
            <a:r>
              <a:rPr sz="1200" b="0" i="0">
                <a:solidFill>
                  <a:srgbClr val="000000"/>
                </a:solidFill>
                <a:latin typeface="Times New Roman"/>
              </a:rPr>
              <a:t>and surrounding seas</a:t>
            </a:r>
          </a:p>
        </p:txBody>
      </p:sp>
      <p:sp>
        <p:nvSpPr>
          <p:cNvPr id="5" name="Rectangle 4"/>
          <p:cNvSpPr/>
          <p:nvPr/>
        </p:nvSpPr>
        <p:spPr>
          <a:xfrm>
            <a:off x="1143000" y="2286000"/>
            <a:ext cx="38100" cy="5715000"/>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1143000" y="10001250"/>
            <a:ext cx="16002000" cy="95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123950" y="895350"/>
            <a:ext cx="8610600" cy="209550"/>
          </a:xfrm>
          <a:prstGeom prst="rect">
            <a:avLst/>
          </a:prstGeom>
          <a:noFill/>
        </p:spPr>
        <p:txBody>
          <a:bodyPr wrap="square" lIns="0" rIns="0" tIns="0" bIns="0" anchor="ctr">
            <a:spAutoFit/>
          </a:bodyPr>
          <a:lstStyle/>
          <a:p>
            <a:pPr algn="l">
              <a:lnSpc>
                <a:spcPct val="120000"/>
              </a:lnSpc>
            </a:pPr>
            <a:r>
              <a:rPr sz="1200" b="0" i="0">
                <a:solidFill>
                  <a:srgbClr val="000000"/>
                </a:solidFill>
                <a:latin typeface="Times New Roman"/>
              </a:rPr>
              <a:t>Geography of Pakistan · University Teaching Module</a:t>
            </a:r>
          </a:p>
        </p:txBody>
      </p:sp>
      <p:sp>
        <p:nvSpPr>
          <p:cNvPr id="8" name="TextBox 7"/>
          <p:cNvSpPr txBox="1"/>
          <p:nvPr/>
        </p:nvSpPr>
        <p:spPr>
          <a:xfrm>
            <a:off x="12553950" y="895350"/>
            <a:ext cx="4610100" cy="209550"/>
          </a:xfrm>
          <a:prstGeom prst="rect">
            <a:avLst/>
          </a:prstGeom>
          <a:noFill/>
        </p:spPr>
        <p:txBody>
          <a:bodyPr wrap="square" lIns="0" rIns="0" tIns="0" bIns="0" anchor="ctr">
            <a:spAutoFit/>
          </a:bodyPr>
          <a:lstStyle/>
          <a:p>
            <a:pPr algn="r">
              <a:lnSpc>
                <a:spcPct val="120000"/>
              </a:lnSpc>
            </a:pPr>
            <a:r>
              <a:rPr sz="1200" b="0" i="0">
                <a:solidFill>
                  <a:srgbClr val="C81D25"/>
                </a:solidFill>
                <a:latin typeface="Times New Roman"/>
              </a:rPr>
              <a:t>22 Slides · 50 min · Q&amp;A 10 min</a:t>
            </a:r>
          </a:p>
        </p:txBody>
      </p:sp>
      <p:sp>
        <p:nvSpPr>
          <p:cNvPr id="9" name="TextBox 8"/>
          <p:cNvSpPr txBox="1"/>
          <p:nvPr/>
        </p:nvSpPr>
        <p:spPr>
          <a:xfrm>
            <a:off x="1504950" y="2343150"/>
            <a:ext cx="9563100" cy="209550"/>
          </a:xfrm>
          <a:prstGeom prst="rect">
            <a:avLst/>
          </a:prstGeom>
          <a:noFill/>
        </p:spPr>
        <p:txBody>
          <a:bodyPr wrap="square" lIns="0" rIns="0" tIns="0" bIns="0" anchor="ctr">
            <a:spAutoFit/>
          </a:bodyPr>
          <a:lstStyle/>
          <a:p>
            <a:pPr algn="l">
              <a:lnSpc>
                <a:spcPct val="120000"/>
              </a:lnSpc>
            </a:pPr>
            <a:r>
              <a:rPr sz="1200" b="0" i="0">
                <a:solidFill>
                  <a:srgbClr val="000000"/>
                </a:solidFill>
                <a:latin typeface="Times New Roman"/>
              </a:rPr>
              <a:t>A Field Review of Five Themes · Physiography to Harvest</a:t>
            </a:r>
          </a:p>
        </p:txBody>
      </p:sp>
      <p:sp>
        <p:nvSpPr>
          <p:cNvPr id="10" name="TextBox 9"/>
          <p:cNvSpPr txBox="1"/>
          <p:nvPr/>
        </p:nvSpPr>
        <p:spPr>
          <a:xfrm>
            <a:off x="1504950" y="3451026"/>
            <a:ext cx="9563100" cy="1958280"/>
          </a:xfrm>
          <a:prstGeom prst="rect">
            <a:avLst/>
          </a:prstGeom>
          <a:noFill/>
        </p:spPr>
        <p:txBody>
          <a:bodyPr wrap="square" lIns="0" rIns="0" tIns="0" bIns="0" anchor="t">
            <a:spAutoFit/>
          </a:bodyPr>
          <a:lstStyle/>
          <a:p>
            <a:pPr algn="l">
              <a:lnSpc>
                <a:spcPct val="105000"/>
              </a:lnSpc>
            </a:pPr>
            <a:r>
              <a:rPr sz="7200" b="1" i="0">
                <a:solidFill>
                  <a:srgbClr val="000000"/>
                </a:solidFill>
                <a:latin typeface="Times New Roman"/>
              </a:rPr>
              <a:t> Geography of</a:t>
            </a:r>
          </a:p>
          <a:p>
            <a:pPr algn="l">
              <a:lnSpc>
                <a:spcPct val="105000"/>
              </a:lnSpc>
            </a:pPr>
            <a:r>
              <a:rPr sz="7200" b="1" i="1">
                <a:solidFill>
                  <a:srgbClr val="C81D25"/>
                </a:solidFill>
                <a:latin typeface="Times New Roman"/>
              </a:rPr>
              <a:t>Pakistan</a:t>
            </a:r>
          </a:p>
        </p:txBody>
      </p:sp>
      <p:sp>
        <p:nvSpPr>
          <p:cNvPr id="11" name="TextBox 10"/>
          <p:cNvSpPr txBox="1"/>
          <p:nvPr/>
        </p:nvSpPr>
        <p:spPr>
          <a:xfrm>
            <a:off x="1504950" y="5983783"/>
            <a:ext cx="9563100" cy="700980"/>
          </a:xfrm>
          <a:prstGeom prst="rect">
            <a:avLst/>
          </a:prstGeom>
          <a:noFill/>
        </p:spPr>
        <p:txBody>
          <a:bodyPr wrap="square" lIns="0" rIns="0" tIns="0" bIns="0" anchor="t">
            <a:spAutoFit/>
          </a:bodyPr>
          <a:lstStyle/>
          <a:p>
            <a:pPr algn="l">
              <a:lnSpc>
                <a:spcPct val="145000"/>
              </a:lnSpc>
            </a:pPr>
            <a:r>
              <a:rPr sz="1800" b="0" i="1">
                <a:solidFill>
                  <a:srgbClr val="243A66"/>
                </a:solidFill>
                <a:latin typeface="Times New Roman"/>
              </a:rPr>
              <a:t> Mountain ranges, seasonal rhythms, rainfall, irrigation, and the crops that grow from the Indus — a coordinate system for the fifth-largest South Asian country. </a:t>
            </a:r>
          </a:p>
        </p:txBody>
      </p:sp>
      <p:sp>
        <p:nvSpPr>
          <p:cNvPr id="12" name="TextBox 11"/>
          <p:cNvSpPr txBox="1"/>
          <p:nvPr/>
        </p:nvSpPr>
        <p:spPr>
          <a:xfrm>
            <a:off x="1504950" y="8743950"/>
            <a:ext cx="4991100" cy="190500"/>
          </a:xfrm>
          <a:prstGeom prst="rect">
            <a:avLst/>
          </a:prstGeom>
          <a:noFill/>
        </p:spPr>
        <p:txBody>
          <a:bodyPr wrap="square" lIns="0" rIns="0" tIns="0" bIns="0" anchor="ctr">
            <a:spAutoFit/>
          </a:bodyPr>
          <a:lstStyle/>
          <a:p>
            <a:pPr algn="l">
              <a:lnSpc>
                <a:spcPct val="120000"/>
              </a:lnSpc>
            </a:pPr>
            <a:r>
              <a:rPr sz="980" b="0" i="0" spc="176">
                <a:solidFill>
                  <a:srgbClr val="5B6E94"/>
                </a:solidFill>
                <a:latin typeface="Times New Roman"/>
              </a:rPr>
              <a:t>COURSE</a:t>
            </a:r>
          </a:p>
        </p:txBody>
      </p:sp>
      <p:sp>
        <p:nvSpPr>
          <p:cNvPr id="13" name="TextBox 12"/>
          <p:cNvSpPr txBox="1"/>
          <p:nvPr/>
        </p:nvSpPr>
        <p:spPr>
          <a:xfrm>
            <a:off x="1504950" y="8953500"/>
            <a:ext cx="4991100" cy="342900"/>
          </a:xfrm>
          <a:prstGeom prst="rect">
            <a:avLst/>
          </a:prstGeom>
          <a:noFill/>
        </p:spPr>
        <p:txBody>
          <a:bodyPr wrap="square" lIns="0" rIns="0" tIns="0" bIns="0" anchor="ctr">
            <a:spAutoFit/>
          </a:bodyPr>
          <a:lstStyle/>
          <a:p>
            <a:pPr algn="l">
              <a:lnSpc>
                <a:spcPct val="120000"/>
              </a:lnSpc>
            </a:pPr>
            <a:r>
              <a:rPr sz="2100" b="1" i="0">
                <a:solidFill>
                  <a:srgbClr val="1A2B4C"/>
                </a:solidFill>
                <a:latin typeface="Times New Roman"/>
              </a:rPr>
              <a:t>Physical Geography of South Asia</a:t>
            </a:r>
          </a:p>
        </p:txBody>
      </p:sp>
      <p:sp>
        <p:nvSpPr>
          <p:cNvPr id="14" name="TextBox 13"/>
          <p:cNvSpPr txBox="1"/>
          <p:nvPr/>
        </p:nvSpPr>
        <p:spPr>
          <a:xfrm>
            <a:off x="1504950" y="9296400"/>
            <a:ext cx="4991100" cy="200025"/>
          </a:xfrm>
          <a:prstGeom prst="rect">
            <a:avLst/>
          </a:prstGeom>
          <a:noFill/>
        </p:spPr>
        <p:txBody>
          <a:bodyPr wrap="square" lIns="0" rIns="0" tIns="0" bIns="0" anchor="ctr">
            <a:spAutoFit/>
          </a:bodyPr>
          <a:lstStyle/>
          <a:p>
            <a:pPr algn="l">
              <a:lnSpc>
                <a:spcPct val="120000"/>
              </a:lnSpc>
            </a:pPr>
            <a:r>
              <a:rPr sz="1120" b="0" i="1">
                <a:solidFill>
                  <a:srgbClr val="4A5573"/>
                </a:solidFill>
                <a:latin typeface="Times New Roman"/>
              </a:rPr>
              <a:t>Undergraduate · 200-level · Lecture 11 of 28</a:t>
            </a:r>
          </a:p>
        </p:txBody>
      </p:sp>
      <p:sp>
        <p:nvSpPr>
          <p:cNvPr id="15" name="TextBox 14"/>
          <p:cNvSpPr txBox="1"/>
          <p:nvPr/>
        </p:nvSpPr>
        <p:spPr>
          <a:xfrm>
            <a:off x="7219950" y="8743950"/>
            <a:ext cx="4991100" cy="190500"/>
          </a:xfrm>
          <a:prstGeom prst="rect">
            <a:avLst/>
          </a:prstGeom>
          <a:noFill/>
        </p:spPr>
        <p:txBody>
          <a:bodyPr wrap="square" lIns="0" rIns="0" tIns="0" bIns="0" anchor="ctr">
            <a:spAutoFit/>
          </a:bodyPr>
          <a:lstStyle/>
          <a:p>
            <a:pPr algn="l">
              <a:lnSpc>
                <a:spcPct val="120000"/>
              </a:lnSpc>
            </a:pPr>
            <a:r>
              <a:rPr sz="980" b="0" i="0" spc="176">
                <a:solidFill>
                  <a:srgbClr val="5B6E94"/>
                </a:solidFill>
                <a:latin typeface="Times New Roman"/>
              </a:rPr>
              <a:t>READING SCOPE</a:t>
            </a:r>
          </a:p>
        </p:txBody>
      </p:sp>
      <p:sp>
        <p:nvSpPr>
          <p:cNvPr id="16" name="TextBox 15"/>
          <p:cNvSpPr txBox="1"/>
          <p:nvPr/>
        </p:nvSpPr>
        <p:spPr>
          <a:xfrm>
            <a:off x="7219950" y="8953500"/>
            <a:ext cx="4991100" cy="342900"/>
          </a:xfrm>
          <a:prstGeom prst="rect">
            <a:avLst/>
          </a:prstGeom>
          <a:noFill/>
        </p:spPr>
        <p:txBody>
          <a:bodyPr wrap="square" lIns="0" rIns="0" tIns="0" bIns="0" anchor="ctr">
            <a:spAutoFit/>
          </a:bodyPr>
          <a:lstStyle/>
          <a:p>
            <a:pPr algn="l">
              <a:lnSpc>
                <a:spcPct val="120000"/>
              </a:lnSpc>
            </a:pPr>
            <a:r>
              <a:rPr sz="2100" b="1" i="0">
                <a:solidFill>
                  <a:srgbClr val="1A2B4C"/>
                </a:solidFill>
                <a:latin typeface="Times New Roman"/>
              </a:rPr>
              <a:t>5 Themes · 1 Country</a:t>
            </a:r>
          </a:p>
        </p:txBody>
      </p:sp>
      <p:sp>
        <p:nvSpPr>
          <p:cNvPr id="17" name="TextBox 16"/>
          <p:cNvSpPr txBox="1"/>
          <p:nvPr/>
        </p:nvSpPr>
        <p:spPr>
          <a:xfrm>
            <a:off x="7219950" y="9296400"/>
            <a:ext cx="4991100" cy="200025"/>
          </a:xfrm>
          <a:prstGeom prst="rect">
            <a:avLst/>
          </a:prstGeom>
          <a:noFill/>
        </p:spPr>
        <p:txBody>
          <a:bodyPr wrap="square" lIns="0" rIns="0" tIns="0" bIns="0" anchor="ctr">
            <a:spAutoFit/>
          </a:bodyPr>
          <a:lstStyle/>
          <a:p>
            <a:pPr algn="l">
              <a:lnSpc>
                <a:spcPct val="120000"/>
              </a:lnSpc>
            </a:pPr>
            <a:r>
              <a:rPr sz="1120" b="0" i="1">
                <a:solidFill>
                  <a:srgbClr val="4A5573"/>
                </a:solidFill>
                <a:latin typeface="Times New Roman"/>
              </a:rPr>
              <a:t>Mountains · Seasons · Rainfall · Irrigation · Crops</a:t>
            </a:r>
          </a:p>
        </p:txBody>
      </p:sp>
      <p:sp>
        <p:nvSpPr>
          <p:cNvPr id="18" name="TextBox 17"/>
          <p:cNvSpPr txBox="1"/>
          <p:nvPr/>
        </p:nvSpPr>
        <p:spPr>
          <a:xfrm>
            <a:off x="13125450" y="8743950"/>
            <a:ext cx="4038600" cy="190500"/>
          </a:xfrm>
          <a:prstGeom prst="rect">
            <a:avLst/>
          </a:prstGeom>
          <a:noFill/>
        </p:spPr>
        <p:txBody>
          <a:bodyPr wrap="square" lIns="0" rIns="0" tIns="0" bIns="0" anchor="ctr">
            <a:spAutoFit/>
          </a:bodyPr>
          <a:lstStyle/>
          <a:p>
            <a:pPr algn="l">
              <a:lnSpc>
                <a:spcPct val="120000"/>
              </a:lnSpc>
            </a:pPr>
            <a:r>
              <a:rPr sz="980" b="0" i="0" spc="176">
                <a:solidFill>
                  <a:srgbClr val="5B6E94"/>
                </a:solidFill>
                <a:latin typeface="Times New Roman"/>
              </a:rPr>
              <a:t>COMPANION READING</a:t>
            </a:r>
          </a:p>
        </p:txBody>
      </p:sp>
      <p:sp>
        <p:nvSpPr>
          <p:cNvPr id="19" name="TextBox 18"/>
          <p:cNvSpPr txBox="1"/>
          <p:nvPr/>
        </p:nvSpPr>
        <p:spPr>
          <a:xfrm>
            <a:off x="13125450" y="8972550"/>
            <a:ext cx="4038600" cy="479821"/>
          </a:xfrm>
          <a:prstGeom prst="rect">
            <a:avLst/>
          </a:prstGeom>
          <a:noFill/>
        </p:spPr>
        <p:txBody>
          <a:bodyPr wrap="square" lIns="0" rIns="0" tIns="0" bIns="0" anchor="t">
            <a:spAutoFit/>
          </a:bodyPr>
          <a:lstStyle/>
          <a:p>
            <a:pPr algn="l">
              <a:lnSpc>
                <a:spcPct val="145000"/>
              </a:lnSpc>
            </a:pPr>
            <a:r>
              <a:rPr sz="1200" b="0" i="0">
                <a:solidFill>
                  <a:srgbClr val="1A2B4C"/>
                </a:solidFill>
                <a:latin typeface="Times New Roman"/>
              </a:rPr>
              <a:t>Khan, F.K. (1991) </a:t>
            </a:r>
            <a:r>
              <a:rPr sz="1200" b="0" i="1">
                <a:solidFill>
                  <a:srgbClr val="1A2B4C"/>
                </a:solidFill>
                <a:latin typeface="Times New Roman"/>
              </a:rPr>
              <a:t>A Geography of Pakistan</a:t>
            </a:r>
            <a:r>
              <a:rPr sz="1200" b="0" i="0">
                <a:solidFill>
                  <a:srgbClr val="1A2B4C"/>
                </a:solidFill>
                <a:latin typeface="Times New Roman"/>
              </a:rPr>
              <a:t>; updated with PMD and WAPDA data.</a:t>
            </a:r>
          </a:p>
        </p:txBody>
      </p:sp>
      <p:sp>
        <p:nvSpPr>
          <p:cNvPr id="20" name="TextBox 19"/>
          <p:cNvSpPr txBox="1"/>
          <p:nvPr/>
        </p:nvSpPr>
        <p:spPr>
          <a:xfrm>
            <a:off x="16554450" y="10039350"/>
            <a:ext cx="609600" cy="228600"/>
          </a:xfrm>
          <a:prstGeom prst="rect">
            <a:avLst/>
          </a:prstGeom>
          <a:noFill/>
        </p:spPr>
        <p:txBody>
          <a:bodyPr wrap="square" lIns="0" rIns="0" tIns="0" bIns="0" anchor="ctr">
            <a:spAutoFit/>
          </a:bodyPr>
          <a:lstStyle/>
          <a:p>
            <a:pPr algn="r">
              <a:lnSpc>
                <a:spcPct val="120000"/>
              </a:lnSpc>
            </a:pPr>
            <a:r>
              <a:rPr sz="980" b="0" i="1">
                <a:solidFill>
                  <a:srgbClr val="5B6E94"/>
                </a:solidFill>
                <a:latin typeface="Times New Roman"/>
              </a:rPr>
              <a:t>01 / 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00" cy="685800"/>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791950" y="2152650"/>
            <a:ext cx="5372100" cy="55245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Image: Pakistan outline map</a:t>
            </a:r>
          </a:p>
          <a:p>
            <a:pPr algn="l">
              <a:lnSpc>
                <a:spcPct val="120000"/>
              </a:lnSpc>
            </a:pPr>
            <a:r>
              <a:rPr sz="1200" b="0" i="0">
                <a:solidFill>
                  <a:srgbClr val="000000"/>
                </a:solidFill>
                <a:latin typeface="Times New Roman"/>
              </a:rPr>
              <a:t>with five thematic</a:t>
            </a:r>
          </a:p>
          <a:p>
            <a:pPr algn="l">
              <a:lnSpc>
                <a:spcPct val="120000"/>
              </a:lnSpc>
            </a:pPr>
            <a:r>
              <a:rPr sz="1200" b="0" i="0">
                <a:solidFill>
                  <a:srgbClr val="000000"/>
                </a:solidFill>
                <a:latin typeface="Times New Roman"/>
              </a:rPr>
              <a:t>regions highlighted</a:t>
            </a:r>
          </a:p>
        </p:txBody>
      </p:sp>
      <p:sp>
        <p:nvSpPr>
          <p:cNvPr id="5" name="TextBox 4"/>
          <p:cNvSpPr txBox="1"/>
          <p:nvPr/>
        </p:nvSpPr>
        <p:spPr>
          <a:xfrm>
            <a:off x="1123950" y="190500"/>
            <a:ext cx="11468100" cy="209550"/>
          </a:xfrm>
          <a:prstGeom prst="rect">
            <a:avLst/>
          </a:prstGeom>
          <a:noFill/>
        </p:spPr>
        <p:txBody>
          <a:bodyPr wrap="square" lIns="0" rIns="0" tIns="0" bIns="0" anchor="ctr">
            <a:spAutoFit/>
          </a:bodyPr>
          <a:lstStyle/>
          <a:p>
            <a:pPr algn="l">
              <a:lnSpc>
                <a:spcPct val="120000"/>
              </a:lnSpc>
            </a:pPr>
            <a:r>
              <a:rPr sz="1200" b="0" i="0">
                <a:solidFill>
                  <a:srgbClr val="FFFFFF"/>
                </a:solidFill>
                <a:latin typeface="Times New Roman"/>
              </a:rPr>
              <a:t>02 · Scope · the five themes of this lecture</a:t>
            </a:r>
          </a:p>
        </p:txBody>
      </p:sp>
      <p:sp>
        <p:nvSpPr>
          <p:cNvPr id="6" name="TextBox 5"/>
          <p:cNvSpPr txBox="1"/>
          <p:nvPr/>
        </p:nvSpPr>
        <p:spPr>
          <a:xfrm>
            <a:off x="16173450" y="190500"/>
            <a:ext cx="1181100" cy="323850"/>
          </a:xfrm>
          <a:prstGeom prst="rect">
            <a:avLst/>
          </a:prstGeom>
          <a:noFill/>
        </p:spPr>
        <p:txBody>
          <a:bodyPr wrap="square" lIns="0" rIns="0" tIns="0" bIns="0" anchor="ctr">
            <a:spAutoFit/>
          </a:bodyPr>
          <a:lstStyle/>
          <a:p>
            <a:pPr algn="r">
              <a:lnSpc>
                <a:spcPct val="120000"/>
              </a:lnSpc>
            </a:pPr>
            <a:r>
              <a:rPr sz="1050" b="0" i="1">
                <a:solidFill>
                  <a:srgbClr val="C81D25"/>
                </a:solidFill>
                <a:latin typeface="Times New Roman"/>
              </a:rPr>
              <a:t>02 / 22</a:t>
            </a:r>
          </a:p>
        </p:txBody>
      </p:sp>
      <p:sp>
        <p:nvSpPr>
          <p:cNvPr id="7" name="TextBox 6"/>
          <p:cNvSpPr txBox="1"/>
          <p:nvPr/>
        </p:nvSpPr>
        <p:spPr>
          <a:xfrm>
            <a:off x="1123950" y="1199257"/>
            <a:ext cx="16040100" cy="295275"/>
          </a:xfrm>
          <a:prstGeom prst="rect">
            <a:avLst/>
          </a:prstGeom>
          <a:noFill/>
        </p:spPr>
        <p:txBody>
          <a:bodyPr wrap="square" lIns="0" rIns="0" tIns="0" bIns="0" anchor="ctr">
            <a:spAutoFit/>
          </a:bodyPr>
          <a:lstStyle/>
          <a:p>
            <a:pPr algn="l">
              <a:lnSpc>
                <a:spcPct val="120000"/>
              </a:lnSpc>
            </a:pPr>
            <a:r>
              <a:rPr sz="1800" b="1" i="0">
                <a:solidFill>
                  <a:srgbClr val="000000"/>
                </a:solidFill>
                <a:latin typeface="Times New Roman"/>
              </a:rPr>
              <a:t>What this lecture covers — and what it leaves out.</a:t>
            </a:r>
          </a:p>
        </p:txBody>
      </p:sp>
      <p:sp>
        <p:nvSpPr>
          <p:cNvPr id="8" name="TextBox 7"/>
          <p:cNvSpPr txBox="1"/>
          <p:nvPr/>
        </p:nvSpPr>
        <p:spPr>
          <a:xfrm>
            <a:off x="1123950" y="2152650"/>
            <a:ext cx="10325100" cy="38100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 This module is a </a:t>
            </a:r>
            <a:r>
              <a:rPr sz="1200" b="0" i="1">
                <a:solidFill>
                  <a:srgbClr val="000000"/>
                </a:solidFill>
                <a:latin typeface="Times New Roman"/>
              </a:rPr>
              <a:t>survey</a:t>
            </a:r>
            <a:r>
              <a:rPr sz="1200" b="0" i="0">
                <a:solidFill>
                  <a:srgbClr val="000000"/>
                </a:solidFill>
                <a:latin typeface="Times New Roman"/>
              </a:rPr>
              <a:t>, not a monograph. We trace </a:t>
            </a:r>
            <a:r>
              <a:rPr sz="1200" b="1" i="0">
                <a:solidFill>
                  <a:srgbClr val="000000"/>
                </a:solidFill>
                <a:latin typeface="Times New Roman"/>
              </a:rPr>
              <a:t>five interlocking themes</a:t>
            </a:r>
            <a:r>
              <a:rPr sz="1200" b="0" i="0">
                <a:solidFill>
                  <a:srgbClr val="000000"/>
                </a:solidFill>
                <a:latin typeface="Times New Roman"/>
              </a:rPr>
              <a:t> that together explain why Pakistan looks the way it does on a map — why its farms sit where they sit, why its rivers run where they run, and why its climate is one of the most extreme on Earth. </a:t>
            </a:r>
          </a:p>
        </p:txBody>
      </p:sp>
      <p:sp>
        <p:nvSpPr>
          <p:cNvPr id="9" name="Rectangle 8"/>
          <p:cNvSpPr/>
          <p:nvPr/>
        </p:nvSpPr>
        <p:spPr>
          <a:xfrm>
            <a:off x="1143000" y="3619500"/>
            <a:ext cx="5029200" cy="1381125"/>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43000" y="3619500"/>
            <a:ext cx="57150" cy="1381125"/>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447800" y="3829050"/>
            <a:ext cx="4476750" cy="190500"/>
          </a:xfrm>
          <a:prstGeom prst="rect">
            <a:avLst/>
          </a:prstGeom>
          <a:noFill/>
        </p:spPr>
        <p:txBody>
          <a:bodyPr wrap="square" lIns="0" rIns="0" tIns="0" bIns="0" anchor="ctr">
            <a:spAutoFit/>
          </a:bodyPr>
          <a:lstStyle/>
          <a:p>
            <a:pPr algn="l">
              <a:lnSpc>
                <a:spcPct val="120000"/>
              </a:lnSpc>
            </a:pPr>
            <a:r>
              <a:rPr sz="980" b="0" i="0" spc="156">
                <a:solidFill>
                  <a:srgbClr val="1A2B4C"/>
                </a:solidFill>
                <a:latin typeface="Times New Roman"/>
              </a:rPr>
              <a:t>THEME 01 · PHYSIOGRAPHY</a:t>
            </a:r>
          </a:p>
        </p:txBody>
      </p:sp>
      <p:sp>
        <p:nvSpPr>
          <p:cNvPr id="12" name="TextBox 11"/>
          <p:cNvSpPr txBox="1"/>
          <p:nvPr/>
        </p:nvSpPr>
        <p:spPr>
          <a:xfrm>
            <a:off x="1447800" y="4057650"/>
            <a:ext cx="4476750" cy="295275"/>
          </a:xfrm>
          <a:prstGeom prst="rect">
            <a:avLst/>
          </a:prstGeom>
          <a:noFill/>
        </p:spPr>
        <p:txBody>
          <a:bodyPr wrap="square" lIns="0" rIns="0" tIns="0" bIns="0" anchor="ctr">
            <a:spAutoFit/>
          </a:bodyPr>
          <a:lstStyle/>
          <a:p>
            <a:pPr algn="l">
              <a:lnSpc>
                <a:spcPct val="120000"/>
              </a:lnSpc>
            </a:pPr>
            <a:r>
              <a:rPr sz="1800" b="1" i="0">
                <a:solidFill>
                  <a:srgbClr val="1A2B4C"/>
                </a:solidFill>
                <a:latin typeface="Times New Roman"/>
              </a:rPr>
              <a:t>Mountain Ranges</a:t>
            </a:r>
          </a:p>
        </p:txBody>
      </p:sp>
      <p:sp>
        <p:nvSpPr>
          <p:cNvPr id="13" name="TextBox 12"/>
          <p:cNvSpPr txBox="1"/>
          <p:nvPr/>
        </p:nvSpPr>
        <p:spPr>
          <a:xfrm>
            <a:off x="1447800" y="4410075"/>
            <a:ext cx="4476750" cy="38100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Himalayas, Karakoram, Hindu Kush, Hindu Raj, Sulaiman, Kirthar — the uplifts that frame the Indus plain.</a:t>
            </a:r>
          </a:p>
        </p:txBody>
      </p:sp>
      <p:sp>
        <p:nvSpPr>
          <p:cNvPr id="14" name="Rectangle 13"/>
          <p:cNvSpPr/>
          <p:nvPr/>
        </p:nvSpPr>
        <p:spPr>
          <a:xfrm>
            <a:off x="6400800" y="3619500"/>
            <a:ext cx="5029200" cy="1381125"/>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400800" y="3619500"/>
            <a:ext cx="57150" cy="1381125"/>
          </a:xfrm>
          <a:prstGeom prst="rect">
            <a:avLst/>
          </a:prstGeom>
          <a:solidFill>
            <a:srgbClr val="2E5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705600" y="3829050"/>
            <a:ext cx="4476750" cy="190500"/>
          </a:xfrm>
          <a:prstGeom prst="rect">
            <a:avLst/>
          </a:prstGeom>
          <a:noFill/>
        </p:spPr>
        <p:txBody>
          <a:bodyPr wrap="square" lIns="0" rIns="0" tIns="0" bIns="0" anchor="ctr">
            <a:spAutoFit/>
          </a:bodyPr>
          <a:lstStyle/>
          <a:p>
            <a:pPr algn="l">
              <a:lnSpc>
                <a:spcPct val="120000"/>
              </a:lnSpc>
            </a:pPr>
            <a:r>
              <a:rPr sz="980" b="0" i="0" spc="156">
                <a:solidFill>
                  <a:srgbClr val="2E5D3A"/>
                </a:solidFill>
                <a:latin typeface="Times New Roman"/>
              </a:rPr>
              <a:t>THEME 02 · CLIMATE</a:t>
            </a:r>
          </a:p>
        </p:txBody>
      </p:sp>
      <p:sp>
        <p:nvSpPr>
          <p:cNvPr id="17" name="TextBox 16"/>
          <p:cNvSpPr txBox="1"/>
          <p:nvPr/>
        </p:nvSpPr>
        <p:spPr>
          <a:xfrm>
            <a:off x="6705600" y="4057650"/>
            <a:ext cx="4476750" cy="295275"/>
          </a:xfrm>
          <a:prstGeom prst="rect">
            <a:avLst/>
          </a:prstGeom>
          <a:noFill/>
        </p:spPr>
        <p:txBody>
          <a:bodyPr wrap="square" lIns="0" rIns="0" tIns="0" bIns="0" anchor="ctr">
            <a:spAutoFit/>
          </a:bodyPr>
          <a:lstStyle/>
          <a:p>
            <a:pPr algn="l">
              <a:lnSpc>
                <a:spcPct val="120000"/>
              </a:lnSpc>
            </a:pPr>
            <a:r>
              <a:rPr sz="1800" b="1" i="0">
                <a:solidFill>
                  <a:srgbClr val="2E5D3A"/>
                </a:solidFill>
                <a:latin typeface="Times New Roman"/>
              </a:rPr>
              <a:t>Seasonal Patterns</a:t>
            </a:r>
          </a:p>
        </p:txBody>
      </p:sp>
      <p:sp>
        <p:nvSpPr>
          <p:cNvPr id="18" name="TextBox 17"/>
          <p:cNvSpPr txBox="1"/>
          <p:nvPr/>
        </p:nvSpPr>
        <p:spPr>
          <a:xfrm>
            <a:off x="6705600" y="4410075"/>
            <a:ext cx="4476750" cy="38100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A tropical continental rhythm: cold dry winter, scorching pre-monsoon, monsoon rains, retreating monsoon.</a:t>
            </a:r>
          </a:p>
        </p:txBody>
      </p:sp>
      <p:sp>
        <p:nvSpPr>
          <p:cNvPr id="19" name="Rectangle 18"/>
          <p:cNvSpPr/>
          <p:nvPr/>
        </p:nvSpPr>
        <p:spPr>
          <a:xfrm>
            <a:off x="1143000" y="5229225"/>
            <a:ext cx="5029200" cy="1381125"/>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143000" y="5229225"/>
            <a:ext cx="57150" cy="1381125"/>
          </a:xfrm>
          <a:prstGeom prst="rect">
            <a:avLst/>
          </a:prstGeom>
          <a:solidFill>
            <a:srgbClr val="1F5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447800" y="5438775"/>
            <a:ext cx="4476750" cy="190500"/>
          </a:xfrm>
          <a:prstGeom prst="rect">
            <a:avLst/>
          </a:prstGeom>
          <a:noFill/>
        </p:spPr>
        <p:txBody>
          <a:bodyPr wrap="square" lIns="0" rIns="0" tIns="0" bIns="0" anchor="ctr">
            <a:spAutoFit/>
          </a:bodyPr>
          <a:lstStyle/>
          <a:p>
            <a:pPr algn="l">
              <a:lnSpc>
                <a:spcPct val="120000"/>
              </a:lnSpc>
            </a:pPr>
            <a:r>
              <a:rPr sz="980" b="0" i="0" spc="156">
                <a:solidFill>
                  <a:srgbClr val="1F5A7E"/>
                </a:solidFill>
                <a:latin typeface="Times New Roman"/>
              </a:rPr>
              <a:t>THEME 03 · HYDROLOGY</a:t>
            </a:r>
          </a:p>
        </p:txBody>
      </p:sp>
      <p:sp>
        <p:nvSpPr>
          <p:cNvPr id="22" name="TextBox 21"/>
          <p:cNvSpPr txBox="1"/>
          <p:nvPr/>
        </p:nvSpPr>
        <p:spPr>
          <a:xfrm>
            <a:off x="1447800" y="5667375"/>
            <a:ext cx="4476750" cy="295275"/>
          </a:xfrm>
          <a:prstGeom prst="rect">
            <a:avLst/>
          </a:prstGeom>
          <a:noFill/>
        </p:spPr>
        <p:txBody>
          <a:bodyPr wrap="square" lIns="0" rIns="0" tIns="0" bIns="0" anchor="ctr">
            <a:spAutoFit/>
          </a:bodyPr>
          <a:lstStyle/>
          <a:p>
            <a:pPr algn="l">
              <a:lnSpc>
                <a:spcPct val="120000"/>
              </a:lnSpc>
            </a:pPr>
            <a:r>
              <a:rPr sz="1800" b="1" i="0">
                <a:solidFill>
                  <a:srgbClr val="1F5A7E"/>
                </a:solidFill>
                <a:latin typeface="Times New Roman"/>
              </a:rPr>
              <a:t>Rainfall System</a:t>
            </a:r>
          </a:p>
        </p:txBody>
      </p:sp>
      <p:sp>
        <p:nvSpPr>
          <p:cNvPr id="23" name="TextBox 22"/>
          <p:cNvSpPr txBox="1"/>
          <p:nvPr/>
        </p:nvSpPr>
        <p:spPr>
          <a:xfrm>
            <a:off x="1447800" y="6019800"/>
            <a:ext cx="4476750" cy="38100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Monsoon depressions, westerly disturbances, convective storms — and their stark spatial gradient.</a:t>
            </a:r>
          </a:p>
        </p:txBody>
      </p:sp>
      <p:sp>
        <p:nvSpPr>
          <p:cNvPr id="24" name="Rectangle 23"/>
          <p:cNvSpPr/>
          <p:nvPr/>
        </p:nvSpPr>
        <p:spPr>
          <a:xfrm>
            <a:off x="6400800" y="5229225"/>
            <a:ext cx="5029200" cy="1381125"/>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400800" y="5229225"/>
            <a:ext cx="57150" cy="1381125"/>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05600" y="5438775"/>
            <a:ext cx="4476750" cy="190500"/>
          </a:xfrm>
          <a:prstGeom prst="rect">
            <a:avLst/>
          </a:prstGeom>
          <a:noFill/>
        </p:spPr>
        <p:txBody>
          <a:bodyPr wrap="square" lIns="0" rIns="0" tIns="0" bIns="0" anchor="ctr">
            <a:spAutoFit/>
          </a:bodyPr>
          <a:lstStyle/>
          <a:p>
            <a:pPr algn="l">
              <a:lnSpc>
                <a:spcPct val="120000"/>
              </a:lnSpc>
            </a:pPr>
            <a:r>
              <a:rPr sz="980" b="0" i="0" spc="156">
                <a:solidFill>
                  <a:srgbClr val="C81D25"/>
                </a:solidFill>
                <a:latin typeface="Times New Roman"/>
              </a:rPr>
              <a:t>THEME 04 · ENGINEERING</a:t>
            </a:r>
          </a:p>
        </p:txBody>
      </p:sp>
      <p:sp>
        <p:nvSpPr>
          <p:cNvPr id="27" name="TextBox 26"/>
          <p:cNvSpPr txBox="1"/>
          <p:nvPr/>
        </p:nvSpPr>
        <p:spPr>
          <a:xfrm>
            <a:off x="6705600" y="5667375"/>
            <a:ext cx="4476750" cy="295275"/>
          </a:xfrm>
          <a:prstGeom prst="rect">
            <a:avLst/>
          </a:prstGeom>
          <a:noFill/>
        </p:spPr>
        <p:txBody>
          <a:bodyPr wrap="square" lIns="0" rIns="0" tIns="0" bIns="0" anchor="ctr">
            <a:spAutoFit/>
          </a:bodyPr>
          <a:lstStyle/>
          <a:p>
            <a:pPr algn="l">
              <a:lnSpc>
                <a:spcPct val="120000"/>
              </a:lnSpc>
            </a:pPr>
            <a:r>
              <a:rPr sz="1800" b="1" i="0">
                <a:solidFill>
                  <a:srgbClr val="C81D25"/>
                </a:solidFill>
                <a:latin typeface="Times New Roman"/>
              </a:rPr>
              <a:t>Irrigation System</a:t>
            </a:r>
          </a:p>
        </p:txBody>
      </p:sp>
      <p:sp>
        <p:nvSpPr>
          <p:cNvPr id="28" name="TextBox 27"/>
          <p:cNvSpPr txBox="1"/>
          <p:nvPr/>
        </p:nvSpPr>
        <p:spPr>
          <a:xfrm>
            <a:off x="6705600" y="6019800"/>
            <a:ext cx="4476750" cy="38100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The Indus Basin Irrigation System — the largest contiguous irrigation network on Earth.</a:t>
            </a:r>
          </a:p>
        </p:txBody>
      </p:sp>
      <p:sp>
        <p:nvSpPr>
          <p:cNvPr id="29" name="Rectangle 28"/>
          <p:cNvSpPr/>
          <p:nvPr/>
        </p:nvSpPr>
        <p:spPr>
          <a:xfrm>
            <a:off x="1143000" y="6838950"/>
            <a:ext cx="5029200" cy="1400175"/>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43000" y="6838950"/>
            <a:ext cx="57150" cy="1400175"/>
          </a:xfrm>
          <a:prstGeom prst="rect">
            <a:avLst/>
          </a:prstGeom>
          <a:solidFill>
            <a:srgbClr val="B88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447800" y="7048500"/>
            <a:ext cx="4476750" cy="190500"/>
          </a:xfrm>
          <a:prstGeom prst="rect">
            <a:avLst/>
          </a:prstGeom>
          <a:noFill/>
        </p:spPr>
        <p:txBody>
          <a:bodyPr wrap="square" lIns="0" rIns="0" tIns="0" bIns="0" anchor="ctr">
            <a:spAutoFit/>
          </a:bodyPr>
          <a:lstStyle/>
          <a:p>
            <a:pPr algn="l">
              <a:lnSpc>
                <a:spcPct val="120000"/>
              </a:lnSpc>
            </a:pPr>
            <a:r>
              <a:rPr sz="980" b="0" i="0" spc="156">
                <a:solidFill>
                  <a:srgbClr val="B8862B"/>
                </a:solidFill>
                <a:latin typeface="Times New Roman"/>
              </a:rPr>
              <a:t>THEME 05 · AGRICULTURE</a:t>
            </a:r>
          </a:p>
        </p:txBody>
      </p:sp>
      <p:sp>
        <p:nvSpPr>
          <p:cNvPr id="32" name="TextBox 31"/>
          <p:cNvSpPr txBox="1"/>
          <p:nvPr/>
        </p:nvSpPr>
        <p:spPr>
          <a:xfrm>
            <a:off x="1447800" y="7277100"/>
            <a:ext cx="4476750" cy="295275"/>
          </a:xfrm>
          <a:prstGeom prst="rect">
            <a:avLst/>
          </a:prstGeom>
          <a:noFill/>
        </p:spPr>
        <p:txBody>
          <a:bodyPr wrap="square" lIns="0" rIns="0" tIns="0" bIns="0" anchor="ctr">
            <a:spAutoFit/>
          </a:bodyPr>
          <a:lstStyle/>
          <a:p>
            <a:pPr algn="l">
              <a:lnSpc>
                <a:spcPct val="120000"/>
              </a:lnSpc>
            </a:pPr>
            <a:r>
              <a:rPr sz="1800" b="1" i="0">
                <a:solidFill>
                  <a:srgbClr val="B8862B"/>
                </a:solidFill>
                <a:latin typeface="Times New Roman"/>
              </a:rPr>
              <a:t>Major Crops</a:t>
            </a:r>
          </a:p>
        </p:txBody>
      </p:sp>
      <p:sp>
        <p:nvSpPr>
          <p:cNvPr id="33" name="TextBox 32"/>
          <p:cNvSpPr txBox="1"/>
          <p:nvPr/>
        </p:nvSpPr>
        <p:spPr>
          <a:xfrm>
            <a:off x="1447800" y="7629525"/>
            <a:ext cx="4476750" cy="38100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Cotton, wheat, rice, sugarcane, maize — and the agro-ecological zones that determine which grows where.</a:t>
            </a:r>
          </a:p>
        </p:txBody>
      </p:sp>
      <p:sp>
        <p:nvSpPr>
          <p:cNvPr id="34" name="Rectangle 33"/>
          <p:cNvSpPr/>
          <p:nvPr/>
        </p:nvSpPr>
        <p:spPr>
          <a:xfrm>
            <a:off x="6400800" y="6838950"/>
            <a:ext cx="5029200" cy="14001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400800" y="6838950"/>
            <a:ext cx="5029200" cy="9525"/>
          </a:xfrm>
          <a:prstGeom prst="rect">
            <a:avLst/>
          </a:prstGeom>
          <a:solidFill>
            <a:srgbClr val="5B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1420475" y="6838950"/>
            <a:ext cx="9525" cy="1400175"/>
          </a:xfrm>
          <a:prstGeom prst="rect">
            <a:avLst/>
          </a:prstGeom>
          <a:solidFill>
            <a:srgbClr val="5B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6400800" y="8229600"/>
            <a:ext cx="5029200" cy="9525"/>
          </a:xfrm>
          <a:prstGeom prst="rect">
            <a:avLst/>
          </a:prstGeom>
          <a:solidFill>
            <a:srgbClr val="5B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6400800" y="6838950"/>
            <a:ext cx="9525" cy="1400175"/>
          </a:xfrm>
          <a:prstGeom prst="rect">
            <a:avLst/>
          </a:prstGeom>
          <a:solidFill>
            <a:srgbClr val="5B6E9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6657975" y="7058025"/>
            <a:ext cx="4514850" cy="190500"/>
          </a:xfrm>
          <a:prstGeom prst="rect">
            <a:avLst/>
          </a:prstGeom>
          <a:noFill/>
        </p:spPr>
        <p:txBody>
          <a:bodyPr wrap="square" lIns="0" rIns="0" tIns="0" bIns="0" anchor="ctr">
            <a:spAutoFit/>
          </a:bodyPr>
          <a:lstStyle/>
          <a:p>
            <a:pPr algn="l">
              <a:lnSpc>
                <a:spcPct val="120000"/>
              </a:lnSpc>
            </a:pPr>
            <a:r>
              <a:rPr sz="980" b="0" i="0" spc="156">
                <a:solidFill>
                  <a:srgbClr val="5B6E94"/>
                </a:solidFill>
                <a:latin typeface="Times New Roman"/>
              </a:rPr>
              <a:t>DELIBERATELY OUT OF SCOPE</a:t>
            </a:r>
          </a:p>
        </p:txBody>
      </p:sp>
      <p:sp>
        <p:nvSpPr>
          <p:cNvPr id="40" name="TextBox 39"/>
          <p:cNvSpPr txBox="1"/>
          <p:nvPr/>
        </p:nvSpPr>
        <p:spPr>
          <a:xfrm>
            <a:off x="6657975" y="7286625"/>
            <a:ext cx="4514850" cy="295275"/>
          </a:xfrm>
          <a:prstGeom prst="rect">
            <a:avLst/>
          </a:prstGeom>
          <a:noFill/>
        </p:spPr>
        <p:txBody>
          <a:bodyPr wrap="square" lIns="0" rIns="0" tIns="0" bIns="0" anchor="ctr">
            <a:spAutoFit/>
          </a:bodyPr>
          <a:lstStyle/>
          <a:p>
            <a:pPr algn="l">
              <a:lnSpc>
                <a:spcPct val="120000"/>
              </a:lnSpc>
            </a:pPr>
            <a:r>
              <a:rPr sz="1800" b="1" i="1">
                <a:solidFill>
                  <a:srgbClr val="5B6E94"/>
                </a:solidFill>
                <a:latin typeface="Times New Roman"/>
              </a:rPr>
              <a:t>Demography · Politics · Geology</a:t>
            </a:r>
          </a:p>
        </p:txBody>
      </p:sp>
      <p:sp>
        <p:nvSpPr>
          <p:cNvPr id="41" name="TextBox 40"/>
          <p:cNvSpPr txBox="1"/>
          <p:nvPr/>
        </p:nvSpPr>
        <p:spPr>
          <a:xfrm>
            <a:off x="6657975" y="7639050"/>
            <a:ext cx="4514850" cy="381000"/>
          </a:xfrm>
          <a:prstGeom prst="rect">
            <a:avLst/>
          </a:prstGeom>
          <a:noFill/>
        </p:spPr>
        <p:txBody>
          <a:bodyPr wrap="square" lIns="0" rIns="0" tIns="0" bIns="0" anchor="t">
            <a:spAutoFit/>
          </a:bodyPr>
          <a:lstStyle/>
          <a:p>
            <a:pPr algn="l">
              <a:lnSpc>
                <a:spcPct val="120000"/>
              </a:lnSpc>
            </a:pPr>
            <a:r>
              <a:rPr sz="1200" b="0" i="0">
                <a:solidFill>
                  <a:srgbClr val="5B6E94"/>
                </a:solidFill>
                <a:latin typeface="Times New Roman"/>
              </a:rPr>
              <a:t>Population and economic geography appear only where they shape the five themes above.</a:t>
            </a:r>
          </a:p>
        </p:txBody>
      </p:sp>
      <p:sp>
        <p:nvSpPr>
          <p:cNvPr id="42" name="TextBox 41"/>
          <p:cNvSpPr txBox="1"/>
          <p:nvPr/>
        </p:nvSpPr>
        <p:spPr>
          <a:xfrm>
            <a:off x="11791950" y="7219950"/>
            <a:ext cx="5372100" cy="209550"/>
          </a:xfrm>
          <a:prstGeom prst="rect">
            <a:avLst/>
          </a:prstGeom>
          <a:noFill/>
        </p:spPr>
        <p:txBody>
          <a:bodyPr wrap="square" lIns="0" rIns="0" tIns="0" bIns="0" anchor="ctr">
            <a:spAutoFit/>
          </a:bodyPr>
          <a:lstStyle/>
          <a:p>
            <a:pPr algn="l">
              <a:lnSpc>
                <a:spcPct val="120000"/>
              </a:lnSpc>
            </a:pPr>
            <a:r>
              <a:rPr sz="1200" b="0" i="0">
                <a:solidFill>
                  <a:srgbClr val="243A66"/>
                </a:solidFill>
                <a:latin typeface="Times New Roman"/>
              </a:rPr>
              <a:t>Reading the deck</a:t>
            </a:r>
          </a:p>
        </p:txBody>
      </p:sp>
      <p:sp>
        <p:nvSpPr>
          <p:cNvPr id="43" name="TextBox 42"/>
          <p:cNvSpPr txBox="1"/>
          <p:nvPr/>
        </p:nvSpPr>
        <p:spPr>
          <a:xfrm>
            <a:off x="11791950" y="7486650"/>
            <a:ext cx="5372100" cy="55245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 Slides 05–07 explore mountains; slides 08–09, seasons; 10–12, rainfall; 13–16, irrigation; 17–19, crops. Slide 20 returns to the Indus basin as a single integrated case study. Slide 22 lists the references. </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00" cy="685800"/>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3950" y="190500"/>
            <a:ext cx="11468100" cy="209550"/>
          </a:xfrm>
          <a:prstGeom prst="rect">
            <a:avLst/>
          </a:prstGeom>
          <a:noFill/>
        </p:spPr>
        <p:txBody>
          <a:bodyPr wrap="square" lIns="0" rIns="0" tIns="0" bIns="0" anchor="ctr">
            <a:spAutoFit/>
          </a:bodyPr>
          <a:lstStyle/>
          <a:p>
            <a:pPr algn="l">
              <a:lnSpc>
                <a:spcPct val="120000"/>
              </a:lnSpc>
            </a:pPr>
            <a:r>
              <a:rPr sz="1200" b="0" i="0">
                <a:solidFill>
                  <a:srgbClr val="FFFFFF"/>
                </a:solidFill>
                <a:latin typeface="Times New Roman"/>
              </a:rPr>
              <a:t>03 · A map of the field · the coordinate system for this lecture</a:t>
            </a:r>
          </a:p>
        </p:txBody>
      </p:sp>
      <p:sp>
        <p:nvSpPr>
          <p:cNvPr id="5" name="TextBox 4"/>
          <p:cNvSpPr txBox="1"/>
          <p:nvPr/>
        </p:nvSpPr>
        <p:spPr>
          <a:xfrm>
            <a:off x="16173450" y="190500"/>
            <a:ext cx="1181100" cy="323850"/>
          </a:xfrm>
          <a:prstGeom prst="rect">
            <a:avLst/>
          </a:prstGeom>
          <a:noFill/>
        </p:spPr>
        <p:txBody>
          <a:bodyPr wrap="square" lIns="0" rIns="0" tIns="0" bIns="0" anchor="ctr">
            <a:spAutoFit/>
          </a:bodyPr>
          <a:lstStyle/>
          <a:p>
            <a:pPr algn="r">
              <a:lnSpc>
                <a:spcPct val="120000"/>
              </a:lnSpc>
            </a:pPr>
            <a:r>
              <a:rPr sz="1050" b="0" i="1">
                <a:solidFill>
                  <a:srgbClr val="C81D25"/>
                </a:solidFill>
                <a:latin typeface="Times New Roman"/>
              </a:rPr>
              <a:t>03 / 22</a:t>
            </a:r>
          </a:p>
        </p:txBody>
      </p:sp>
      <p:sp>
        <p:nvSpPr>
          <p:cNvPr id="6" name="TextBox 5"/>
          <p:cNvSpPr txBox="1"/>
          <p:nvPr/>
        </p:nvSpPr>
        <p:spPr>
          <a:xfrm>
            <a:off x="1123950" y="1199257"/>
            <a:ext cx="10325100" cy="552450"/>
          </a:xfrm>
          <a:prstGeom prst="rect">
            <a:avLst/>
          </a:prstGeom>
          <a:noFill/>
        </p:spPr>
        <p:txBody>
          <a:bodyPr wrap="square" lIns="0" rIns="0" tIns="0" bIns="0" anchor="t">
            <a:spAutoFit/>
          </a:bodyPr>
          <a:lstStyle/>
          <a:p>
            <a:pPr algn="l">
              <a:lnSpc>
                <a:spcPct val="120000"/>
              </a:lnSpc>
            </a:pPr>
            <a:r>
              <a:rPr sz="1800" b="1" i="0">
                <a:solidFill>
                  <a:srgbClr val="000000"/>
                </a:solidFill>
                <a:latin typeface="Times New Roman"/>
              </a:rPr>
              <a:t>A 3 × 5 map of Pakistan’s</a:t>
            </a:r>
          </a:p>
          <a:p>
            <a:pPr algn="l">
              <a:lnSpc>
                <a:spcPct val="120000"/>
              </a:lnSpc>
            </a:pPr>
            <a:r>
              <a:rPr sz="1800" b="1" i="0">
                <a:solidFill>
                  <a:srgbClr val="000000"/>
                </a:solidFill>
                <a:latin typeface="Times New Roman"/>
              </a:rPr>
              <a:t>five physical themes.</a:t>
            </a:r>
          </a:p>
        </p:txBody>
      </p:sp>
      <p:sp>
        <p:nvSpPr>
          <p:cNvPr id="7" name="TextBox 6"/>
          <p:cNvSpPr txBox="1"/>
          <p:nvPr/>
        </p:nvSpPr>
        <p:spPr>
          <a:xfrm>
            <a:off x="1123950" y="2533650"/>
            <a:ext cx="4610100" cy="552450"/>
          </a:xfrm>
          <a:prstGeom prst="rect">
            <a:avLst/>
          </a:prstGeom>
          <a:noFill/>
        </p:spPr>
        <p:txBody>
          <a:bodyPr wrap="square" lIns="0" rIns="0" tIns="0" bIns="0" anchor="t">
            <a:spAutoFit/>
          </a:bodyPr>
          <a:lstStyle/>
          <a:p>
            <a:pPr algn="l">
              <a:lnSpc>
                <a:spcPct val="120000"/>
              </a:lnSpc>
            </a:pPr>
            <a:r>
              <a:rPr sz="1200" b="1" i="0">
                <a:solidFill>
                  <a:srgbClr val="C81D25"/>
                </a:solidFill>
                <a:latin typeface="Times New Roman"/>
              </a:rPr>
              <a:t>Rows</a:t>
            </a:r>
            <a:r>
              <a:rPr sz="1200" b="0" i="0">
                <a:solidFill>
                  <a:srgbClr val="000000"/>
                </a:solidFill>
                <a:latin typeface="Times New Roman"/>
              </a:rPr>
              <a:t> classify the </a:t>
            </a:r>
            <a:r>
              <a:rPr sz="1200" b="1" i="0">
                <a:solidFill>
                  <a:srgbClr val="000000"/>
                </a:solidFill>
                <a:latin typeface="Times New Roman"/>
              </a:rPr>
              <a:t>driving system</a:t>
            </a:r>
            <a:r>
              <a:rPr sz="1200" b="0" i="0">
                <a:solidFill>
                  <a:srgbClr val="000000"/>
                </a:solidFill>
                <a:latin typeface="Times New Roman"/>
              </a:rPr>
              <a:t>: the lithosphere that built the mountains; the atmosphere that delivers the rains; the engineered hydrology that carries them to fields. </a:t>
            </a:r>
          </a:p>
        </p:txBody>
      </p:sp>
      <p:sp>
        <p:nvSpPr>
          <p:cNvPr id="8" name="TextBox 7"/>
          <p:cNvSpPr txBox="1"/>
          <p:nvPr/>
        </p:nvSpPr>
        <p:spPr>
          <a:xfrm>
            <a:off x="1123950" y="3181350"/>
            <a:ext cx="4610100" cy="381000"/>
          </a:xfrm>
          <a:prstGeom prst="rect">
            <a:avLst/>
          </a:prstGeom>
          <a:noFill/>
        </p:spPr>
        <p:txBody>
          <a:bodyPr wrap="square" lIns="0" rIns="0" tIns="0" bIns="0" anchor="t">
            <a:spAutoFit/>
          </a:bodyPr>
          <a:lstStyle/>
          <a:p>
            <a:pPr algn="l">
              <a:lnSpc>
                <a:spcPct val="120000"/>
              </a:lnSpc>
            </a:pPr>
            <a:r>
              <a:rPr sz="1200" b="1" i="0">
                <a:solidFill>
                  <a:srgbClr val="C81D25"/>
                </a:solidFill>
                <a:latin typeface="Times New Roman"/>
              </a:rPr>
              <a:t>Columns</a:t>
            </a:r>
            <a:r>
              <a:rPr sz="1200" b="0" i="0">
                <a:solidFill>
                  <a:srgbClr val="000000"/>
                </a:solidFill>
                <a:latin typeface="Times New Roman"/>
              </a:rPr>
              <a:t> classify the </a:t>
            </a:r>
            <a:r>
              <a:rPr sz="1200" b="1" i="0">
                <a:solidFill>
                  <a:srgbClr val="000000"/>
                </a:solidFill>
                <a:latin typeface="Times New Roman"/>
              </a:rPr>
              <a:t>surface expression</a:t>
            </a:r>
            <a:r>
              <a:rPr sz="1200" b="0" i="0">
                <a:solidFill>
                  <a:srgbClr val="000000"/>
                </a:solidFill>
                <a:latin typeface="Times New Roman"/>
              </a:rPr>
              <a:t>: where the system shows up on a soil map, a rainfall isohyet, or a crop calendar. </a:t>
            </a:r>
          </a:p>
        </p:txBody>
      </p:sp>
      <p:sp>
        <p:nvSpPr>
          <p:cNvPr id="9" name="TextBox 8"/>
          <p:cNvSpPr txBox="1"/>
          <p:nvPr/>
        </p:nvSpPr>
        <p:spPr>
          <a:xfrm>
            <a:off x="1123950" y="3657600"/>
            <a:ext cx="4610100" cy="209550"/>
          </a:xfrm>
          <a:prstGeom prst="rect">
            <a:avLst/>
          </a:prstGeom>
          <a:noFill/>
        </p:spPr>
        <p:txBody>
          <a:bodyPr wrap="square" lIns="0" rIns="0" tIns="0" bIns="0" anchor="ctr">
            <a:spAutoFit/>
          </a:bodyPr>
          <a:lstStyle/>
          <a:p>
            <a:pPr algn="l">
              <a:lnSpc>
                <a:spcPct val="120000"/>
              </a:lnSpc>
            </a:pPr>
            <a:r>
              <a:rPr sz="1200" b="0" i="0">
                <a:solidFill>
                  <a:srgbClr val="000000"/>
                </a:solidFill>
                <a:latin typeface="Times New Roman"/>
              </a:rPr>
              <a:t> The lecture visits the cells in clockwise order from R1·C1 on slide 05. </a:t>
            </a:r>
          </a:p>
        </p:txBody>
      </p:sp>
      <p:sp>
        <p:nvSpPr>
          <p:cNvPr id="10" name="TextBox 9"/>
          <p:cNvSpPr txBox="1"/>
          <p:nvPr/>
        </p:nvSpPr>
        <p:spPr>
          <a:xfrm>
            <a:off x="1123950" y="5695950"/>
            <a:ext cx="4610100" cy="190500"/>
          </a:xfrm>
          <a:prstGeom prst="rect">
            <a:avLst/>
          </a:prstGeom>
          <a:noFill/>
        </p:spPr>
        <p:txBody>
          <a:bodyPr wrap="square" lIns="0" rIns="0" tIns="0" bIns="0" anchor="ctr">
            <a:spAutoFit/>
          </a:bodyPr>
          <a:lstStyle/>
          <a:p>
            <a:pPr algn="l">
              <a:lnSpc>
                <a:spcPct val="120000"/>
              </a:lnSpc>
            </a:pPr>
            <a:r>
              <a:rPr sz="980" b="0" i="0" spc="156">
                <a:solidFill>
                  <a:srgbClr val="5B6E94"/>
                </a:solidFill>
                <a:latin typeface="Times New Roman"/>
              </a:rPr>
              <a:t>LEGEND — CELL DENSITY</a:t>
            </a:r>
          </a:p>
        </p:txBody>
      </p:sp>
      <p:sp>
        <p:nvSpPr>
          <p:cNvPr id="11" name="Rectangle 10"/>
          <p:cNvSpPr/>
          <p:nvPr/>
        </p:nvSpPr>
        <p:spPr>
          <a:xfrm>
            <a:off x="1143000" y="5962650"/>
            <a:ext cx="285750" cy="171450"/>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543050" y="5948362"/>
            <a:ext cx="923032" cy="200025"/>
          </a:xfrm>
          <a:prstGeom prst="rect">
            <a:avLst/>
          </a:prstGeom>
          <a:noFill/>
        </p:spPr>
        <p:txBody>
          <a:bodyPr wrap="square" lIns="0" rIns="0" tIns="0" bIns="0" anchor="ctr">
            <a:spAutoFit/>
          </a:bodyPr>
          <a:lstStyle/>
          <a:p>
            <a:pPr algn="l">
              <a:lnSpc>
                <a:spcPct val="120000"/>
              </a:lnSpc>
            </a:pPr>
            <a:r>
              <a:rPr sz="1120" b="0" i="0">
                <a:solidFill>
                  <a:srgbClr val="1A2B4C"/>
                </a:solidFill>
                <a:latin typeface="Times New Roman"/>
              </a:rPr>
              <a:t>densely studied</a:t>
            </a:r>
          </a:p>
        </p:txBody>
      </p:sp>
      <p:sp>
        <p:nvSpPr>
          <p:cNvPr id="13" name="Rectangle 12"/>
          <p:cNvSpPr/>
          <p:nvPr/>
        </p:nvSpPr>
        <p:spPr>
          <a:xfrm>
            <a:off x="1143000" y="6210300"/>
            <a:ext cx="285750" cy="171450"/>
          </a:xfrm>
          <a:prstGeom prst="rect">
            <a:avLst/>
          </a:prstGeom>
          <a:solidFill>
            <a:srgbClr val="7E8D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543050" y="6196012"/>
            <a:ext cx="1129307" cy="200025"/>
          </a:xfrm>
          <a:prstGeom prst="rect">
            <a:avLst/>
          </a:prstGeom>
          <a:noFill/>
        </p:spPr>
        <p:txBody>
          <a:bodyPr wrap="square" lIns="0" rIns="0" tIns="0" bIns="0" anchor="ctr">
            <a:spAutoFit/>
          </a:bodyPr>
          <a:lstStyle/>
          <a:p>
            <a:pPr algn="l">
              <a:lnSpc>
                <a:spcPct val="120000"/>
              </a:lnSpc>
            </a:pPr>
            <a:r>
              <a:rPr sz="1120" b="0" i="0">
                <a:solidFill>
                  <a:srgbClr val="1A2B4C"/>
                </a:solidFill>
                <a:latin typeface="Times New Roman"/>
              </a:rPr>
              <a:t>moderately studied</a:t>
            </a:r>
          </a:p>
        </p:txBody>
      </p:sp>
      <p:sp>
        <p:nvSpPr>
          <p:cNvPr id="15" name="Rectangle 14"/>
          <p:cNvSpPr/>
          <p:nvPr/>
        </p:nvSpPr>
        <p:spPr>
          <a:xfrm>
            <a:off x="1143000" y="6457950"/>
            <a:ext cx="285750" cy="171450"/>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543050" y="6443662"/>
            <a:ext cx="1043285" cy="200025"/>
          </a:xfrm>
          <a:prstGeom prst="rect">
            <a:avLst/>
          </a:prstGeom>
          <a:noFill/>
        </p:spPr>
        <p:txBody>
          <a:bodyPr wrap="square" lIns="0" rIns="0" tIns="0" bIns="0" anchor="ctr">
            <a:spAutoFit/>
          </a:bodyPr>
          <a:lstStyle/>
          <a:p>
            <a:pPr algn="l">
              <a:lnSpc>
                <a:spcPct val="120000"/>
              </a:lnSpc>
            </a:pPr>
            <a:r>
              <a:rPr sz="1120" b="0" i="0">
                <a:solidFill>
                  <a:srgbClr val="1A2B4C"/>
                </a:solidFill>
                <a:latin typeface="Times New Roman"/>
              </a:rPr>
              <a:t>emerging / sparse</a:t>
            </a:r>
          </a:p>
        </p:txBody>
      </p:sp>
      <p:sp>
        <p:nvSpPr>
          <p:cNvPr id="17" name="Rectangle 16"/>
          <p:cNvSpPr/>
          <p:nvPr/>
        </p:nvSpPr>
        <p:spPr>
          <a:xfrm>
            <a:off x="1143000" y="6705600"/>
            <a:ext cx="304800" cy="190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43000" y="6705600"/>
            <a:ext cx="304800" cy="9525"/>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438275" y="6705600"/>
            <a:ext cx="9525" cy="190500"/>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143000" y="6886575"/>
            <a:ext cx="304800" cy="9525"/>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43000" y="6705600"/>
            <a:ext cx="9525" cy="190500"/>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62100" y="6700837"/>
            <a:ext cx="1166366" cy="200025"/>
          </a:xfrm>
          <a:prstGeom prst="rect">
            <a:avLst/>
          </a:prstGeom>
          <a:noFill/>
        </p:spPr>
        <p:txBody>
          <a:bodyPr wrap="square" lIns="0" rIns="0" tIns="0" bIns="0" anchor="ctr">
            <a:spAutoFit/>
          </a:bodyPr>
          <a:lstStyle/>
          <a:p>
            <a:pPr algn="l">
              <a:lnSpc>
                <a:spcPct val="120000"/>
              </a:lnSpc>
            </a:pPr>
            <a:r>
              <a:rPr sz="1120" b="0" i="1">
                <a:solidFill>
                  <a:srgbClr val="C81D25"/>
                </a:solidFill>
                <a:latin typeface="Times New Roman"/>
              </a:rPr>
              <a:t>research gap / open</a:t>
            </a:r>
          </a:p>
        </p:txBody>
      </p:sp>
      <p:sp>
        <p:nvSpPr>
          <p:cNvPr id="23" name="Rectangle 22"/>
          <p:cNvSpPr/>
          <p:nvPr/>
        </p:nvSpPr>
        <p:spPr>
          <a:xfrm>
            <a:off x="6477000" y="1143000"/>
            <a:ext cx="2072580" cy="542925"/>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72250" y="1219200"/>
            <a:ext cx="1882080" cy="180975"/>
          </a:xfrm>
          <a:prstGeom prst="rect">
            <a:avLst/>
          </a:prstGeom>
          <a:noFill/>
        </p:spPr>
        <p:txBody>
          <a:bodyPr wrap="square" lIns="0" rIns="0" tIns="0" bIns="0" anchor="ctr">
            <a:spAutoFit/>
          </a:bodyPr>
          <a:lstStyle/>
          <a:p>
            <a:pPr algn="ctr">
              <a:lnSpc>
                <a:spcPct val="120000"/>
              </a:lnSpc>
            </a:pPr>
            <a:r>
              <a:rPr sz="900" b="0" i="0" spc="126">
                <a:solidFill>
                  <a:srgbClr val="FFFFFF"/>
                </a:solidFill>
                <a:latin typeface="Times New Roman"/>
              </a:rPr>
              <a:t>C1</a:t>
            </a:r>
          </a:p>
        </p:txBody>
      </p:sp>
      <p:sp>
        <p:nvSpPr>
          <p:cNvPr id="25" name="TextBox 24"/>
          <p:cNvSpPr txBox="1"/>
          <p:nvPr/>
        </p:nvSpPr>
        <p:spPr>
          <a:xfrm>
            <a:off x="6572250" y="1381125"/>
            <a:ext cx="1882080" cy="228600"/>
          </a:xfrm>
          <a:prstGeom prst="rect">
            <a:avLst/>
          </a:prstGeom>
          <a:noFill/>
        </p:spPr>
        <p:txBody>
          <a:bodyPr wrap="square" lIns="0" rIns="0" tIns="0" bIns="0" anchor="ctr">
            <a:spAutoFit/>
          </a:bodyPr>
          <a:lstStyle/>
          <a:p>
            <a:pPr algn="ctr">
              <a:lnSpc>
                <a:spcPct val="120000"/>
              </a:lnSpc>
            </a:pPr>
            <a:r>
              <a:rPr sz="1280" b="1" i="0">
                <a:solidFill>
                  <a:srgbClr val="FFFFFF"/>
                </a:solidFill>
                <a:latin typeface="Times New Roman"/>
              </a:rPr>
              <a:t>Mountain Belt</a:t>
            </a:r>
          </a:p>
        </p:txBody>
      </p:sp>
      <p:sp>
        <p:nvSpPr>
          <p:cNvPr id="26" name="Rectangle 25"/>
          <p:cNvSpPr/>
          <p:nvPr/>
        </p:nvSpPr>
        <p:spPr>
          <a:xfrm>
            <a:off x="8625780" y="1143000"/>
            <a:ext cx="2072580" cy="542925"/>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721030" y="1219200"/>
            <a:ext cx="1882080" cy="180975"/>
          </a:xfrm>
          <a:prstGeom prst="rect">
            <a:avLst/>
          </a:prstGeom>
          <a:noFill/>
        </p:spPr>
        <p:txBody>
          <a:bodyPr wrap="square" lIns="0" rIns="0" tIns="0" bIns="0" anchor="ctr">
            <a:spAutoFit/>
          </a:bodyPr>
          <a:lstStyle/>
          <a:p>
            <a:pPr algn="ctr">
              <a:lnSpc>
                <a:spcPct val="120000"/>
              </a:lnSpc>
            </a:pPr>
            <a:r>
              <a:rPr sz="900" b="0" i="0" spc="126">
                <a:solidFill>
                  <a:srgbClr val="FFFFFF"/>
                </a:solidFill>
                <a:latin typeface="Times New Roman"/>
              </a:rPr>
              <a:t>C2</a:t>
            </a:r>
          </a:p>
        </p:txBody>
      </p:sp>
      <p:sp>
        <p:nvSpPr>
          <p:cNvPr id="28" name="TextBox 27"/>
          <p:cNvSpPr txBox="1"/>
          <p:nvPr/>
        </p:nvSpPr>
        <p:spPr>
          <a:xfrm>
            <a:off x="8721030" y="1381125"/>
            <a:ext cx="1882080" cy="228600"/>
          </a:xfrm>
          <a:prstGeom prst="rect">
            <a:avLst/>
          </a:prstGeom>
          <a:noFill/>
        </p:spPr>
        <p:txBody>
          <a:bodyPr wrap="square" lIns="0" rIns="0" tIns="0" bIns="0" anchor="ctr">
            <a:spAutoFit/>
          </a:bodyPr>
          <a:lstStyle/>
          <a:p>
            <a:pPr algn="ctr">
              <a:lnSpc>
                <a:spcPct val="120000"/>
              </a:lnSpc>
            </a:pPr>
            <a:r>
              <a:rPr sz="1280" b="1" i="0">
                <a:solidFill>
                  <a:srgbClr val="FFFFFF"/>
                </a:solidFill>
                <a:latin typeface="Times New Roman"/>
              </a:rPr>
              <a:t>Riverine Plain</a:t>
            </a:r>
          </a:p>
        </p:txBody>
      </p:sp>
      <p:sp>
        <p:nvSpPr>
          <p:cNvPr id="29" name="Rectangle 28"/>
          <p:cNvSpPr/>
          <p:nvPr/>
        </p:nvSpPr>
        <p:spPr>
          <a:xfrm>
            <a:off x="10774560" y="1143000"/>
            <a:ext cx="2072729" cy="542925"/>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0869810" y="1219200"/>
            <a:ext cx="1882229" cy="180975"/>
          </a:xfrm>
          <a:prstGeom prst="rect">
            <a:avLst/>
          </a:prstGeom>
          <a:noFill/>
        </p:spPr>
        <p:txBody>
          <a:bodyPr wrap="square" lIns="0" rIns="0" tIns="0" bIns="0" anchor="ctr">
            <a:spAutoFit/>
          </a:bodyPr>
          <a:lstStyle/>
          <a:p>
            <a:pPr algn="ctr">
              <a:lnSpc>
                <a:spcPct val="120000"/>
              </a:lnSpc>
            </a:pPr>
            <a:r>
              <a:rPr sz="900" b="0" i="0" spc="126">
                <a:solidFill>
                  <a:srgbClr val="FFFFFF"/>
                </a:solidFill>
                <a:latin typeface="Times New Roman"/>
              </a:rPr>
              <a:t>C3</a:t>
            </a:r>
          </a:p>
        </p:txBody>
      </p:sp>
      <p:sp>
        <p:nvSpPr>
          <p:cNvPr id="31" name="TextBox 30"/>
          <p:cNvSpPr txBox="1"/>
          <p:nvPr/>
        </p:nvSpPr>
        <p:spPr>
          <a:xfrm>
            <a:off x="10869810" y="1381125"/>
            <a:ext cx="1882229" cy="228600"/>
          </a:xfrm>
          <a:prstGeom prst="rect">
            <a:avLst/>
          </a:prstGeom>
          <a:noFill/>
        </p:spPr>
        <p:txBody>
          <a:bodyPr wrap="square" lIns="0" rIns="0" tIns="0" bIns="0" anchor="ctr">
            <a:spAutoFit/>
          </a:bodyPr>
          <a:lstStyle/>
          <a:p>
            <a:pPr algn="ctr">
              <a:lnSpc>
                <a:spcPct val="120000"/>
              </a:lnSpc>
            </a:pPr>
            <a:r>
              <a:rPr sz="1280" b="1" i="0">
                <a:solidFill>
                  <a:srgbClr val="FFFFFF"/>
                </a:solidFill>
                <a:latin typeface="Times New Roman"/>
              </a:rPr>
              <a:t>Delta / Coast</a:t>
            </a:r>
          </a:p>
        </p:txBody>
      </p:sp>
      <p:sp>
        <p:nvSpPr>
          <p:cNvPr id="32" name="Rectangle 31"/>
          <p:cNvSpPr/>
          <p:nvPr/>
        </p:nvSpPr>
        <p:spPr>
          <a:xfrm>
            <a:off x="12923490" y="1143000"/>
            <a:ext cx="2072580" cy="542925"/>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3018740" y="1219200"/>
            <a:ext cx="1882080" cy="180975"/>
          </a:xfrm>
          <a:prstGeom prst="rect">
            <a:avLst/>
          </a:prstGeom>
          <a:noFill/>
        </p:spPr>
        <p:txBody>
          <a:bodyPr wrap="square" lIns="0" rIns="0" tIns="0" bIns="0" anchor="ctr">
            <a:spAutoFit/>
          </a:bodyPr>
          <a:lstStyle/>
          <a:p>
            <a:pPr algn="ctr">
              <a:lnSpc>
                <a:spcPct val="120000"/>
              </a:lnSpc>
            </a:pPr>
            <a:r>
              <a:rPr sz="900" b="0" i="0" spc="126">
                <a:solidFill>
                  <a:srgbClr val="FFFFFF"/>
                </a:solidFill>
                <a:latin typeface="Times New Roman"/>
              </a:rPr>
              <a:t>C4</a:t>
            </a:r>
          </a:p>
        </p:txBody>
      </p:sp>
      <p:sp>
        <p:nvSpPr>
          <p:cNvPr id="34" name="TextBox 33"/>
          <p:cNvSpPr txBox="1"/>
          <p:nvPr/>
        </p:nvSpPr>
        <p:spPr>
          <a:xfrm>
            <a:off x="13018740" y="1381125"/>
            <a:ext cx="1882080" cy="228600"/>
          </a:xfrm>
          <a:prstGeom prst="rect">
            <a:avLst/>
          </a:prstGeom>
          <a:noFill/>
        </p:spPr>
        <p:txBody>
          <a:bodyPr wrap="square" lIns="0" rIns="0" tIns="0" bIns="0" anchor="ctr">
            <a:spAutoFit/>
          </a:bodyPr>
          <a:lstStyle/>
          <a:p>
            <a:pPr algn="ctr">
              <a:lnSpc>
                <a:spcPct val="120000"/>
              </a:lnSpc>
            </a:pPr>
            <a:r>
              <a:rPr sz="1280" b="1" i="0">
                <a:solidFill>
                  <a:srgbClr val="FFFFFF"/>
                </a:solidFill>
                <a:latin typeface="Times New Roman"/>
              </a:rPr>
              <a:t>Arid Balochistan</a:t>
            </a:r>
          </a:p>
        </p:txBody>
      </p:sp>
      <p:sp>
        <p:nvSpPr>
          <p:cNvPr id="35" name="Rectangle 34"/>
          <p:cNvSpPr/>
          <p:nvPr/>
        </p:nvSpPr>
        <p:spPr>
          <a:xfrm>
            <a:off x="15072270" y="1143000"/>
            <a:ext cx="2072729" cy="542925"/>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5167520" y="1219200"/>
            <a:ext cx="1882229" cy="180975"/>
          </a:xfrm>
          <a:prstGeom prst="rect">
            <a:avLst/>
          </a:prstGeom>
          <a:noFill/>
        </p:spPr>
        <p:txBody>
          <a:bodyPr wrap="square" lIns="0" rIns="0" tIns="0" bIns="0" anchor="ctr">
            <a:spAutoFit/>
          </a:bodyPr>
          <a:lstStyle/>
          <a:p>
            <a:pPr algn="ctr">
              <a:lnSpc>
                <a:spcPct val="120000"/>
              </a:lnSpc>
            </a:pPr>
            <a:r>
              <a:rPr sz="900" b="0" i="0" spc="126">
                <a:solidFill>
                  <a:srgbClr val="FFFFFF"/>
                </a:solidFill>
                <a:latin typeface="Times New Roman"/>
              </a:rPr>
              <a:t>C5</a:t>
            </a:r>
          </a:p>
        </p:txBody>
      </p:sp>
      <p:sp>
        <p:nvSpPr>
          <p:cNvPr id="37" name="TextBox 36"/>
          <p:cNvSpPr txBox="1"/>
          <p:nvPr/>
        </p:nvSpPr>
        <p:spPr>
          <a:xfrm>
            <a:off x="15167520" y="1381125"/>
            <a:ext cx="1882229" cy="228600"/>
          </a:xfrm>
          <a:prstGeom prst="rect">
            <a:avLst/>
          </a:prstGeom>
          <a:noFill/>
        </p:spPr>
        <p:txBody>
          <a:bodyPr wrap="square" lIns="0" rIns="0" tIns="0" bIns="0" anchor="ctr">
            <a:spAutoFit/>
          </a:bodyPr>
          <a:lstStyle/>
          <a:p>
            <a:pPr algn="ctr">
              <a:lnSpc>
                <a:spcPct val="120000"/>
              </a:lnSpc>
            </a:pPr>
            <a:r>
              <a:rPr sz="1280" b="1" i="0">
                <a:solidFill>
                  <a:srgbClr val="FFFFFF"/>
                </a:solidFill>
                <a:latin typeface="Times New Roman"/>
              </a:rPr>
              <a:t>Northern Highlands</a:t>
            </a:r>
          </a:p>
        </p:txBody>
      </p:sp>
      <p:sp>
        <p:nvSpPr>
          <p:cNvPr id="38" name="Rectangle 37"/>
          <p:cNvSpPr/>
          <p:nvPr/>
        </p:nvSpPr>
        <p:spPr>
          <a:xfrm>
            <a:off x="5715000" y="1790700"/>
            <a:ext cx="762000" cy="1790700"/>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5994201" y="2414587"/>
            <a:ext cx="203596" cy="180975"/>
          </a:xfrm>
          <a:prstGeom prst="rect">
            <a:avLst/>
          </a:prstGeom>
          <a:noFill/>
        </p:spPr>
        <p:txBody>
          <a:bodyPr wrap="square" lIns="0" rIns="0" tIns="0" bIns="0" anchor="ctr">
            <a:spAutoFit/>
          </a:bodyPr>
          <a:lstStyle/>
          <a:p>
            <a:pPr algn="l">
              <a:lnSpc>
                <a:spcPct val="120000"/>
              </a:lnSpc>
            </a:pPr>
            <a:r>
              <a:rPr sz="900" b="0" i="0" spc="126">
                <a:solidFill>
                  <a:srgbClr val="FFFFFF"/>
                </a:solidFill>
                <a:latin typeface="Times New Roman"/>
              </a:rPr>
              <a:t>R1</a:t>
            </a:r>
          </a:p>
        </p:txBody>
      </p:sp>
      <p:sp>
        <p:nvSpPr>
          <p:cNvPr id="40" name="TextBox 39"/>
          <p:cNvSpPr txBox="1"/>
          <p:nvPr/>
        </p:nvSpPr>
        <p:spPr>
          <a:xfrm>
            <a:off x="5709195" y="2595562"/>
            <a:ext cx="773757" cy="361950"/>
          </a:xfrm>
          <a:prstGeom prst="rect">
            <a:avLst/>
          </a:prstGeom>
          <a:noFill/>
        </p:spPr>
        <p:txBody>
          <a:bodyPr wrap="square" lIns="0" rIns="0" tIns="0" bIns="0" anchor="t">
            <a:spAutoFit/>
          </a:bodyPr>
          <a:lstStyle/>
          <a:p>
            <a:pPr algn="l">
              <a:lnSpc>
                <a:spcPct val="120000"/>
              </a:lnSpc>
            </a:pPr>
            <a:r>
              <a:rPr sz="1120" b="1" i="0">
                <a:solidFill>
                  <a:srgbClr val="FFFFFF"/>
                </a:solidFill>
                <a:latin typeface="Times New Roman"/>
              </a:rPr>
              <a:t>Lithosphere</a:t>
            </a:r>
          </a:p>
          <a:p>
            <a:pPr algn="l">
              <a:lnSpc>
                <a:spcPct val="120000"/>
              </a:lnSpc>
            </a:pPr>
            <a:r>
              <a:rPr sz="1120" b="1" i="0">
                <a:solidFill>
                  <a:srgbClr val="FFFFFF"/>
                </a:solidFill>
                <a:latin typeface="Times New Roman"/>
              </a:rPr>
              <a:t>&amp; Uplift</a:t>
            </a:r>
          </a:p>
        </p:txBody>
      </p:sp>
      <p:sp>
        <p:nvSpPr>
          <p:cNvPr id="41" name="Rectangle 40"/>
          <p:cNvSpPr/>
          <p:nvPr/>
        </p:nvSpPr>
        <p:spPr>
          <a:xfrm>
            <a:off x="6553200" y="1790700"/>
            <a:ext cx="2057400" cy="1790700"/>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629400" y="1866900"/>
            <a:ext cx="1905000" cy="152400"/>
          </a:xfrm>
          <a:prstGeom prst="rect">
            <a:avLst/>
          </a:prstGeom>
          <a:noFill/>
        </p:spPr>
        <p:txBody>
          <a:bodyPr wrap="square" lIns="0" rIns="0" tIns="0" bIns="0" anchor="ctr">
            <a:spAutoFit/>
          </a:bodyPr>
          <a:lstStyle/>
          <a:p>
            <a:pPr algn="l">
              <a:lnSpc>
                <a:spcPct val="120000"/>
              </a:lnSpc>
            </a:pPr>
            <a:r>
              <a:rPr sz="819" b="0" i="0">
                <a:solidFill>
                  <a:srgbClr val="9FB0CC"/>
                </a:solidFill>
                <a:latin typeface="Times New Roman"/>
              </a:rPr>
              <a:t>R1·C1</a:t>
            </a:r>
          </a:p>
        </p:txBody>
      </p:sp>
      <p:sp>
        <p:nvSpPr>
          <p:cNvPr id="43" name="TextBox 42"/>
          <p:cNvSpPr txBox="1"/>
          <p:nvPr/>
        </p:nvSpPr>
        <p:spPr>
          <a:xfrm>
            <a:off x="6629400" y="2000250"/>
            <a:ext cx="1905000" cy="247650"/>
          </a:xfrm>
          <a:prstGeom prst="rect">
            <a:avLst/>
          </a:prstGeom>
          <a:noFill/>
        </p:spPr>
        <p:txBody>
          <a:bodyPr wrap="square" lIns="0" rIns="0" tIns="0" bIns="0" anchor="ctr">
            <a:spAutoFit/>
          </a:bodyPr>
          <a:lstStyle/>
          <a:p>
            <a:pPr algn="l">
              <a:lnSpc>
                <a:spcPct val="120000"/>
              </a:lnSpc>
            </a:pPr>
            <a:r>
              <a:rPr sz="1420" b="1" i="0">
                <a:solidFill>
                  <a:srgbClr val="FFFFFF"/>
                </a:solidFill>
                <a:latin typeface="Times New Roman"/>
              </a:rPr>
              <a:t>Karakoram, Himalaya</a:t>
            </a:r>
          </a:p>
        </p:txBody>
      </p:sp>
      <p:sp>
        <p:nvSpPr>
          <p:cNvPr id="44" name="TextBox 43"/>
          <p:cNvSpPr txBox="1"/>
          <p:nvPr/>
        </p:nvSpPr>
        <p:spPr>
          <a:xfrm>
            <a:off x="6629400" y="2266950"/>
            <a:ext cx="1905000" cy="335160"/>
          </a:xfrm>
          <a:prstGeom prst="rect">
            <a:avLst/>
          </a:prstGeom>
          <a:noFill/>
        </p:spPr>
        <p:txBody>
          <a:bodyPr wrap="square" lIns="0" rIns="0" tIns="0" bIns="0" anchor="t">
            <a:spAutoFit/>
          </a:bodyPr>
          <a:lstStyle/>
          <a:p>
            <a:pPr algn="l">
              <a:lnSpc>
                <a:spcPct val="130000"/>
              </a:lnSpc>
            </a:pPr>
            <a:r>
              <a:rPr sz="900" b="0" i="0">
                <a:solidFill>
                  <a:srgbClr val="FFFFFF"/>
                </a:solidFill>
                <a:latin typeface="Times New Roman"/>
              </a:rPr>
              <a:t>5,000–8,611 m; ongoing Indo–Eurasian convergence</a:t>
            </a:r>
          </a:p>
        </p:txBody>
      </p:sp>
      <p:sp>
        <p:nvSpPr>
          <p:cNvPr id="45" name="Rectangle 44"/>
          <p:cNvSpPr/>
          <p:nvPr/>
        </p:nvSpPr>
        <p:spPr>
          <a:xfrm>
            <a:off x="8686800" y="1790700"/>
            <a:ext cx="2057400" cy="1790700"/>
          </a:xfrm>
          <a:prstGeom prst="rect">
            <a:avLst/>
          </a:prstGeom>
          <a:solidFill>
            <a:srgbClr val="7E8D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763000" y="1866900"/>
            <a:ext cx="1905000" cy="152400"/>
          </a:xfrm>
          <a:prstGeom prst="rect">
            <a:avLst/>
          </a:prstGeom>
          <a:noFill/>
        </p:spPr>
        <p:txBody>
          <a:bodyPr wrap="square" lIns="0" rIns="0" tIns="0" bIns="0" anchor="ctr">
            <a:spAutoFit/>
          </a:bodyPr>
          <a:lstStyle/>
          <a:p>
            <a:pPr algn="l">
              <a:lnSpc>
                <a:spcPct val="120000"/>
              </a:lnSpc>
            </a:pPr>
            <a:r>
              <a:rPr sz="819" b="0" i="0">
                <a:solidFill>
                  <a:srgbClr val="E2E7F0"/>
                </a:solidFill>
                <a:latin typeface="Times New Roman"/>
              </a:rPr>
              <a:t>R1·C2</a:t>
            </a:r>
          </a:p>
        </p:txBody>
      </p:sp>
      <p:sp>
        <p:nvSpPr>
          <p:cNvPr id="47" name="TextBox 46"/>
          <p:cNvSpPr txBox="1"/>
          <p:nvPr/>
        </p:nvSpPr>
        <p:spPr>
          <a:xfrm>
            <a:off x="8763000" y="2000250"/>
            <a:ext cx="1905000" cy="247650"/>
          </a:xfrm>
          <a:prstGeom prst="rect">
            <a:avLst/>
          </a:prstGeom>
          <a:noFill/>
        </p:spPr>
        <p:txBody>
          <a:bodyPr wrap="square" lIns="0" rIns="0" tIns="0" bIns="0" anchor="ctr">
            <a:spAutoFit/>
          </a:bodyPr>
          <a:lstStyle/>
          <a:p>
            <a:pPr algn="l">
              <a:lnSpc>
                <a:spcPct val="120000"/>
              </a:lnSpc>
            </a:pPr>
            <a:r>
              <a:rPr sz="1420" b="1" i="0">
                <a:solidFill>
                  <a:srgbClr val="FFFFFF"/>
                </a:solidFill>
                <a:latin typeface="Times New Roman"/>
              </a:rPr>
              <a:t>Indus Suture</a:t>
            </a:r>
          </a:p>
        </p:txBody>
      </p:sp>
      <p:sp>
        <p:nvSpPr>
          <p:cNvPr id="48" name="TextBox 47"/>
          <p:cNvSpPr txBox="1"/>
          <p:nvPr/>
        </p:nvSpPr>
        <p:spPr>
          <a:xfrm>
            <a:off x="8763000" y="2266950"/>
            <a:ext cx="1905000" cy="335160"/>
          </a:xfrm>
          <a:prstGeom prst="rect">
            <a:avLst/>
          </a:prstGeom>
          <a:noFill/>
        </p:spPr>
        <p:txBody>
          <a:bodyPr wrap="square" lIns="0" rIns="0" tIns="0" bIns="0" anchor="t">
            <a:spAutoFit/>
          </a:bodyPr>
          <a:lstStyle/>
          <a:p>
            <a:pPr algn="l">
              <a:lnSpc>
                <a:spcPct val="130000"/>
              </a:lnSpc>
            </a:pPr>
            <a:r>
              <a:rPr sz="900" b="0" i="0">
                <a:solidFill>
                  <a:srgbClr val="FFFFFF"/>
                </a:solidFill>
                <a:latin typeface="Times New Roman"/>
              </a:rPr>
              <a:t>Piedmont alluvium from Himalayan erosion fills the plain</a:t>
            </a:r>
          </a:p>
        </p:txBody>
      </p:sp>
      <p:sp>
        <p:nvSpPr>
          <p:cNvPr id="49" name="Rectangle 48"/>
          <p:cNvSpPr/>
          <p:nvPr/>
        </p:nvSpPr>
        <p:spPr>
          <a:xfrm>
            <a:off x="10820400" y="1790700"/>
            <a:ext cx="2057400" cy="1790700"/>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896600" y="1866900"/>
            <a:ext cx="1905000" cy="152400"/>
          </a:xfrm>
          <a:prstGeom prst="rect">
            <a:avLst/>
          </a:prstGeom>
          <a:noFill/>
        </p:spPr>
        <p:txBody>
          <a:bodyPr wrap="square" lIns="0" rIns="0" tIns="0" bIns="0" anchor="ctr">
            <a:spAutoFit/>
          </a:bodyPr>
          <a:lstStyle/>
          <a:p>
            <a:pPr algn="l">
              <a:lnSpc>
                <a:spcPct val="120000"/>
              </a:lnSpc>
            </a:pPr>
            <a:r>
              <a:rPr sz="819" b="0" i="0">
                <a:solidFill>
                  <a:srgbClr val="5B6E94"/>
                </a:solidFill>
                <a:latin typeface="Times New Roman"/>
              </a:rPr>
              <a:t>R1·C3</a:t>
            </a:r>
          </a:p>
        </p:txBody>
      </p:sp>
      <p:sp>
        <p:nvSpPr>
          <p:cNvPr id="51" name="TextBox 50"/>
          <p:cNvSpPr txBox="1"/>
          <p:nvPr/>
        </p:nvSpPr>
        <p:spPr>
          <a:xfrm>
            <a:off x="10896600" y="2000250"/>
            <a:ext cx="1905000" cy="247650"/>
          </a:xfrm>
          <a:prstGeom prst="rect">
            <a:avLst/>
          </a:prstGeom>
          <a:noFill/>
        </p:spPr>
        <p:txBody>
          <a:bodyPr wrap="square" lIns="0" rIns="0" tIns="0" bIns="0" anchor="ctr">
            <a:spAutoFit/>
          </a:bodyPr>
          <a:lstStyle/>
          <a:p>
            <a:pPr algn="l">
              <a:lnSpc>
                <a:spcPct val="120000"/>
              </a:lnSpc>
            </a:pPr>
            <a:r>
              <a:rPr sz="1420" b="0" i="0">
                <a:solidFill>
                  <a:srgbClr val="1A2B4C"/>
                </a:solidFill>
                <a:latin typeface="Times New Roman"/>
              </a:rPr>
              <a:t>Indus Delta</a:t>
            </a:r>
          </a:p>
        </p:txBody>
      </p:sp>
      <p:sp>
        <p:nvSpPr>
          <p:cNvPr id="52" name="TextBox 51"/>
          <p:cNvSpPr txBox="1"/>
          <p:nvPr/>
        </p:nvSpPr>
        <p:spPr>
          <a:xfrm>
            <a:off x="10896600" y="2266950"/>
            <a:ext cx="1905000" cy="335160"/>
          </a:xfrm>
          <a:prstGeom prst="rect">
            <a:avLst/>
          </a:prstGeom>
          <a:noFill/>
        </p:spPr>
        <p:txBody>
          <a:bodyPr wrap="square" lIns="0" rIns="0" tIns="0" bIns="0" anchor="t">
            <a:spAutoFit/>
          </a:bodyPr>
          <a:lstStyle/>
          <a:p>
            <a:pPr algn="l">
              <a:lnSpc>
                <a:spcPct val="130000"/>
              </a:lnSpc>
            </a:pPr>
            <a:r>
              <a:rPr sz="900" b="0" i="0">
                <a:solidFill>
                  <a:srgbClr val="1A2B4C"/>
                </a:solidFill>
                <a:latin typeface="Times New Roman"/>
              </a:rPr>
              <a:t>Active subsidence; mangrove coast losing elevation</a:t>
            </a:r>
          </a:p>
        </p:txBody>
      </p:sp>
      <p:sp>
        <p:nvSpPr>
          <p:cNvPr id="53" name="Rectangle 52"/>
          <p:cNvSpPr/>
          <p:nvPr/>
        </p:nvSpPr>
        <p:spPr>
          <a:xfrm>
            <a:off x="12954000" y="1790700"/>
            <a:ext cx="2057400" cy="1790700"/>
          </a:xfrm>
          <a:prstGeom prst="rect">
            <a:avLst/>
          </a:prstGeom>
          <a:solidFill>
            <a:srgbClr val="7E8D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3030200" y="1866900"/>
            <a:ext cx="1905000" cy="152400"/>
          </a:xfrm>
          <a:prstGeom prst="rect">
            <a:avLst/>
          </a:prstGeom>
          <a:noFill/>
        </p:spPr>
        <p:txBody>
          <a:bodyPr wrap="square" lIns="0" rIns="0" tIns="0" bIns="0" anchor="ctr">
            <a:spAutoFit/>
          </a:bodyPr>
          <a:lstStyle/>
          <a:p>
            <a:pPr algn="l">
              <a:lnSpc>
                <a:spcPct val="120000"/>
              </a:lnSpc>
            </a:pPr>
            <a:r>
              <a:rPr sz="819" b="0" i="0">
                <a:solidFill>
                  <a:srgbClr val="E2E7F0"/>
                </a:solidFill>
                <a:latin typeface="Times New Roman"/>
              </a:rPr>
              <a:t>R1·C4</a:t>
            </a:r>
          </a:p>
        </p:txBody>
      </p:sp>
      <p:sp>
        <p:nvSpPr>
          <p:cNvPr id="55" name="TextBox 54"/>
          <p:cNvSpPr txBox="1"/>
          <p:nvPr/>
        </p:nvSpPr>
        <p:spPr>
          <a:xfrm>
            <a:off x="13030200" y="2000250"/>
            <a:ext cx="1905000" cy="247650"/>
          </a:xfrm>
          <a:prstGeom prst="rect">
            <a:avLst/>
          </a:prstGeom>
          <a:noFill/>
        </p:spPr>
        <p:txBody>
          <a:bodyPr wrap="square" lIns="0" rIns="0" tIns="0" bIns="0" anchor="ctr">
            <a:spAutoFit/>
          </a:bodyPr>
          <a:lstStyle/>
          <a:p>
            <a:pPr algn="l">
              <a:lnSpc>
                <a:spcPct val="120000"/>
              </a:lnSpc>
            </a:pPr>
            <a:r>
              <a:rPr sz="1420" b="1" i="0">
                <a:solidFill>
                  <a:srgbClr val="FFFFFF"/>
                </a:solidFill>
                <a:latin typeface="Times New Roman"/>
              </a:rPr>
              <a:t>Chagai Arc</a:t>
            </a:r>
          </a:p>
        </p:txBody>
      </p:sp>
      <p:sp>
        <p:nvSpPr>
          <p:cNvPr id="56" name="TextBox 55"/>
          <p:cNvSpPr txBox="1"/>
          <p:nvPr/>
        </p:nvSpPr>
        <p:spPr>
          <a:xfrm>
            <a:off x="13030200" y="2266950"/>
            <a:ext cx="1905000" cy="335160"/>
          </a:xfrm>
          <a:prstGeom prst="rect">
            <a:avLst/>
          </a:prstGeom>
          <a:noFill/>
        </p:spPr>
        <p:txBody>
          <a:bodyPr wrap="square" lIns="0" rIns="0" tIns="0" bIns="0" anchor="t">
            <a:spAutoFit/>
          </a:bodyPr>
          <a:lstStyle/>
          <a:p>
            <a:pPr algn="l">
              <a:lnSpc>
                <a:spcPct val="130000"/>
              </a:lnSpc>
            </a:pPr>
            <a:r>
              <a:rPr sz="900" b="0" i="0">
                <a:solidFill>
                  <a:srgbClr val="FFFFFF"/>
                </a:solidFill>
                <a:latin typeface="Times New Roman"/>
              </a:rPr>
              <a:t>Volcanic &amp; folded ranges; Iranian suture influence</a:t>
            </a:r>
          </a:p>
        </p:txBody>
      </p:sp>
      <p:sp>
        <p:nvSpPr>
          <p:cNvPr id="57" name="Rectangle 56"/>
          <p:cNvSpPr/>
          <p:nvPr/>
        </p:nvSpPr>
        <p:spPr>
          <a:xfrm>
            <a:off x="15087600" y="1790700"/>
            <a:ext cx="2057400" cy="1790700"/>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15163800" y="1866900"/>
            <a:ext cx="1905000" cy="152400"/>
          </a:xfrm>
          <a:prstGeom prst="rect">
            <a:avLst/>
          </a:prstGeom>
          <a:noFill/>
        </p:spPr>
        <p:txBody>
          <a:bodyPr wrap="square" lIns="0" rIns="0" tIns="0" bIns="0" anchor="ctr">
            <a:spAutoFit/>
          </a:bodyPr>
          <a:lstStyle/>
          <a:p>
            <a:pPr algn="l">
              <a:lnSpc>
                <a:spcPct val="120000"/>
              </a:lnSpc>
            </a:pPr>
            <a:r>
              <a:rPr sz="819" b="0" i="0">
                <a:solidFill>
                  <a:srgbClr val="9FB0CC"/>
                </a:solidFill>
                <a:latin typeface="Times New Roman"/>
              </a:rPr>
              <a:t>R1·C5</a:t>
            </a:r>
          </a:p>
        </p:txBody>
      </p:sp>
      <p:sp>
        <p:nvSpPr>
          <p:cNvPr id="59" name="TextBox 58"/>
          <p:cNvSpPr txBox="1"/>
          <p:nvPr/>
        </p:nvSpPr>
        <p:spPr>
          <a:xfrm>
            <a:off x="15163800" y="2000250"/>
            <a:ext cx="1905000" cy="247650"/>
          </a:xfrm>
          <a:prstGeom prst="rect">
            <a:avLst/>
          </a:prstGeom>
          <a:noFill/>
        </p:spPr>
        <p:txBody>
          <a:bodyPr wrap="square" lIns="0" rIns="0" tIns="0" bIns="0" anchor="ctr">
            <a:spAutoFit/>
          </a:bodyPr>
          <a:lstStyle/>
          <a:p>
            <a:pPr algn="l">
              <a:lnSpc>
                <a:spcPct val="120000"/>
              </a:lnSpc>
            </a:pPr>
            <a:r>
              <a:rPr sz="1420" b="1" i="0">
                <a:solidFill>
                  <a:srgbClr val="FFFFFF"/>
                </a:solidFill>
                <a:latin typeface="Times New Roman"/>
              </a:rPr>
              <a:t>Hindu Kush</a:t>
            </a:r>
          </a:p>
        </p:txBody>
      </p:sp>
      <p:sp>
        <p:nvSpPr>
          <p:cNvPr id="60" name="TextBox 59"/>
          <p:cNvSpPr txBox="1"/>
          <p:nvPr/>
        </p:nvSpPr>
        <p:spPr>
          <a:xfrm>
            <a:off x="15163800" y="2266950"/>
            <a:ext cx="1905000" cy="335160"/>
          </a:xfrm>
          <a:prstGeom prst="rect">
            <a:avLst/>
          </a:prstGeom>
          <a:noFill/>
        </p:spPr>
        <p:txBody>
          <a:bodyPr wrap="square" lIns="0" rIns="0" tIns="0" bIns="0" anchor="t">
            <a:spAutoFit/>
          </a:bodyPr>
          <a:lstStyle/>
          <a:p>
            <a:pPr algn="l">
              <a:lnSpc>
                <a:spcPct val="130000"/>
              </a:lnSpc>
            </a:pPr>
            <a:r>
              <a:rPr sz="900" b="0" i="0">
                <a:solidFill>
                  <a:srgbClr val="FFFFFF"/>
                </a:solidFill>
                <a:latin typeface="Times New Roman"/>
              </a:rPr>
              <a:t>Pamir-syntaxis cutting east–west across Afghanistan border</a:t>
            </a:r>
          </a:p>
        </p:txBody>
      </p:sp>
      <p:sp>
        <p:nvSpPr>
          <p:cNvPr id="61" name="Rectangle 60"/>
          <p:cNvSpPr/>
          <p:nvPr/>
        </p:nvSpPr>
        <p:spPr>
          <a:xfrm>
            <a:off x="5715000" y="3714750"/>
            <a:ext cx="762000" cy="1790700"/>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5994201" y="4338637"/>
            <a:ext cx="203596" cy="180975"/>
          </a:xfrm>
          <a:prstGeom prst="rect">
            <a:avLst/>
          </a:prstGeom>
          <a:noFill/>
        </p:spPr>
        <p:txBody>
          <a:bodyPr wrap="square" lIns="0" rIns="0" tIns="0" bIns="0" anchor="ctr">
            <a:spAutoFit/>
          </a:bodyPr>
          <a:lstStyle/>
          <a:p>
            <a:pPr algn="l">
              <a:lnSpc>
                <a:spcPct val="120000"/>
              </a:lnSpc>
            </a:pPr>
            <a:r>
              <a:rPr sz="900" b="0" i="0" spc="126">
                <a:solidFill>
                  <a:srgbClr val="FFFFFF"/>
                </a:solidFill>
                <a:latin typeface="Times New Roman"/>
              </a:rPr>
              <a:t>R2</a:t>
            </a:r>
          </a:p>
        </p:txBody>
      </p:sp>
      <p:sp>
        <p:nvSpPr>
          <p:cNvPr id="63" name="TextBox 62"/>
          <p:cNvSpPr txBox="1"/>
          <p:nvPr/>
        </p:nvSpPr>
        <p:spPr>
          <a:xfrm>
            <a:off x="5705326" y="4519612"/>
            <a:ext cx="781496" cy="361950"/>
          </a:xfrm>
          <a:prstGeom prst="rect">
            <a:avLst/>
          </a:prstGeom>
          <a:noFill/>
        </p:spPr>
        <p:txBody>
          <a:bodyPr wrap="square" lIns="0" rIns="0" tIns="0" bIns="0" anchor="t">
            <a:spAutoFit/>
          </a:bodyPr>
          <a:lstStyle/>
          <a:p>
            <a:pPr algn="l">
              <a:lnSpc>
                <a:spcPct val="120000"/>
              </a:lnSpc>
            </a:pPr>
            <a:r>
              <a:rPr sz="1120" b="1" i="0">
                <a:solidFill>
                  <a:srgbClr val="FFFFFF"/>
                </a:solidFill>
                <a:latin typeface="Times New Roman"/>
              </a:rPr>
              <a:t>Atmosphere</a:t>
            </a:r>
          </a:p>
          <a:p>
            <a:pPr algn="l">
              <a:lnSpc>
                <a:spcPct val="120000"/>
              </a:lnSpc>
            </a:pPr>
            <a:r>
              <a:rPr sz="1120" b="1" i="0">
                <a:solidFill>
                  <a:srgbClr val="FFFFFF"/>
                </a:solidFill>
                <a:latin typeface="Times New Roman"/>
              </a:rPr>
              <a:t>&amp; Monsoon</a:t>
            </a:r>
          </a:p>
        </p:txBody>
      </p:sp>
      <p:sp>
        <p:nvSpPr>
          <p:cNvPr id="64" name="Rectangle 63"/>
          <p:cNvSpPr/>
          <p:nvPr/>
        </p:nvSpPr>
        <p:spPr>
          <a:xfrm>
            <a:off x="6553200" y="3714750"/>
            <a:ext cx="2057400" cy="1790700"/>
          </a:xfrm>
          <a:prstGeom prst="rect">
            <a:avLst/>
          </a:prstGeom>
          <a:solidFill>
            <a:srgbClr val="7E8D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6629400" y="3790950"/>
            <a:ext cx="1905000" cy="152400"/>
          </a:xfrm>
          <a:prstGeom prst="rect">
            <a:avLst/>
          </a:prstGeom>
          <a:noFill/>
        </p:spPr>
        <p:txBody>
          <a:bodyPr wrap="square" lIns="0" rIns="0" tIns="0" bIns="0" anchor="ctr">
            <a:spAutoFit/>
          </a:bodyPr>
          <a:lstStyle/>
          <a:p>
            <a:pPr algn="l">
              <a:lnSpc>
                <a:spcPct val="120000"/>
              </a:lnSpc>
            </a:pPr>
            <a:r>
              <a:rPr sz="819" b="0" i="0">
                <a:solidFill>
                  <a:srgbClr val="E2E7F0"/>
                </a:solidFill>
                <a:latin typeface="Times New Roman"/>
              </a:rPr>
              <a:t>R2·C1</a:t>
            </a:r>
          </a:p>
        </p:txBody>
      </p:sp>
      <p:sp>
        <p:nvSpPr>
          <p:cNvPr id="66" name="TextBox 65"/>
          <p:cNvSpPr txBox="1"/>
          <p:nvPr/>
        </p:nvSpPr>
        <p:spPr>
          <a:xfrm>
            <a:off x="6629400" y="3924300"/>
            <a:ext cx="1905000" cy="247650"/>
          </a:xfrm>
          <a:prstGeom prst="rect">
            <a:avLst/>
          </a:prstGeom>
          <a:noFill/>
        </p:spPr>
        <p:txBody>
          <a:bodyPr wrap="square" lIns="0" rIns="0" tIns="0" bIns="0" anchor="ctr">
            <a:spAutoFit/>
          </a:bodyPr>
          <a:lstStyle/>
          <a:p>
            <a:pPr algn="l">
              <a:lnSpc>
                <a:spcPct val="120000"/>
              </a:lnSpc>
            </a:pPr>
            <a:r>
              <a:rPr sz="1420" b="1" i="0">
                <a:solidFill>
                  <a:srgbClr val="FFFFFF"/>
                </a:solidFill>
                <a:latin typeface="Times New Roman"/>
              </a:rPr>
              <a:t>Orographic rain</a:t>
            </a:r>
          </a:p>
        </p:txBody>
      </p:sp>
      <p:sp>
        <p:nvSpPr>
          <p:cNvPr id="67" name="TextBox 66"/>
          <p:cNvSpPr txBox="1"/>
          <p:nvPr/>
        </p:nvSpPr>
        <p:spPr>
          <a:xfrm>
            <a:off x="6629400" y="4191000"/>
            <a:ext cx="1905000" cy="335160"/>
          </a:xfrm>
          <a:prstGeom prst="rect">
            <a:avLst/>
          </a:prstGeom>
          <a:noFill/>
        </p:spPr>
        <p:txBody>
          <a:bodyPr wrap="square" lIns="0" rIns="0" tIns="0" bIns="0" anchor="t">
            <a:spAutoFit/>
          </a:bodyPr>
          <a:lstStyle/>
          <a:p>
            <a:pPr algn="l">
              <a:lnSpc>
                <a:spcPct val="130000"/>
              </a:lnSpc>
            </a:pPr>
            <a:r>
              <a:rPr sz="900" b="0" i="0">
                <a:solidFill>
                  <a:srgbClr val="FFFFFF"/>
                </a:solidFill>
                <a:latin typeface="Times New Roman"/>
              </a:rPr>
              <a:t>Summer monsoon stalled against Siwaliks</a:t>
            </a:r>
          </a:p>
        </p:txBody>
      </p:sp>
      <p:sp>
        <p:nvSpPr>
          <p:cNvPr id="68" name="Rectangle 67"/>
          <p:cNvSpPr/>
          <p:nvPr/>
        </p:nvSpPr>
        <p:spPr>
          <a:xfrm>
            <a:off x="8686800" y="3714750"/>
            <a:ext cx="2057400" cy="1790700"/>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8763000" y="3790950"/>
            <a:ext cx="1905000" cy="152400"/>
          </a:xfrm>
          <a:prstGeom prst="rect">
            <a:avLst/>
          </a:prstGeom>
          <a:noFill/>
        </p:spPr>
        <p:txBody>
          <a:bodyPr wrap="square" lIns="0" rIns="0" tIns="0" bIns="0" anchor="ctr">
            <a:spAutoFit/>
          </a:bodyPr>
          <a:lstStyle/>
          <a:p>
            <a:pPr algn="l">
              <a:lnSpc>
                <a:spcPct val="120000"/>
              </a:lnSpc>
            </a:pPr>
            <a:r>
              <a:rPr sz="819" b="0" i="0">
                <a:solidFill>
                  <a:srgbClr val="9FB0CC"/>
                </a:solidFill>
                <a:latin typeface="Times New Roman"/>
              </a:rPr>
              <a:t>R2·C2</a:t>
            </a:r>
          </a:p>
        </p:txBody>
      </p:sp>
      <p:sp>
        <p:nvSpPr>
          <p:cNvPr id="70" name="TextBox 69"/>
          <p:cNvSpPr txBox="1"/>
          <p:nvPr/>
        </p:nvSpPr>
        <p:spPr>
          <a:xfrm>
            <a:off x="8763000" y="3924300"/>
            <a:ext cx="1905000" cy="247650"/>
          </a:xfrm>
          <a:prstGeom prst="rect">
            <a:avLst/>
          </a:prstGeom>
          <a:noFill/>
        </p:spPr>
        <p:txBody>
          <a:bodyPr wrap="square" lIns="0" rIns="0" tIns="0" bIns="0" anchor="ctr">
            <a:spAutoFit/>
          </a:bodyPr>
          <a:lstStyle/>
          <a:p>
            <a:pPr algn="l">
              <a:lnSpc>
                <a:spcPct val="120000"/>
              </a:lnSpc>
            </a:pPr>
            <a:r>
              <a:rPr sz="1420" b="1" i="0">
                <a:solidFill>
                  <a:srgbClr val="FFFFFF"/>
                </a:solidFill>
                <a:latin typeface="Times New Roman"/>
              </a:rPr>
              <a:t>Monsoon core</a:t>
            </a:r>
          </a:p>
        </p:txBody>
      </p:sp>
      <p:sp>
        <p:nvSpPr>
          <p:cNvPr id="71" name="TextBox 70"/>
          <p:cNvSpPr txBox="1"/>
          <p:nvPr/>
        </p:nvSpPr>
        <p:spPr>
          <a:xfrm>
            <a:off x="8763000" y="4191000"/>
            <a:ext cx="1905000" cy="335160"/>
          </a:xfrm>
          <a:prstGeom prst="rect">
            <a:avLst/>
          </a:prstGeom>
          <a:noFill/>
        </p:spPr>
        <p:txBody>
          <a:bodyPr wrap="square" lIns="0" rIns="0" tIns="0" bIns="0" anchor="t">
            <a:spAutoFit/>
          </a:bodyPr>
          <a:lstStyle/>
          <a:p>
            <a:pPr algn="l">
              <a:lnSpc>
                <a:spcPct val="130000"/>
              </a:lnSpc>
            </a:pPr>
            <a:r>
              <a:rPr sz="900" b="0" i="0">
                <a:solidFill>
                  <a:srgbClr val="FFFFFF"/>
                </a:solidFill>
                <a:latin typeface="Times New Roman"/>
              </a:rPr>
              <a:t>Punjab &amp; Sindh receive 300–700 mm Jul–Sep</a:t>
            </a:r>
          </a:p>
        </p:txBody>
      </p:sp>
      <p:sp>
        <p:nvSpPr>
          <p:cNvPr id="72" name="Rectangle 71"/>
          <p:cNvSpPr/>
          <p:nvPr/>
        </p:nvSpPr>
        <p:spPr>
          <a:xfrm>
            <a:off x="10820400" y="3714750"/>
            <a:ext cx="2057400" cy="1790700"/>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10896600" y="3790950"/>
            <a:ext cx="1905000" cy="152400"/>
          </a:xfrm>
          <a:prstGeom prst="rect">
            <a:avLst/>
          </a:prstGeom>
          <a:noFill/>
        </p:spPr>
        <p:txBody>
          <a:bodyPr wrap="square" lIns="0" rIns="0" tIns="0" bIns="0" anchor="ctr">
            <a:spAutoFit/>
          </a:bodyPr>
          <a:lstStyle/>
          <a:p>
            <a:pPr algn="l">
              <a:lnSpc>
                <a:spcPct val="120000"/>
              </a:lnSpc>
            </a:pPr>
            <a:r>
              <a:rPr sz="819" b="0" i="0">
                <a:solidFill>
                  <a:srgbClr val="5B6E94"/>
                </a:solidFill>
                <a:latin typeface="Times New Roman"/>
              </a:rPr>
              <a:t>R2·C3</a:t>
            </a:r>
          </a:p>
        </p:txBody>
      </p:sp>
      <p:sp>
        <p:nvSpPr>
          <p:cNvPr id="74" name="TextBox 73"/>
          <p:cNvSpPr txBox="1"/>
          <p:nvPr/>
        </p:nvSpPr>
        <p:spPr>
          <a:xfrm>
            <a:off x="10896600" y="3924300"/>
            <a:ext cx="1905000" cy="247650"/>
          </a:xfrm>
          <a:prstGeom prst="rect">
            <a:avLst/>
          </a:prstGeom>
          <a:noFill/>
        </p:spPr>
        <p:txBody>
          <a:bodyPr wrap="square" lIns="0" rIns="0" tIns="0" bIns="0" anchor="ctr">
            <a:spAutoFit/>
          </a:bodyPr>
          <a:lstStyle/>
          <a:p>
            <a:pPr algn="l">
              <a:lnSpc>
                <a:spcPct val="120000"/>
              </a:lnSpc>
            </a:pPr>
            <a:r>
              <a:rPr sz="1420" b="1" i="0">
                <a:solidFill>
                  <a:srgbClr val="1A2B4C"/>
                </a:solidFill>
                <a:latin typeface="Times New Roman"/>
              </a:rPr>
              <a:t>Tropical cyclone</a:t>
            </a:r>
          </a:p>
        </p:txBody>
      </p:sp>
      <p:sp>
        <p:nvSpPr>
          <p:cNvPr id="75" name="TextBox 74"/>
          <p:cNvSpPr txBox="1"/>
          <p:nvPr/>
        </p:nvSpPr>
        <p:spPr>
          <a:xfrm>
            <a:off x="10896600" y="4191000"/>
            <a:ext cx="1905000" cy="335160"/>
          </a:xfrm>
          <a:prstGeom prst="rect">
            <a:avLst/>
          </a:prstGeom>
          <a:noFill/>
        </p:spPr>
        <p:txBody>
          <a:bodyPr wrap="square" lIns="0" rIns="0" tIns="0" bIns="0" anchor="t">
            <a:spAutoFit/>
          </a:bodyPr>
          <a:lstStyle/>
          <a:p>
            <a:pPr algn="l">
              <a:lnSpc>
                <a:spcPct val="130000"/>
              </a:lnSpc>
            </a:pPr>
            <a:r>
              <a:rPr sz="900" b="0" i="0">
                <a:solidFill>
                  <a:srgbClr val="1A2B4C"/>
                </a:solidFill>
                <a:latin typeface="Times New Roman"/>
              </a:rPr>
              <a:t>Arabian Sea storms bring late-season rain</a:t>
            </a:r>
          </a:p>
        </p:txBody>
      </p:sp>
      <p:sp>
        <p:nvSpPr>
          <p:cNvPr id="76" name="Rectangle 75"/>
          <p:cNvSpPr/>
          <p:nvPr/>
        </p:nvSpPr>
        <p:spPr>
          <a:xfrm>
            <a:off x="12954000" y="3714750"/>
            <a:ext cx="2057400" cy="1790700"/>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TextBox 76"/>
          <p:cNvSpPr txBox="1"/>
          <p:nvPr/>
        </p:nvSpPr>
        <p:spPr>
          <a:xfrm>
            <a:off x="13030200" y="3790950"/>
            <a:ext cx="1905000" cy="152400"/>
          </a:xfrm>
          <a:prstGeom prst="rect">
            <a:avLst/>
          </a:prstGeom>
          <a:noFill/>
        </p:spPr>
        <p:txBody>
          <a:bodyPr wrap="square" lIns="0" rIns="0" tIns="0" bIns="0" anchor="ctr">
            <a:spAutoFit/>
          </a:bodyPr>
          <a:lstStyle/>
          <a:p>
            <a:pPr algn="l">
              <a:lnSpc>
                <a:spcPct val="120000"/>
              </a:lnSpc>
            </a:pPr>
            <a:r>
              <a:rPr sz="819" b="0" i="0">
                <a:solidFill>
                  <a:srgbClr val="5B6E94"/>
                </a:solidFill>
                <a:latin typeface="Times New Roman"/>
              </a:rPr>
              <a:t>R2·C4</a:t>
            </a:r>
          </a:p>
        </p:txBody>
      </p:sp>
      <p:sp>
        <p:nvSpPr>
          <p:cNvPr id="78" name="TextBox 77"/>
          <p:cNvSpPr txBox="1"/>
          <p:nvPr/>
        </p:nvSpPr>
        <p:spPr>
          <a:xfrm>
            <a:off x="13030200" y="3924300"/>
            <a:ext cx="1905000" cy="247650"/>
          </a:xfrm>
          <a:prstGeom prst="rect">
            <a:avLst/>
          </a:prstGeom>
          <a:noFill/>
        </p:spPr>
        <p:txBody>
          <a:bodyPr wrap="square" lIns="0" rIns="0" tIns="0" bIns="0" anchor="ctr">
            <a:spAutoFit/>
          </a:bodyPr>
          <a:lstStyle/>
          <a:p>
            <a:pPr algn="l">
              <a:lnSpc>
                <a:spcPct val="120000"/>
              </a:lnSpc>
            </a:pPr>
            <a:r>
              <a:rPr sz="1420" b="1" i="0">
                <a:solidFill>
                  <a:srgbClr val="1A2B4C"/>
                </a:solidFill>
                <a:latin typeface="Times New Roman"/>
              </a:rPr>
              <a:t>Hyper-arid</a:t>
            </a:r>
          </a:p>
        </p:txBody>
      </p:sp>
      <p:sp>
        <p:nvSpPr>
          <p:cNvPr id="79" name="TextBox 78"/>
          <p:cNvSpPr txBox="1"/>
          <p:nvPr/>
        </p:nvSpPr>
        <p:spPr>
          <a:xfrm>
            <a:off x="13030200" y="4191000"/>
            <a:ext cx="1905000" cy="335160"/>
          </a:xfrm>
          <a:prstGeom prst="rect">
            <a:avLst/>
          </a:prstGeom>
          <a:noFill/>
        </p:spPr>
        <p:txBody>
          <a:bodyPr wrap="square" lIns="0" rIns="0" tIns="0" bIns="0" anchor="t">
            <a:spAutoFit/>
          </a:bodyPr>
          <a:lstStyle/>
          <a:p>
            <a:pPr algn="l">
              <a:lnSpc>
                <a:spcPct val="130000"/>
              </a:lnSpc>
            </a:pPr>
            <a:r>
              <a:rPr sz="900" b="0" i="0">
                <a:solidFill>
                  <a:srgbClr val="1A2B4C"/>
                </a:solidFill>
                <a:latin typeface="Times New Roman"/>
              </a:rPr>
              <a:t>&lt;100 mm annual; convective dust storms</a:t>
            </a:r>
          </a:p>
        </p:txBody>
      </p:sp>
      <p:sp>
        <p:nvSpPr>
          <p:cNvPr id="80" name="Rectangle 79"/>
          <p:cNvSpPr/>
          <p:nvPr/>
        </p:nvSpPr>
        <p:spPr>
          <a:xfrm>
            <a:off x="15087600" y="3714750"/>
            <a:ext cx="2057400" cy="1790700"/>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5163800" y="3790950"/>
            <a:ext cx="1905000" cy="152400"/>
          </a:xfrm>
          <a:prstGeom prst="rect">
            <a:avLst/>
          </a:prstGeom>
          <a:noFill/>
        </p:spPr>
        <p:txBody>
          <a:bodyPr wrap="square" lIns="0" rIns="0" tIns="0" bIns="0" anchor="ctr">
            <a:spAutoFit/>
          </a:bodyPr>
          <a:lstStyle/>
          <a:p>
            <a:pPr algn="l">
              <a:lnSpc>
                <a:spcPct val="120000"/>
              </a:lnSpc>
            </a:pPr>
            <a:r>
              <a:rPr sz="819" b="0" i="0">
                <a:solidFill>
                  <a:srgbClr val="9FB0CC"/>
                </a:solidFill>
                <a:latin typeface="Times New Roman"/>
              </a:rPr>
              <a:t>R2·C5</a:t>
            </a:r>
          </a:p>
        </p:txBody>
      </p:sp>
      <p:sp>
        <p:nvSpPr>
          <p:cNvPr id="82" name="TextBox 81"/>
          <p:cNvSpPr txBox="1"/>
          <p:nvPr/>
        </p:nvSpPr>
        <p:spPr>
          <a:xfrm>
            <a:off x="15163800" y="3924300"/>
            <a:ext cx="1905000" cy="247650"/>
          </a:xfrm>
          <a:prstGeom prst="rect">
            <a:avLst/>
          </a:prstGeom>
          <a:noFill/>
        </p:spPr>
        <p:txBody>
          <a:bodyPr wrap="square" lIns="0" rIns="0" tIns="0" bIns="0" anchor="ctr">
            <a:spAutoFit/>
          </a:bodyPr>
          <a:lstStyle/>
          <a:p>
            <a:pPr algn="l">
              <a:lnSpc>
                <a:spcPct val="120000"/>
              </a:lnSpc>
            </a:pPr>
            <a:r>
              <a:rPr sz="1420" b="1" i="0">
                <a:solidFill>
                  <a:srgbClr val="FFFFFF"/>
                </a:solidFill>
                <a:latin typeface="Times New Roman"/>
              </a:rPr>
              <a:t>Westerlies</a:t>
            </a:r>
          </a:p>
        </p:txBody>
      </p:sp>
      <p:sp>
        <p:nvSpPr>
          <p:cNvPr id="83" name="TextBox 82"/>
          <p:cNvSpPr txBox="1"/>
          <p:nvPr/>
        </p:nvSpPr>
        <p:spPr>
          <a:xfrm>
            <a:off x="15163800" y="4191000"/>
            <a:ext cx="1905000" cy="335160"/>
          </a:xfrm>
          <a:prstGeom prst="rect">
            <a:avLst/>
          </a:prstGeom>
          <a:noFill/>
        </p:spPr>
        <p:txBody>
          <a:bodyPr wrap="square" lIns="0" rIns="0" tIns="0" bIns="0" anchor="t">
            <a:spAutoFit/>
          </a:bodyPr>
          <a:lstStyle/>
          <a:p>
            <a:pPr algn="l">
              <a:lnSpc>
                <a:spcPct val="130000"/>
              </a:lnSpc>
            </a:pPr>
            <a:r>
              <a:rPr sz="900" b="0" i="0">
                <a:solidFill>
                  <a:srgbClr val="FFFFFF"/>
                </a:solidFill>
                <a:latin typeface="Times New Roman"/>
              </a:rPr>
              <a:t>Dec–Mar disturbances carry snow to the Hindu Kush</a:t>
            </a:r>
          </a:p>
        </p:txBody>
      </p:sp>
      <p:sp>
        <p:nvSpPr>
          <p:cNvPr id="84" name="Rectangle 83"/>
          <p:cNvSpPr/>
          <p:nvPr/>
        </p:nvSpPr>
        <p:spPr>
          <a:xfrm>
            <a:off x="5715000" y="5638800"/>
            <a:ext cx="762000" cy="1790700"/>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5994201" y="6262687"/>
            <a:ext cx="203596" cy="180975"/>
          </a:xfrm>
          <a:prstGeom prst="rect">
            <a:avLst/>
          </a:prstGeom>
          <a:noFill/>
        </p:spPr>
        <p:txBody>
          <a:bodyPr wrap="square" lIns="0" rIns="0" tIns="0" bIns="0" anchor="ctr">
            <a:spAutoFit/>
          </a:bodyPr>
          <a:lstStyle/>
          <a:p>
            <a:pPr algn="l">
              <a:lnSpc>
                <a:spcPct val="120000"/>
              </a:lnSpc>
            </a:pPr>
            <a:r>
              <a:rPr sz="900" b="0" i="0" spc="126">
                <a:solidFill>
                  <a:srgbClr val="FFFFFF"/>
                </a:solidFill>
                <a:latin typeface="Times New Roman"/>
              </a:rPr>
              <a:t>R3</a:t>
            </a:r>
          </a:p>
        </p:txBody>
      </p:sp>
      <p:sp>
        <p:nvSpPr>
          <p:cNvPr id="86" name="TextBox 85"/>
          <p:cNvSpPr txBox="1"/>
          <p:nvPr/>
        </p:nvSpPr>
        <p:spPr>
          <a:xfrm>
            <a:off x="5678685" y="6443662"/>
            <a:ext cx="834628" cy="361950"/>
          </a:xfrm>
          <a:prstGeom prst="rect">
            <a:avLst/>
          </a:prstGeom>
          <a:noFill/>
        </p:spPr>
        <p:txBody>
          <a:bodyPr wrap="square" lIns="0" rIns="0" tIns="0" bIns="0" anchor="t">
            <a:spAutoFit/>
          </a:bodyPr>
          <a:lstStyle/>
          <a:p>
            <a:pPr algn="l">
              <a:lnSpc>
                <a:spcPct val="120000"/>
              </a:lnSpc>
            </a:pPr>
            <a:r>
              <a:rPr sz="1120" b="1" i="0">
                <a:solidFill>
                  <a:srgbClr val="FFFFFF"/>
                </a:solidFill>
                <a:latin typeface="Times New Roman"/>
              </a:rPr>
              <a:t>Hydrosphere</a:t>
            </a:r>
          </a:p>
          <a:p>
            <a:pPr algn="l">
              <a:lnSpc>
                <a:spcPct val="120000"/>
              </a:lnSpc>
            </a:pPr>
            <a:r>
              <a:rPr sz="1120" b="1" i="0">
                <a:solidFill>
                  <a:srgbClr val="FFFFFF"/>
                </a:solidFill>
                <a:latin typeface="Times New Roman"/>
              </a:rPr>
              <a:t>&amp; Crops</a:t>
            </a:r>
          </a:p>
        </p:txBody>
      </p:sp>
      <p:sp>
        <p:nvSpPr>
          <p:cNvPr id="87" name="Rectangle 86"/>
          <p:cNvSpPr/>
          <p:nvPr/>
        </p:nvSpPr>
        <p:spPr>
          <a:xfrm>
            <a:off x="6553200" y="5638800"/>
            <a:ext cx="2057400" cy="1790700"/>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6629400" y="5715000"/>
            <a:ext cx="1905000" cy="152400"/>
          </a:xfrm>
          <a:prstGeom prst="rect">
            <a:avLst/>
          </a:prstGeom>
          <a:noFill/>
        </p:spPr>
        <p:txBody>
          <a:bodyPr wrap="square" lIns="0" rIns="0" tIns="0" bIns="0" anchor="ctr">
            <a:spAutoFit/>
          </a:bodyPr>
          <a:lstStyle/>
          <a:p>
            <a:pPr algn="l">
              <a:lnSpc>
                <a:spcPct val="120000"/>
              </a:lnSpc>
            </a:pPr>
            <a:r>
              <a:rPr sz="819" b="0" i="0">
                <a:solidFill>
                  <a:srgbClr val="5B6E94"/>
                </a:solidFill>
                <a:latin typeface="Times New Roman"/>
              </a:rPr>
              <a:t>R3·C1</a:t>
            </a:r>
          </a:p>
        </p:txBody>
      </p:sp>
      <p:sp>
        <p:nvSpPr>
          <p:cNvPr id="89" name="TextBox 88"/>
          <p:cNvSpPr txBox="1"/>
          <p:nvPr/>
        </p:nvSpPr>
        <p:spPr>
          <a:xfrm>
            <a:off x="6629400" y="5848350"/>
            <a:ext cx="1905000" cy="247650"/>
          </a:xfrm>
          <a:prstGeom prst="rect">
            <a:avLst/>
          </a:prstGeom>
          <a:noFill/>
        </p:spPr>
        <p:txBody>
          <a:bodyPr wrap="square" lIns="0" rIns="0" tIns="0" bIns="0" anchor="ctr">
            <a:spAutoFit/>
          </a:bodyPr>
          <a:lstStyle/>
          <a:p>
            <a:pPr algn="l">
              <a:lnSpc>
                <a:spcPct val="120000"/>
              </a:lnSpc>
            </a:pPr>
            <a:r>
              <a:rPr sz="1420" b="1" i="0">
                <a:solidFill>
                  <a:srgbClr val="1A2B4C"/>
                </a:solidFill>
                <a:latin typeface="Times New Roman"/>
              </a:rPr>
              <a:t>Terrace wheat</a:t>
            </a:r>
          </a:p>
        </p:txBody>
      </p:sp>
      <p:sp>
        <p:nvSpPr>
          <p:cNvPr id="90" name="TextBox 89"/>
          <p:cNvSpPr txBox="1"/>
          <p:nvPr/>
        </p:nvSpPr>
        <p:spPr>
          <a:xfrm>
            <a:off x="6629400" y="6115050"/>
            <a:ext cx="1905000" cy="335160"/>
          </a:xfrm>
          <a:prstGeom prst="rect">
            <a:avLst/>
          </a:prstGeom>
          <a:noFill/>
        </p:spPr>
        <p:txBody>
          <a:bodyPr wrap="square" lIns="0" rIns="0" tIns="0" bIns="0" anchor="t">
            <a:spAutoFit/>
          </a:bodyPr>
          <a:lstStyle/>
          <a:p>
            <a:pPr algn="l">
              <a:lnSpc>
                <a:spcPct val="130000"/>
              </a:lnSpc>
            </a:pPr>
            <a:r>
              <a:rPr sz="900" b="0" i="0">
                <a:solidFill>
                  <a:srgbClr val="1A2B4C"/>
                </a:solidFill>
                <a:latin typeface="Times New Roman"/>
              </a:rPr>
              <a:t>Rain-fed rabi on mountain benches, NWFP</a:t>
            </a:r>
          </a:p>
        </p:txBody>
      </p:sp>
      <p:sp>
        <p:nvSpPr>
          <p:cNvPr id="91" name="Rectangle 90"/>
          <p:cNvSpPr/>
          <p:nvPr/>
        </p:nvSpPr>
        <p:spPr>
          <a:xfrm>
            <a:off x="8686800" y="5638800"/>
            <a:ext cx="2057400" cy="1790700"/>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TextBox 91"/>
          <p:cNvSpPr txBox="1"/>
          <p:nvPr/>
        </p:nvSpPr>
        <p:spPr>
          <a:xfrm>
            <a:off x="8763000" y="5715000"/>
            <a:ext cx="1905000" cy="152400"/>
          </a:xfrm>
          <a:prstGeom prst="rect">
            <a:avLst/>
          </a:prstGeom>
          <a:noFill/>
        </p:spPr>
        <p:txBody>
          <a:bodyPr wrap="square" lIns="0" rIns="0" tIns="0" bIns="0" anchor="ctr">
            <a:spAutoFit/>
          </a:bodyPr>
          <a:lstStyle/>
          <a:p>
            <a:pPr algn="l">
              <a:lnSpc>
                <a:spcPct val="120000"/>
              </a:lnSpc>
            </a:pPr>
            <a:r>
              <a:rPr sz="819" b="0" i="0">
                <a:solidFill>
                  <a:srgbClr val="9FB0CC"/>
                </a:solidFill>
                <a:latin typeface="Times New Roman"/>
              </a:rPr>
              <a:t>R3·C2</a:t>
            </a:r>
          </a:p>
        </p:txBody>
      </p:sp>
      <p:sp>
        <p:nvSpPr>
          <p:cNvPr id="93" name="TextBox 92"/>
          <p:cNvSpPr txBox="1"/>
          <p:nvPr/>
        </p:nvSpPr>
        <p:spPr>
          <a:xfrm>
            <a:off x="8763000" y="5848350"/>
            <a:ext cx="1905000" cy="247650"/>
          </a:xfrm>
          <a:prstGeom prst="rect">
            <a:avLst/>
          </a:prstGeom>
          <a:noFill/>
        </p:spPr>
        <p:txBody>
          <a:bodyPr wrap="square" lIns="0" rIns="0" tIns="0" bIns="0" anchor="ctr">
            <a:spAutoFit/>
          </a:bodyPr>
          <a:lstStyle/>
          <a:p>
            <a:pPr algn="l">
              <a:lnSpc>
                <a:spcPct val="120000"/>
              </a:lnSpc>
            </a:pPr>
            <a:r>
              <a:rPr sz="1420" b="1" i="0">
                <a:solidFill>
                  <a:srgbClr val="FFFFFF"/>
                </a:solidFill>
                <a:latin typeface="Times New Roman"/>
              </a:rPr>
              <a:t>Canal colonies</a:t>
            </a:r>
          </a:p>
        </p:txBody>
      </p:sp>
      <p:sp>
        <p:nvSpPr>
          <p:cNvPr id="94" name="TextBox 93"/>
          <p:cNvSpPr txBox="1"/>
          <p:nvPr/>
        </p:nvSpPr>
        <p:spPr>
          <a:xfrm>
            <a:off x="8763000" y="6115050"/>
            <a:ext cx="1905000" cy="335160"/>
          </a:xfrm>
          <a:prstGeom prst="rect">
            <a:avLst/>
          </a:prstGeom>
          <a:noFill/>
        </p:spPr>
        <p:txBody>
          <a:bodyPr wrap="square" lIns="0" rIns="0" tIns="0" bIns="0" anchor="t">
            <a:spAutoFit/>
          </a:bodyPr>
          <a:lstStyle/>
          <a:p>
            <a:pPr algn="l">
              <a:lnSpc>
                <a:spcPct val="130000"/>
              </a:lnSpc>
            </a:pPr>
            <a:r>
              <a:rPr sz="900" b="0" i="0">
                <a:solidFill>
                  <a:srgbClr val="FFFFFF"/>
                </a:solidFill>
                <a:latin typeface="Times New Roman"/>
              </a:rPr>
              <a:t>Cotton–wheat rotation under Indus Basin Irrigation System</a:t>
            </a:r>
          </a:p>
        </p:txBody>
      </p:sp>
      <p:sp>
        <p:nvSpPr>
          <p:cNvPr id="95" name="Rectangle 94"/>
          <p:cNvSpPr/>
          <p:nvPr/>
        </p:nvSpPr>
        <p:spPr>
          <a:xfrm>
            <a:off x="10820400" y="5638800"/>
            <a:ext cx="2057400" cy="1790700"/>
          </a:xfrm>
          <a:prstGeom prst="rect">
            <a:avLst/>
          </a:prstGeom>
          <a:solidFill>
            <a:srgbClr val="7E8D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TextBox 95"/>
          <p:cNvSpPr txBox="1"/>
          <p:nvPr/>
        </p:nvSpPr>
        <p:spPr>
          <a:xfrm>
            <a:off x="10896600" y="5715000"/>
            <a:ext cx="1905000" cy="152400"/>
          </a:xfrm>
          <a:prstGeom prst="rect">
            <a:avLst/>
          </a:prstGeom>
          <a:noFill/>
        </p:spPr>
        <p:txBody>
          <a:bodyPr wrap="square" lIns="0" rIns="0" tIns="0" bIns="0" anchor="ctr">
            <a:spAutoFit/>
          </a:bodyPr>
          <a:lstStyle/>
          <a:p>
            <a:pPr algn="l">
              <a:lnSpc>
                <a:spcPct val="120000"/>
              </a:lnSpc>
            </a:pPr>
            <a:r>
              <a:rPr sz="819" b="0" i="0">
                <a:solidFill>
                  <a:srgbClr val="E2E7F0"/>
                </a:solidFill>
                <a:latin typeface="Times New Roman"/>
              </a:rPr>
              <a:t>R3·C3</a:t>
            </a:r>
          </a:p>
        </p:txBody>
      </p:sp>
      <p:sp>
        <p:nvSpPr>
          <p:cNvPr id="97" name="TextBox 96"/>
          <p:cNvSpPr txBox="1"/>
          <p:nvPr/>
        </p:nvSpPr>
        <p:spPr>
          <a:xfrm>
            <a:off x="10896600" y="5848350"/>
            <a:ext cx="1905000" cy="247650"/>
          </a:xfrm>
          <a:prstGeom prst="rect">
            <a:avLst/>
          </a:prstGeom>
          <a:noFill/>
        </p:spPr>
        <p:txBody>
          <a:bodyPr wrap="square" lIns="0" rIns="0" tIns="0" bIns="0" anchor="ctr">
            <a:spAutoFit/>
          </a:bodyPr>
          <a:lstStyle/>
          <a:p>
            <a:pPr algn="l">
              <a:lnSpc>
                <a:spcPct val="120000"/>
              </a:lnSpc>
            </a:pPr>
            <a:r>
              <a:rPr sz="1420" b="1" i="0">
                <a:solidFill>
                  <a:srgbClr val="FFFFFF"/>
                </a:solidFill>
                <a:latin typeface="Times New Roman"/>
              </a:rPr>
              <a:t>Rice delta</a:t>
            </a:r>
          </a:p>
        </p:txBody>
      </p:sp>
      <p:sp>
        <p:nvSpPr>
          <p:cNvPr id="98" name="TextBox 97"/>
          <p:cNvSpPr txBox="1"/>
          <p:nvPr/>
        </p:nvSpPr>
        <p:spPr>
          <a:xfrm>
            <a:off x="10896600" y="6115050"/>
            <a:ext cx="1905000" cy="335160"/>
          </a:xfrm>
          <a:prstGeom prst="rect">
            <a:avLst/>
          </a:prstGeom>
          <a:noFill/>
        </p:spPr>
        <p:txBody>
          <a:bodyPr wrap="square" lIns="0" rIns="0" tIns="0" bIns="0" anchor="t">
            <a:spAutoFit/>
          </a:bodyPr>
          <a:lstStyle/>
          <a:p>
            <a:pPr algn="l">
              <a:lnSpc>
                <a:spcPct val="130000"/>
              </a:lnSpc>
            </a:pPr>
            <a:r>
              <a:rPr sz="900" b="0" i="0">
                <a:solidFill>
                  <a:srgbClr val="FFFFFF"/>
                </a:solidFill>
                <a:latin typeface="Times New Roman"/>
              </a:rPr>
              <a:t>Sindh’s rice belt &amp; saline-tolerant varieties</a:t>
            </a:r>
          </a:p>
        </p:txBody>
      </p:sp>
      <p:sp>
        <p:nvSpPr>
          <p:cNvPr id="99" name="Rectangle 98"/>
          <p:cNvSpPr/>
          <p:nvPr/>
        </p:nvSpPr>
        <p:spPr>
          <a:xfrm>
            <a:off x="12954000" y="5638800"/>
            <a:ext cx="2057400" cy="17907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Rectangle 99"/>
          <p:cNvSpPr/>
          <p:nvPr/>
        </p:nvSpPr>
        <p:spPr>
          <a:xfrm>
            <a:off x="12954000" y="5638800"/>
            <a:ext cx="2057400" cy="9525"/>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Rectangle 100"/>
          <p:cNvSpPr/>
          <p:nvPr/>
        </p:nvSpPr>
        <p:spPr>
          <a:xfrm>
            <a:off x="15001875" y="5638800"/>
            <a:ext cx="9525" cy="1790700"/>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Rectangle 101"/>
          <p:cNvSpPr/>
          <p:nvPr/>
        </p:nvSpPr>
        <p:spPr>
          <a:xfrm>
            <a:off x="12954000" y="7419975"/>
            <a:ext cx="2057400" cy="9525"/>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Rectangle 102"/>
          <p:cNvSpPr/>
          <p:nvPr/>
        </p:nvSpPr>
        <p:spPr>
          <a:xfrm>
            <a:off x="12954000" y="5638800"/>
            <a:ext cx="9525" cy="1790700"/>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TextBox 103"/>
          <p:cNvSpPr txBox="1"/>
          <p:nvPr/>
        </p:nvSpPr>
        <p:spPr>
          <a:xfrm>
            <a:off x="13039725" y="5724525"/>
            <a:ext cx="1885950" cy="152400"/>
          </a:xfrm>
          <a:prstGeom prst="rect">
            <a:avLst/>
          </a:prstGeom>
          <a:noFill/>
        </p:spPr>
        <p:txBody>
          <a:bodyPr wrap="square" lIns="0" rIns="0" tIns="0" bIns="0" anchor="ctr">
            <a:spAutoFit/>
          </a:bodyPr>
          <a:lstStyle/>
          <a:p>
            <a:pPr algn="l">
              <a:lnSpc>
                <a:spcPct val="120000"/>
              </a:lnSpc>
            </a:pPr>
            <a:r>
              <a:rPr sz="819" b="0" i="0">
                <a:solidFill>
                  <a:srgbClr val="C81D25"/>
                </a:solidFill>
                <a:latin typeface="Times New Roman"/>
              </a:rPr>
              <a:t>R3·C4</a:t>
            </a:r>
          </a:p>
        </p:txBody>
      </p:sp>
      <p:sp>
        <p:nvSpPr>
          <p:cNvPr id="105" name="TextBox 104"/>
          <p:cNvSpPr txBox="1"/>
          <p:nvPr/>
        </p:nvSpPr>
        <p:spPr>
          <a:xfrm>
            <a:off x="13039725" y="5857875"/>
            <a:ext cx="1885950" cy="247650"/>
          </a:xfrm>
          <a:prstGeom prst="rect">
            <a:avLst/>
          </a:prstGeom>
          <a:noFill/>
        </p:spPr>
        <p:txBody>
          <a:bodyPr wrap="square" lIns="0" rIns="0" tIns="0" bIns="0" anchor="ctr">
            <a:spAutoFit/>
          </a:bodyPr>
          <a:lstStyle/>
          <a:p>
            <a:pPr algn="l">
              <a:lnSpc>
                <a:spcPct val="120000"/>
              </a:lnSpc>
            </a:pPr>
            <a:r>
              <a:rPr sz="1420" b="1" i="0">
                <a:solidFill>
                  <a:srgbClr val="C81D25"/>
                </a:solidFill>
                <a:latin typeface="Times New Roman"/>
              </a:rPr>
              <a:t>Sparse cropping</a:t>
            </a:r>
          </a:p>
        </p:txBody>
      </p:sp>
      <p:sp>
        <p:nvSpPr>
          <p:cNvPr id="106" name="TextBox 105"/>
          <p:cNvSpPr txBox="1"/>
          <p:nvPr/>
        </p:nvSpPr>
        <p:spPr>
          <a:xfrm>
            <a:off x="13039725" y="6124575"/>
            <a:ext cx="1885950" cy="335160"/>
          </a:xfrm>
          <a:prstGeom prst="rect">
            <a:avLst/>
          </a:prstGeom>
          <a:noFill/>
        </p:spPr>
        <p:txBody>
          <a:bodyPr wrap="square" lIns="0" rIns="0" tIns="0" bIns="0" anchor="t">
            <a:spAutoFit/>
          </a:bodyPr>
          <a:lstStyle/>
          <a:p>
            <a:pPr algn="l">
              <a:lnSpc>
                <a:spcPct val="130000"/>
              </a:lnSpc>
            </a:pPr>
            <a:r>
              <a:rPr sz="900" b="0" i="1">
                <a:solidFill>
                  <a:srgbClr val="C81D25"/>
                </a:solidFill>
                <a:latin typeface="Times New Roman"/>
              </a:rPr>
              <a:t>Open gap: drought-tolerant crops under climate stress</a:t>
            </a:r>
          </a:p>
        </p:txBody>
      </p:sp>
      <p:sp>
        <p:nvSpPr>
          <p:cNvPr id="107" name="Rectangle 106"/>
          <p:cNvSpPr/>
          <p:nvPr/>
        </p:nvSpPr>
        <p:spPr>
          <a:xfrm>
            <a:off x="15087600" y="5638800"/>
            <a:ext cx="2057400" cy="1790700"/>
          </a:xfrm>
          <a:prstGeom prst="rect">
            <a:avLst/>
          </a:prstGeom>
          <a:solidFill>
            <a:srgbClr val="7E8DA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TextBox 107"/>
          <p:cNvSpPr txBox="1"/>
          <p:nvPr/>
        </p:nvSpPr>
        <p:spPr>
          <a:xfrm>
            <a:off x="15163800" y="5715000"/>
            <a:ext cx="1905000" cy="152400"/>
          </a:xfrm>
          <a:prstGeom prst="rect">
            <a:avLst/>
          </a:prstGeom>
          <a:noFill/>
        </p:spPr>
        <p:txBody>
          <a:bodyPr wrap="square" lIns="0" rIns="0" tIns="0" bIns="0" anchor="ctr">
            <a:spAutoFit/>
          </a:bodyPr>
          <a:lstStyle/>
          <a:p>
            <a:pPr algn="l">
              <a:lnSpc>
                <a:spcPct val="120000"/>
              </a:lnSpc>
            </a:pPr>
            <a:r>
              <a:rPr sz="819" b="0" i="0">
                <a:solidFill>
                  <a:srgbClr val="E2E7F0"/>
                </a:solidFill>
                <a:latin typeface="Times New Roman"/>
              </a:rPr>
              <a:t>R3·C5</a:t>
            </a:r>
          </a:p>
        </p:txBody>
      </p:sp>
      <p:sp>
        <p:nvSpPr>
          <p:cNvPr id="109" name="TextBox 108"/>
          <p:cNvSpPr txBox="1"/>
          <p:nvPr/>
        </p:nvSpPr>
        <p:spPr>
          <a:xfrm>
            <a:off x="15163800" y="5848350"/>
            <a:ext cx="1905000" cy="247650"/>
          </a:xfrm>
          <a:prstGeom prst="rect">
            <a:avLst/>
          </a:prstGeom>
          <a:noFill/>
        </p:spPr>
        <p:txBody>
          <a:bodyPr wrap="square" lIns="0" rIns="0" tIns="0" bIns="0" anchor="ctr">
            <a:spAutoFit/>
          </a:bodyPr>
          <a:lstStyle/>
          <a:p>
            <a:pPr algn="l">
              <a:lnSpc>
                <a:spcPct val="120000"/>
              </a:lnSpc>
            </a:pPr>
            <a:r>
              <a:rPr sz="1420" b="1" i="0">
                <a:solidFill>
                  <a:srgbClr val="FFFFFF"/>
                </a:solidFill>
                <a:latin typeface="Times New Roman"/>
              </a:rPr>
              <a:t>Stone fruit</a:t>
            </a:r>
          </a:p>
        </p:txBody>
      </p:sp>
      <p:sp>
        <p:nvSpPr>
          <p:cNvPr id="110" name="TextBox 109"/>
          <p:cNvSpPr txBox="1"/>
          <p:nvPr/>
        </p:nvSpPr>
        <p:spPr>
          <a:xfrm>
            <a:off x="15163800" y="6115050"/>
            <a:ext cx="1905000" cy="335160"/>
          </a:xfrm>
          <a:prstGeom prst="rect">
            <a:avLst/>
          </a:prstGeom>
          <a:noFill/>
        </p:spPr>
        <p:txBody>
          <a:bodyPr wrap="square" lIns="0" rIns="0" tIns="0" bIns="0" anchor="t">
            <a:spAutoFit/>
          </a:bodyPr>
          <a:lstStyle/>
          <a:p>
            <a:pPr algn="l">
              <a:lnSpc>
                <a:spcPct val="130000"/>
              </a:lnSpc>
            </a:pPr>
            <a:r>
              <a:rPr sz="900" b="0" i="0">
                <a:solidFill>
                  <a:srgbClr val="FFFFFF"/>
                </a:solidFill>
                <a:latin typeface="Times New Roman"/>
              </a:rPr>
              <a:t>Apricots, apples, walnuts; valley agriculture in Chitral &amp; Hunza</a:t>
            </a:r>
          </a:p>
        </p:txBody>
      </p:sp>
      <p:sp>
        <p:nvSpPr>
          <p:cNvPr id="111" name="TextBox 110"/>
          <p:cNvSpPr txBox="1"/>
          <p:nvPr/>
        </p:nvSpPr>
        <p:spPr>
          <a:xfrm>
            <a:off x="1123950" y="9696450"/>
            <a:ext cx="16040100" cy="323850"/>
          </a:xfrm>
          <a:prstGeom prst="rect">
            <a:avLst/>
          </a:prstGeom>
          <a:noFill/>
        </p:spPr>
        <p:txBody>
          <a:bodyPr wrap="square" lIns="0" rIns="0" tIns="0" bIns="0" anchor="ctr">
            <a:spAutoFit/>
          </a:bodyPr>
          <a:lstStyle/>
          <a:p>
            <a:pPr algn="l">
              <a:lnSpc>
                <a:spcPct val="120000"/>
              </a:lnSpc>
            </a:pPr>
            <a:r>
              <a:rPr sz="1200" b="0" i="0">
                <a:solidFill>
                  <a:srgbClr val="000000"/>
                </a:solidFill>
                <a:latin typeface="Times New Roman"/>
              </a:rPr>
              <a:t>Sources: PMD rainfall normals (1991–2020), WAPDA Indus System data, FAO agro-ecological zoning. Full citations on slide 22.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00" cy="685800"/>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43000" y="5334000"/>
            <a:ext cx="10344150" cy="17145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1143000" y="5334000"/>
            <a:ext cx="57150" cy="1714500"/>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791950" y="1009650"/>
            <a:ext cx="5372100" cy="55245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Image: Cross-section diagram of Pakistan’s physiographic provinces — from the Arabian Sea coast, across the Indus plain, the Salt Range, Potwar Plateau, to the Karakoram/Hindu Kush.</a:t>
            </a:r>
          </a:p>
        </p:txBody>
      </p:sp>
      <p:sp>
        <p:nvSpPr>
          <p:cNvPr id="7" name="TextBox 6"/>
          <p:cNvSpPr txBox="1"/>
          <p:nvPr/>
        </p:nvSpPr>
        <p:spPr>
          <a:xfrm>
            <a:off x="1123950" y="190500"/>
            <a:ext cx="11468100" cy="209550"/>
          </a:xfrm>
          <a:prstGeom prst="rect">
            <a:avLst/>
          </a:prstGeom>
          <a:noFill/>
        </p:spPr>
        <p:txBody>
          <a:bodyPr wrap="square" lIns="0" rIns="0" tIns="0" bIns="0" anchor="ctr">
            <a:spAutoFit/>
          </a:bodyPr>
          <a:lstStyle/>
          <a:p>
            <a:pPr algn="l">
              <a:lnSpc>
                <a:spcPct val="120000"/>
              </a:lnSpc>
            </a:pPr>
            <a:r>
              <a:rPr sz="1200" b="0" i="0">
                <a:solidFill>
                  <a:srgbClr val="FFFFFF"/>
                </a:solidFill>
                <a:latin typeface="Times New Roman"/>
              </a:rPr>
              <a:t>04 · Background · the country in numbers and physiographic regions</a:t>
            </a:r>
          </a:p>
        </p:txBody>
      </p:sp>
      <p:sp>
        <p:nvSpPr>
          <p:cNvPr id="8" name="TextBox 7"/>
          <p:cNvSpPr txBox="1"/>
          <p:nvPr/>
        </p:nvSpPr>
        <p:spPr>
          <a:xfrm>
            <a:off x="16173450" y="190500"/>
            <a:ext cx="1181100" cy="323850"/>
          </a:xfrm>
          <a:prstGeom prst="rect">
            <a:avLst/>
          </a:prstGeom>
          <a:noFill/>
        </p:spPr>
        <p:txBody>
          <a:bodyPr wrap="square" lIns="0" rIns="0" tIns="0" bIns="0" anchor="ctr">
            <a:spAutoFit/>
          </a:bodyPr>
          <a:lstStyle/>
          <a:p>
            <a:pPr algn="r">
              <a:lnSpc>
                <a:spcPct val="120000"/>
              </a:lnSpc>
            </a:pPr>
            <a:r>
              <a:rPr sz="1050" b="0" i="1">
                <a:solidFill>
                  <a:srgbClr val="C81D25"/>
                </a:solidFill>
                <a:latin typeface="Times New Roman"/>
              </a:rPr>
              <a:t>04 / 22</a:t>
            </a:r>
          </a:p>
        </p:txBody>
      </p:sp>
      <p:sp>
        <p:nvSpPr>
          <p:cNvPr id="9" name="TextBox 8"/>
          <p:cNvSpPr txBox="1"/>
          <p:nvPr/>
        </p:nvSpPr>
        <p:spPr>
          <a:xfrm>
            <a:off x="1123950" y="1009650"/>
            <a:ext cx="782984" cy="200025"/>
          </a:xfrm>
          <a:prstGeom prst="rect">
            <a:avLst/>
          </a:prstGeom>
          <a:noFill/>
        </p:spPr>
        <p:txBody>
          <a:bodyPr wrap="square" lIns="0" rIns="0" tIns="0" bIns="0" anchor="ctr">
            <a:spAutoFit/>
          </a:bodyPr>
          <a:lstStyle/>
          <a:p>
            <a:pPr algn="l">
              <a:lnSpc>
                <a:spcPct val="120000"/>
              </a:lnSpc>
            </a:pPr>
            <a:r>
              <a:rPr sz="1200" b="0" i="0">
                <a:solidFill>
                  <a:srgbClr val="000000"/>
                </a:solidFill>
                <a:latin typeface="Times New Roman"/>
              </a:rPr>
              <a:t>Background</a:t>
            </a:r>
          </a:p>
        </p:txBody>
      </p:sp>
      <p:sp>
        <p:nvSpPr>
          <p:cNvPr id="10" name="TextBox 9"/>
          <p:cNvSpPr txBox="1"/>
          <p:nvPr/>
        </p:nvSpPr>
        <p:spPr>
          <a:xfrm>
            <a:off x="1123950" y="1314450"/>
            <a:ext cx="10325100" cy="295275"/>
          </a:xfrm>
          <a:prstGeom prst="rect">
            <a:avLst/>
          </a:prstGeom>
          <a:noFill/>
        </p:spPr>
        <p:txBody>
          <a:bodyPr wrap="square" lIns="0" rIns="0" tIns="0" bIns="0" anchor="ctr">
            <a:spAutoFit/>
          </a:bodyPr>
          <a:lstStyle/>
          <a:p>
            <a:pPr algn="l">
              <a:lnSpc>
                <a:spcPct val="120000"/>
              </a:lnSpc>
            </a:pPr>
            <a:r>
              <a:rPr sz="1800" b="1" i="0">
                <a:solidFill>
                  <a:srgbClr val="000000"/>
                </a:solidFill>
                <a:latin typeface="Times New Roman"/>
              </a:rPr>
              <a:t>Pakistan at a glance: 881,913 km² of </a:t>
            </a:r>
            <a:r>
              <a:rPr sz="1800" b="1" i="1">
                <a:solidFill>
                  <a:srgbClr val="000000"/>
                </a:solidFill>
                <a:latin typeface="Times New Roman"/>
              </a:rPr>
              <a:t>extreme</a:t>
            </a:r>
            <a:r>
              <a:rPr sz="1800" b="1" i="0">
                <a:solidFill>
                  <a:srgbClr val="000000"/>
                </a:solidFill>
                <a:latin typeface="Times New Roman"/>
              </a:rPr>
              <a:t> physiography.</a:t>
            </a:r>
          </a:p>
        </p:txBody>
      </p:sp>
      <p:sp>
        <p:nvSpPr>
          <p:cNvPr id="11" name="TextBox 10"/>
          <p:cNvSpPr txBox="1"/>
          <p:nvPr/>
        </p:nvSpPr>
        <p:spPr>
          <a:xfrm>
            <a:off x="1123950" y="1761232"/>
            <a:ext cx="10325100" cy="209550"/>
          </a:xfrm>
          <a:prstGeom prst="rect">
            <a:avLst/>
          </a:prstGeom>
          <a:noFill/>
        </p:spPr>
        <p:txBody>
          <a:bodyPr wrap="square" lIns="0" rIns="0" tIns="0" bIns="0" anchor="ctr">
            <a:spAutoFit/>
          </a:bodyPr>
          <a:lstStyle/>
          <a:p>
            <a:pPr algn="l">
              <a:lnSpc>
                <a:spcPct val="120000"/>
              </a:lnSpc>
            </a:pPr>
            <a:r>
              <a:rPr sz="1200" b="0" i="1">
                <a:solidFill>
                  <a:srgbClr val="5B6E94"/>
                </a:solidFill>
                <a:latin typeface="Times New Roman"/>
              </a:rPr>
              <a:t>From the second-highest peak on Earth to a sea-level mangrove delta, almost every climate and landform class is present within a single political boundary.</a:t>
            </a:r>
          </a:p>
        </p:txBody>
      </p:sp>
      <p:sp>
        <p:nvSpPr>
          <p:cNvPr id="12" name="Rectangle 11"/>
          <p:cNvSpPr/>
          <p:nvPr/>
        </p:nvSpPr>
        <p:spPr>
          <a:xfrm>
            <a:off x="1143000" y="3143250"/>
            <a:ext cx="2457450" cy="108585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43000" y="3143250"/>
            <a:ext cx="2457450" cy="38100"/>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295400" y="3333750"/>
            <a:ext cx="2152650" cy="190500"/>
          </a:xfrm>
          <a:prstGeom prst="rect">
            <a:avLst/>
          </a:prstGeom>
          <a:noFill/>
        </p:spPr>
        <p:txBody>
          <a:bodyPr wrap="square" lIns="0" rIns="0" tIns="0" bIns="0" anchor="ctr">
            <a:spAutoFit/>
          </a:bodyPr>
          <a:lstStyle/>
          <a:p>
            <a:pPr algn="l">
              <a:lnSpc>
                <a:spcPct val="120000"/>
              </a:lnSpc>
            </a:pPr>
            <a:r>
              <a:rPr sz="1050" b="0" i="1">
                <a:solidFill>
                  <a:srgbClr val="5B6E94"/>
                </a:solidFill>
                <a:latin typeface="Times New Roman"/>
              </a:rPr>
              <a:t>Area</a:t>
            </a:r>
          </a:p>
        </p:txBody>
      </p:sp>
      <p:sp>
        <p:nvSpPr>
          <p:cNvPr id="15" name="TextBox 14"/>
          <p:cNvSpPr txBox="1"/>
          <p:nvPr/>
        </p:nvSpPr>
        <p:spPr>
          <a:xfrm>
            <a:off x="1295400" y="3524250"/>
            <a:ext cx="2152650" cy="361950"/>
          </a:xfrm>
          <a:prstGeom prst="rect">
            <a:avLst/>
          </a:prstGeom>
          <a:noFill/>
        </p:spPr>
        <p:txBody>
          <a:bodyPr wrap="square" lIns="0" rIns="0" tIns="0" bIns="0" anchor="ctr">
            <a:spAutoFit/>
          </a:bodyPr>
          <a:lstStyle/>
          <a:p>
            <a:pPr algn="l">
              <a:lnSpc>
                <a:spcPct val="120000"/>
              </a:lnSpc>
            </a:pPr>
            <a:r>
              <a:rPr sz="2250" b="1" i="0">
                <a:solidFill>
                  <a:srgbClr val="1A2B4C"/>
                </a:solidFill>
                <a:latin typeface="Times New Roman"/>
              </a:rPr>
              <a:t>881,913 km²</a:t>
            </a:r>
          </a:p>
        </p:txBody>
      </p:sp>
      <p:sp>
        <p:nvSpPr>
          <p:cNvPr id="16" name="TextBox 15"/>
          <p:cNvSpPr txBox="1"/>
          <p:nvPr/>
        </p:nvSpPr>
        <p:spPr>
          <a:xfrm>
            <a:off x="1295400" y="3886200"/>
            <a:ext cx="2152650" cy="190500"/>
          </a:xfrm>
          <a:prstGeom prst="rect">
            <a:avLst/>
          </a:prstGeom>
          <a:noFill/>
        </p:spPr>
        <p:txBody>
          <a:bodyPr wrap="square" lIns="0" rIns="0" tIns="0" bIns="0" anchor="ctr">
            <a:spAutoFit/>
          </a:bodyPr>
          <a:lstStyle/>
          <a:p>
            <a:pPr algn="l">
              <a:lnSpc>
                <a:spcPct val="120000"/>
              </a:lnSpc>
            </a:pPr>
            <a:r>
              <a:rPr sz="980" b="0" i="0">
                <a:solidFill>
                  <a:srgbClr val="5B6E94"/>
                </a:solidFill>
                <a:latin typeface="Times New Roman"/>
              </a:rPr>
              <a:t>33rd largest globally</a:t>
            </a:r>
          </a:p>
        </p:txBody>
      </p:sp>
      <p:sp>
        <p:nvSpPr>
          <p:cNvPr id="17" name="Rectangle 16"/>
          <p:cNvSpPr/>
          <p:nvPr/>
        </p:nvSpPr>
        <p:spPr>
          <a:xfrm>
            <a:off x="3752850" y="3143250"/>
            <a:ext cx="2457450" cy="108585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752850" y="3143250"/>
            <a:ext cx="2457450" cy="38100"/>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905250" y="3333750"/>
            <a:ext cx="2152650" cy="190500"/>
          </a:xfrm>
          <a:prstGeom prst="rect">
            <a:avLst/>
          </a:prstGeom>
          <a:noFill/>
        </p:spPr>
        <p:txBody>
          <a:bodyPr wrap="square" lIns="0" rIns="0" tIns="0" bIns="0" anchor="ctr">
            <a:spAutoFit/>
          </a:bodyPr>
          <a:lstStyle/>
          <a:p>
            <a:pPr algn="l">
              <a:lnSpc>
                <a:spcPct val="120000"/>
              </a:lnSpc>
            </a:pPr>
            <a:r>
              <a:rPr sz="1050" b="0" i="1">
                <a:solidFill>
                  <a:srgbClr val="5B6E94"/>
                </a:solidFill>
                <a:latin typeface="Times New Roman"/>
              </a:rPr>
              <a:t>Population</a:t>
            </a:r>
          </a:p>
        </p:txBody>
      </p:sp>
      <p:sp>
        <p:nvSpPr>
          <p:cNvPr id="20" name="TextBox 19"/>
          <p:cNvSpPr txBox="1"/>
          <p:nvPr/>
        </p:nvSpPr>
        <p:spPr>
          <a:xfrm>
            <a:off x="3905250" y="3524250"/>
            <a:ext cx="2152650" cy="361950"/>
          </a:xfrm>
          <a:prstGeom prst="rect">
            <a:avLst/>
          </a:prstGeom>
          <a:noFill/>
        </p:spPr>
        <p:txBody>
          <a:bodyPr wrap="square" lIns="0" rIns="0" tIns="0" bIns="0" anchor="ctr">
            <a:spAutoFit/>
          </a:bodyPr>
          <a:lstStyle/>
          <a:p>
            <a:pPr algn="l">
              <a:lnSpc>
                <a:spcPct val="120000"/>
              </a:lnSpc>
            </a:pPr>
            <a:r>
              <a:rPr sz="2250" b="1" i="0">
                <a:solidFill>
                  <a:srgbClr val="1A2B4C"/>
                </a:solidFill>
                <a:latin typeface="Times New Roman"/>
              </a:rPr>
              <a:t>~241 million</a:t>
            </a:r>
          </a:p>
        </p:txBody>
      </p:sp>
      <p:sp>
        <p:nvSpPr>
          <p:cNvPr id="21" name="TextBox 20"/>
          <p:cNvSpPr txBox="1"/>
          <p:nvPr/>
        </p:nvSpPr>
        <p:spPr>
          <a:xfrm>
            <a:off x="3905250" y="3886200"/>
            <a:ext cx="2152650" cy="190500"/>
          </a:xfrm>
          <a:prstGeom prst="rect">
            <a:avLst/>
          </a:prstGeom>
          <a:noFill/>
        </p:spPr>
        <p:txBody>
          <a:bodyPr wrap="square" lIns="0" rIns="0" tIns="0" bIns="0" anchor="ctr">
            <a:spAutoFit/>
          </a:bodyPr>
          <a:lstStyle/>
          <a:p>
            <a:pPr algn="l">
              <a:lnSpc>
                <a:spcPct val="120000"/>
              </a:lnSpc>
            </a:pPr>
            <a:r>
              <a:rPr sz="980" b="0" i="0">
                <a:solidFill>
                  <a:srgbClr val="5B6E94"/>
                </a:solidFill>
                <a:latin typeface="Times New Roman"/>
              </a:rPr>
              <a:t>5th largest globally</a:t>
            </a:r>
          </a:p>
        </p:txBody>
      </p:sp>
      <p:sp>
        <p:nvSpPr>
          <p:cNvPr id="22" name="Rectangle 21"/>
          <p:cNvSpPr/>
          <p:nvPr/>
        </p:nvSpPr>
        <p:spPr>
          <a:xfrm>
            <a:off x="6362700" y="3143250"/>
            <a:ext cx="2457450" cy="108585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6362700" y="3143250"/>
            <a:ext cx="2457450" cy="38100"/>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515100" y="3333750"/>
            <a:ext cx="2152650" cy="190500"/>
          </a:xfrm>
          <a:prstGeom prst="rect">
            <a:avLst/>
          </a:prstGeom>
          <a:noFill/>
        </p:spPr>
        <p:txBody>
          <a:bodyPr wrap="square" lIns="0" rIns="0" tIns="0" bIns="0" anchor="ctr">
            <a:spAutoFit/>
          </a:bodyPr>
          <a:lstStyle/>
          <a:p>
            <a:pPr algn="l">
              <a:lnSpc>
                <a:spcPct val="120000"/>
              </a:lnSpc>
            </a:pPr>
            <a:r>
              <a:rPr sz="1050" b="0" i="1">
                <a:solidFill>
                  <a:srgbClr val="5B6E94"/>
                </a:solidFill>
                <a:latin typeface="Times New Roman"/>
              </a:rPr>
              <a:t>Coastline</a:t>
            </a:r>
          </a:p>
        </p:txBody>
      </p:sp>
      <p:sp>
        <p:nvSpPr>
          <p:cNvPr id="25" name="TextBox 24"/>
          <p:cNvSpPr txBox="1"/>
          <p:nvPr/>
        </p:nvSpPr>
        <p:spPr>
          <a:xfrm>
            <a:off x="6515100" y="3524250"/>
            <a:ext cx="2152650" cy="361950"/>
          </a:xfrm>
          <a:prstGeom prst="rect">
            <a:avLst/>
          </a:prstGeom>
          <a:noFill/>
        </p:spPr>
        <p:txBody>
          <a:bodyPr wrap="square" lIns="0" rIns="0" tIns="0" bIns="0" anchor="ctr">
            <a:spAutoFit/>
          </a:bodyPr>
          <a:lstStyle/>
          <a:p>
            <a:pPr algn="l">
              <a:lnSpc>
                <a:spcPct val="120000"/>
              </a:lnSpc>
            </a:pPr>
            <a:r>
              <a:rPr sz="2250" b="1" i="0">
                <a:solidFill>
                  <a:srgbClr val="1A2B4C"/>
                </a:solidFill>
                <a:latin typeface="Times New Roman"/>
              </a:rPr>
              <a:t>1,046 km</a:t>
            </a:r>
          </a:p>
        </p:txBody>
      </p:sp>
      <p:sp>
        <p:nvSpPr>
          <p:cNvPr id="26" name="TextBox 25"/>
          <p:cNvSpPr txBox="1"/>
          <p:nvPr/>
        </p:nvSpPr>
        <p:spPr>
          <a:xfrm>
            <a:off x="6515100" y="3886200"/>
            <a:ext cx="2152650" cy="190500"/>
          </a:xfrm>
          <a:prstGeom prst="rect">
            <a:avLst/>
          </a:prstGeom>
          <a:noFill/>
        </p:spPr>
        <p:txBody>
          <a:bodyPr wrap="square" lIns="0" rIns="0" tIns="0" bIns="0" anchor="ctr">
            <a:spAutoFit/>
          </a:bodyPr>
          <a:lstStyle/>
          <a:p>
            <a:pPr algn="l">
              <a:lnSpc>
                <a:spcPct val="120000"/>
              </a:lnSpc>
            </a:pPr>
            <a:r>
              <a:rPr sz="980" b="0" i="0">
                <a:solidFill>
                  <a:srgbClr val="5B6E94"/>
                </a:solidFill>
                <a:latin typeface="Times New Roman"/>
              </a:rPr>
              <a:t>Arabian Sea, south</a:t>
            </a:r>
          </a:p>
        </p:txBody>
      </p:sp>
      <p:sp>
        <p:nvSpPr>
          <p:cNvPr id="27" name="Rectangle 26"/>
          <p:cNvSpPr/>
          <p:nvPr/>
        </p:nvSpPr>
        <p:spPr>
          <a:xfrm>
            <a:off x="8972550" y="3143250"/>
            <a:ext cx="2457450" cy="108585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972550" y="3143250"/>
            <a:ext cx="2457450" cy="38100"/>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24950" y="3333750"/>
            <a:ext cx="2152650" cy="190500"/>
          </a:xfrm>
          <a:prstGeom prst="rect">
            <a:avLst/>
          </a:prstGeom>
          <a:noFill/>
        </p:spPr>
        <p:txBody>
          <a:bodyPr wrap="square" lIns="0" rIns="0" tIns="0" bIns="0" anchor="ctr">
            <a:spAutoFit/>
          </a:bodyPr>
          <a:lstStyle/>
          <a:p>
            <a:pPr algn="l">
              <a:lnSpc>
                <a:spcPct val="120000"/>
              </a:lnSpc>
            </a:pPr>
            <a:r>
              <a:rPr sz="1050" b="0" i="1">
                <a:solidFill>
                  <a:srgbClr val="5B6E94"/>
                </a:solidFill>
                <a:latin typeface="Times New Roman"/>
              </a:rPr>
              <a:t>Elevation span</a:t>
            </a:r>
          </a:p>
        </p:txBody>
      </p:sp>
      <p:sp>
        <p:nvSpPr>
          <p:cNvPr id="30" name="TextBox 29"/>
          <p:cNvSpPr txBox="1"/>
          <p:nvPr/>
        </p:nvSpPr>
        <p:spPr>
          <a:xfrm>
            <a:off x="9124950" y="3524250"/>
            <a:ext cx="2152650" cy="361950"/>
          </a:xfrm>
          <a:prstGeom prst="rect">
            <a:avLst/>
          </a:prstGeom>
          <a:noFill/>
        </p:spPr>
        <p:txBody>
          <a:bodyPr wrap="square" lIns="0" rIns="0" tIns="0" bIns="0" anchor="ctr">
            <a:spAutoFit/>
          </a:bodyPr>
          <a:lstStyle/>
          <a:p>
            <a:pPr algn="l">
              <a:lnSpc>
                <a:spcPct val="120000"/>
              </a:lnSpc>
            </a:pPr>
            <a:r>
              <a:rPr sz="2250" b="1" i="0">
                <a:solidFill>
                  <a:srgbClr val="1A2B4C"/>
                </a:solidFill>
                <a:latin typeface="Times New Roman"/>
              </a:rPr>
              <a:t>0 – 8,611 m</a:t>
            </a:r>
          </a:p>
        </p:txBody>
      </p:sp>
      <p:sp>
        <p:nvSpPr>
          <p:cNvPr id="31" name="TextBox 30"/>
          <p:cNvSpPr txBox="1"/>
          <p:nvPr/>
        </p:nvSpPr>
        <p:spPr>
          <a:xfrm>
            <a:off x="9124950" y="3886200"/>
            <a:ext cx="2152650" cy="190500"/>
          </a:xfrm>
          <a:prstGeom prst="rect">
            <a:avLst/>
          </a:prstGeom>
          <a:noFill/>
        </p:spPr>
        <p:txBody>
          <a:bodyPr wrap="square" lIns="0" rIns="0" tIns="0" bIns="0" anchor="ctr">
            <a:spAutoFit/>
          </a:bodyPr>
          <a:lstStyle/>
          <a:p>
            <a:pPr algn="l">
              <a:lnSpc>
                <a:spcPct val="120000"/>
              </a:lnSpc>
            </a:pPr>
            <a:r>
              <a:rPr sz="980" b="0" i="0">
                <a:solidFill>
                  <a:srgbClr val="5B6E94"/>
                </a:solidFill>
                <a:latin typeface="Times New Roman"/>
              </a:rPr>
              <a:t>K2 — Godwin-Austen</a:t>
            </a:r>
          </a:p>
        </p:txBody>
      </p:sp>
      <p:sp>
        <p:nvSpPr>
          <p:cNvPr id="32" name="TextBox 31"/>
          <p:cNvSpPr txBox="1"/>
          <p:nvPr/>
        </p:nvSpPr>
        <p:spPr>
          <a:xfrm>
            <a:off x="1504950" y="5467350"/>
            <a:ext cx="9753600" cy="666750"/>
          </a:xfrm>
          <a:prstGeom prst="rect">
            <a:avLst/>
          </a:prstGeom>
          <a:noFill/>
        </p:spPr>
        <p:txBody>
          <a:bodyPr wrap="square" lIns="0" rIns="0" tIns="0" bIns="0" anchor="t">
            <a:spAutoFit/>
          </a:bodyPr>
          <a:lstStyle/>
          <a:p>
            <a:pPr algn="l">
              <a:lnSpc>
                <a:spcPct val="150000"/>
              </a:lnSpc>
            </a:pPr>
            <a:r>
              <a:rPr sz="1650" b="0" i="1">
                <a:solidFill>
                  <a:srgbClr val="1A2B4C"/>
                </a:solidFill>
                <a:latin typeface="Times New Roman"/>
              </a:rPr>
              <a:t> “Pakistan presents, within a single state, a remarkable range of physical conditions — from the perpetual snow of the Karakoram to the tropical mangrove swamps of the Indus delta.” </a:t>
            </a:r>
          </a:p>
        </p:txBody>
      </p:sp>
      <p:sp>
        <p:nvSpPr>
          <p:cNvPr id="33" name="TextBox 32"/>
          <p:cNvSpPr txBox="1"/>
          <p:nvPr/>
        </p:nvSpPr>
        <p:spPr>
          <a:xfrm>
            <a:off x="1504950" y="6191250"/>
            <a:ext cx="9753600" cy="190500"/>
          </a:xfrm>
          <a:prstGeom prst="rect">
            <a:avLst/>
          </a:prstGeom>
          <a:noFill/>
        </p:spPr>
        <p:txBody>
          <a:bodyPr wrap="square" lIns="0" rIns="0" tIns="0" bIns="0" anchor="ctr">
            <a:spAutoFit/>
          </a:bodyPr>
          <a:lstStyle/>
          <a:p>
            <a:pPr algn="l">
              <a:lnSpc>
                <a:spcPct val="120000"/>
              </a:lnSpc>
            </a:pPr>
            <a:r>
              <a:rPr sz="1050" b="0" i="1">
                <a:solidFill>
                  <a:srgbClr val="5B6E94"/>
                </a:solidFill>
                <a:latin typeface="Times New Roman"/>
              </a:rPr>
              <a:t> — Fazle Karim Khan, </a:t>
            </a:r>
            <a:r>
              <a:rPr sz="1050" b="0" i="1">
                <a:solidFill>
                  <a:srgbClr val="5B6E94"/>
                </a:solidFill>
                <a:latin typeface="Times New Roman"/>
              </a:rPr>
              <a:t>A Geography of Pakistan</a:t>
            </a:r>
            <a:r>
              <a:rPr sz="1050" b="0" i="1">
                <a:solidFill>
                  <a:srgbClr val="5B6E94"/>
                </a:solidFill>
                <a:latin typeface="Times New Roman"/>
              </a:rPr>
              <a:t> (1991), p.1 </a:t>
            </a:r>
          </a:p>
        </p:txBody>
      </p:sp>
      <p:sp>
        <p:nvSpPr>
          <p:cNvPr id="34" name="TextBox 33"/>
          <p:cNvSpPr txBox="1"/>
          <p:nvPr/>
        </p:nvSpPr>
        <p:spPr>
          <a:xfrm>
            <a:off x="1123950" y="7410450"/>
            <a:ext cx="10325100" cy="190500"/>
          </a:xfrm>
          <a:prstGeom prst="rect">
            <a:avLst/>
          </a:prstGeom>
          <a:noFill/>
        </p:spPr>
        <p:txBody>
          <a:bodyPr wrap="square" lIns="0" rIns="0" tIns="0" bIns="0" anchor="ctr">
            <a:spAutoFit/>
          </a:bodyPr>
          <a:lstStyle/>
          <a:p>
            <a:pPr algn="l">
              <a:lnSpc>
                <a:spcPct val="120000"/>
              </a:lnSpc>
            </a:pPr>
            <a:r>
              <a:rPr sz="980" b="0" i="0" spc="156">
                <a:solidFill>
                  <a:srgbClr val="5B6E94"/>
                </a:solidFill>
                <a:latin typeface="Times New Roman"/>
              </a:rPr>
              <a:t>FIVE PHYSIOGRAPHIC REGIONS</a:t>
            </a:r>
          </a:p>
        </p:txBody>
      </p:sp>
      <p:sp>
        <p:nvSpPr>
          <p:cNvPr id="35" name="TextBox 34"/>
          <p:cNvSpPr txBox="1"/>
          <p:nvPr/>
        </p:nvSpPr>
        <p:spPr>
          <a:xfrm>
            <a:off x="1333500" y="7696200"/>
            <a:ext cx="10115550" cy="329505"/>
          </a:xfrm>
          <a:prstGeom prst="rect">
            <a:avLst/>
          </a:prstGeom>
          <a:noFill/>
        </p:spPr>
        <p:txBody>
          <a:bodyPr wrap="square" lIns="0" rIns="0" tIns="0" bIns="0" anchor="ctr">
            <a:spAutoFit/>
          </a:bodyPr>
          <a:lstStyle/>
          <a:p>
            <a:pPr algn="l">
              <a:lnSpc>
                <a:spcPct val="170000"/>
              </a:lnSpc>
            </a:pPr>
            <a:r>
              <a:rPr sz="1350" b="0" i="0">
                <a:solidFill>
                  <a:srgbClr val="1A2B4C"/>
                </a:solidFill>
                <a:latin typeface="Times New Roman"/>
              </a:rPr>
              <a:t>• </a:t>
            </a:r>
            <a:r>
              <a:rPr sz="1350" b="1" i="0">
                <a:solidFill>
                  <a:srgbClr val="1A2B4C"/>
                </a:solidFill>
                <a:latin typeface="Times New Roman"/>
              </a:rPr>
              <a:t>The Northern and Western Mountain Belt</a:t>
            </a:r>
            <a:r>
              <a:rPr sz="1350" b="0" i="0">
                <a:solidFill>
                  <a:srgbClr val="1A2B4C"/>
                </a:solidFill>
                <a:latin typeface="Times New Roman"/>
              </a:rPr>
              <a:t> — Himalayas, Karakoram, Hindu Kush, Pamir</a:t>
            </a:r>
          </a:p>
        </p:txBody>
      </p:sp>
      <p:sp>
        <p:nvSpPr>
          <p:cNvPr id="36" name="TextBox 35"/>
          <p:cNvSpPr txBox="1"/>
          <p:nvPr/>
        </p:nvSpPr>
        <p:spPr>
          <a:xfrm>
            <a:off x="1333500" y="7987605"/>
            <a:ext cx="10115550" cy="329505"/>
          </a:xfrm>
          <a:prstGeom prst="rect">
            <a:avLst/>
          </a:prstGeom>
          <a:noFill/>
        </p:spPr>
        <p:txBody>
          <a:bodyPr wrap="square" lIns="0" rIns="0" tIns="0" bIns="0" anchor="ctr">
            <a:spAutoFit/>
          </a:bodyPr>
          <a:lstStyle/>
          <a:p>
            <a:pPr algn="l">
              <a:lnSpc>
                <a:spcPct val="170000"/>
              </a:lnSpc>
            </a:pPr>
            <a:r>
              <a:rPr sz="1350" b="0" i="0">
                <a:solidFill>
                  <a:srgbClr val="1A2B4C"/>
                </a:solidFill>
                <a:latin typeface="Times New Roman"/>
              </a:rPr>
              <a:t>• </a:t>
            </a:r>
            <a:r>
              <a:rPr sz="1350" b="1" i="0">
                <a:solidFill>
                  <a:srgbClr val="1A2B4C"/>
                </a:solidFill>
                <a:latin typeface="Times New Roman"/>
              </a:rPr>
              <a:t>The Balochistan Plateau</a:t>
            </a:r>
            <a:r>
              <a:rPr sz="1350" b="0" i="0">
                <a:solidFill>
                  <a:srgbClr val="1A2B4C"/>
                </a:solidFill>
                <a:latin typeface="Times New Roman"/>
              </a:rPr>
              <a:t> — arid folded ranges oriented east–west</a:t>
            </a:r>
          </a:p>
        </p:txBody>
      </p:sp>
      <p:sp>
        <p:nvSpPr>
          <p:cNvPr id="37" name="TextBox 36"/>
          <p:cNvSpPr txBox="1"/>
          <p:nvPr/>
        </p:nvSpPr>
        <p:spPr>
          <a:xfrm>
            <a:off x="1333500" y="8279010"/>
            <a:ext cx="10115550" cy="329505"/>
          </a:xfrm>
          <a:prstGeom prst="rect">
            <a:avLst/>
          </a:prstGeom>
          <a:noFill/>
        </p:spPr>
        <p:txBody>
          <a:bodyPr wrap="square" lIns="0" rIns="0" tIns="0" bIns="0" anchor="ctr">
            <a:spAutoFit/>
          </a:bodyPr>
          <a:lstStyle/>
          <a:p>
            <a:pPr algn="l">
              <a:lnSpc>
                <a:spcPct val="170000"/>
              </a:lnSpc>
            </a:pPr>
            <a:r>
              <a:rPr sz="1350" b="0" i="0">
                <a:solidFill>
                  <a:srgbClr val="1A2B4C"/>
                </a:solidFill>
                <a:latin typeface="Times New Roman"/>
              </a:rPr>
              <a:t>• </a:t>
            </a:r>
            <a:r>
              <a:rPr sz="1350" b="1" i="0">
                <a:solidFill>
                  <a:srgbClr val="1A2B4C"/>
                </a:solidFill>
                <a:latin typeface="Times New Roman"/>
              </a:rPr>
              <a:t>The Potwar Plateau and Salt Range</a:t>
            </a:r>
            <a:r>
              <a:rPr sz="1350" b="0" i="0">
                <a:solidFill>
                  <a:srgbClr val="1A2B4C"/>
                </a:solidFill>
                <a:latin typeface="Times New Roman"/>
              </a:rPr>
              <a:t> — intermontane basins of northern Punjab</a:t>
            </a:r>
          </a:p>
        </p:txBody>
      </p:sp>
      <p:sp>
        <p:nvSpPr>
          <p:cNvPr id="38" name="TextBox 37"/>
          <p:cNvSpPr txBox="1"/>
          <p:nvPr/>
        </p:nvSpPr>
        <p:spPr>
          <a:xfrm>
            <a:off x="1333500" y="8570416"/>
            <a:ext cx="10115550" cy="329505"/>
          </a:xfrm>
          <a:prstGeom prst="rect">
            <a:avLst/>
          </a:prstGeom>
          <a:noFill/>
        </p:spPr>
        <p:txBody>
          <a:bodyPr wrap="square" lIns="0" rIns="0" tIns="0" bIns="0" anchor="ctr">
            <a:spAutoFit/>
          </a:bodyPr>
          <a:lstStyle/>
          <a:p>
            <a:pPr algn="l">
              <a:lnSpc>
                <a:spcPct val="170000"/>
              </a:lnSpc>
            </a:pPr>
            <a:r>
              <a:rPr sz="1350" b="0" i="0">
                <a:solidFill>
                  <a:srgbClr val="1A2B4C"/>
                </a:solidFill>
                <a:latin typeface="Times New Roman"/>
              </a:rPr>
              <a:t>• </a:t>
            </a:r>
            <a:r>
              <a:rPr sz="1350" b="1" i="0">
                <a:solidFill>
                  <a:srgbClr val="1A2B4C"/>
                </a:solidFill>
                <a:latin typeface="Times New Roman"/>
              </a:rPr>
              <a:t>The Indus River Plain</a:t>
            </a:r>
            <a:r>
              <a:rPr sz="1350" b="0" i="0">
                <a:solidFill>
                  <a:srgbClr val="1A2B4C"/>
                </a:solidFill>
                <a:latin typeface="Times New Roman"/>
              </a:rPr>
              <a:t> — one of the world’s largest alluvial plains</a:t>
            </a:r>
          </a:p>
        </p:txBody>
      </p:sp>
      <p:sp>
        <p:nvSpPr>
          <p:cNvPr id="39" name="TextBox 38"/>
          <p:cNvSpPr txBox="1"/>
          <p:nvPr/>
        </p:nvSpPr>
        <p:spPr>
          <a:xfrm>
            <a:off x="1333500" y="8861821"/>
            <a:ext cx="10115550" cy="329505"/>
          </a:xfrm>
          <a:prstGeom prst="rect">
            <a:avLst/>
          </a:prstGeom>
          <a:noFill/>
        </p:spPr>
        <p:txBody>
          <a:bodyPr wrap="square" lIns="0" rIns="0" tIns="0" bIns="0" anchor="ctr">
            <a:spAutoFit/>
          </a:bodyPr>
          <a:lstStyle/>
          <a:p>
            <a:pPr algn="l">
              <a:lnSpc>
                <a:spcPct val="170000"/>
              </a:lnSpc>
            </a:pPr>
            <a:r>
              <a:rPr sz="1350" b="0" i="0">
                <a:solidFill>
                  <a:srgbClr val="1A2B4C"/>
                </a:solidFill>
                <a:latin typeface="Times New Roman"/>
              </a:rPr>
              <a:t>• </a:t>
            </a:r>
            <a:r>
              <a:rPr sz="1350" b="1" i="0">
                <a:solidFill>
                  <a:srgbClr val="1A2B4C"/>
                </a:solidFill>
                <a:latin typeface="Times New Roman"/>
              </a:rPr>
              <a:t>The Indus Delta and Arabian Sea Coast</a:t>
            </a:r>
            <a:r>
              <a:rPr sz="1350" b="0" i="0">
                <a:solidFill>
                  <a:srgbClr val="1A2B4C"/>
                </a:solidFill>
                <a:latin typeface="Times New Roman"/>
              </a:rPr>
              <a:t> — sub-tidal mangroves and tidal creeks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00" cy="685800"/>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791950" y="1009650"/>
            <a:ext cx="5372100" cy="55245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Image: Map showing Pakistan’s five mountain systems — Himalayas in NE, Karakoram centre–north, Hindu Kush NW, Sulaiman–Kirthar west, Salt Range in Potwar Plateau.</a:t>
            </a:r>
          </a:p>
        </p:txBody>
      </p:sp>
      <p:sp>
        <p:nvSpPr>
          <p:cNvPr id="5" name="TextBox 4"/>
          <p:cNvSpPr txBox="1"/>
          <p:nvPr/>
        </p:nvSpPr>
        <p:spPr>
          <a:xfrm>
            <a:off x="1123950" y="190500"/>
            <a:ext cx="11468100" cy="209550"/>
          </a:xfrm>
          <a:prstGeom prst="rect">
            <a:avLst/>
          </a:prstGeom>
          <a:noFill/>
        </p:spPr>
        <p:txBody>
          <a:bodyPr wrap="square" lIns="0" rIns="0" tIns="0" bIns="0" anchor="ctr">
            <a:spAutoFit/>
          </a:bodyPr>
          <a:lstStyle/>
          <a:p>
            <a:pPr algn="l">
              <a:lnSpc>
                <a:spcPct val="120000"/>
              </a:lnSpc>
            </a:pPr>
            <a:r>
              <a:rPr sz="1200" b="0" i="0">
                <a:solidFill>
                  <a:srgbClr val="FFFFFF"/>
                </a:solidFill>
                <a:latin typeface="Times New Roman"/>
              </a:rPr>
              <a:t>05 · Mountain ranges of Pakistan · the tectonic frame</a:t>
            </a:r>
          </a:p>
        </p:txBody>
      </p:sp>
      <p:sp>
        <p:nvSpPr>
          <p:cNvPr id="6" name="TextBox 5"/>
          <p:cNvSpPr txBox="1"/>
          <p:nvPr/>
        </p:nvSpPr>
        <p:spPr>
          <a:xfrm>
            <a:off x="16173450" y="190500"/>
            <a:ext cx="1181100" cy="323850"/>
          </a:xfrm>
          <a:prstGeom prst="rect">
            <a:avLst/>
          </a:prstGeom>
          <a:noFill/>
        </p:spPr>
        <p:txBody>
          <a:bodyPr wrap="square" lIns="0" rIns="0" tIns="0" bIns="0" anchor="ctr">
            <a:spAutoFit/>
          </a:bodyPr>
          <a:lstStyle/>
          <a:p>
            <a:pPr algn="r">
              <a:lnSpc>
                <a:spcPct val="120000"/>
              </a:lnSpc>
            </a:pPr>
            <a:r>
              <a:rPr sz="1050" b="0" i="1">
                <a:solidFill>
                  <a:srgbClr val="C81D25"/>
                </a:solidFill>
                <a:latin typeface="Times New Roman"/>
              </a:rPr>
              <a:t>05 / 22</a:t>
            </a:r>
          </a:p>
        </p:txBody>
      </p:sp>
      <p:sp>
        <p:nvSpPr>
          <p:cNvPr id="7" name="TextBox 6"/>
          <p:cNvSpPr txBox="1"/>
          <p:nvPr/>
        </p:nvSpPr>
        <p:spPr>
          <a:xfrm>
            <a:off x="1123950" y="1009650"/>
            <a:ext cx="1900535" cy="200025"/>
          </a:xfrm>
          <a:prstGeom prst="rect">
            <a:avLst/>
          </a:prstGeom>
          <a:noFill/>
        </p:spPr>
        <p:txBody>
          <a:bodyPr wrap="square" lIns="0" rIns="0" tIns="0" bIns="0" anchor="ctr">
            <a:spAutoFit/>
          </a:bodyPr>
          <a:lstStyle/>
          <a:p>
            <a:pPr algn="l">
              <a:lnSpc>
                <a:spcPct val="120000"/>
              </a:lnSpc>
            </a:pPr>
            <a:r>
              <a:rPr sz="1200" b="0" i="0">
                <a:solidFill>
                  <a:srgbClr val="000000"/>
                </a:solidFill>
                <a:latin typeface="Times New Roman"/>
              </a:rPr>
              <a:t>Cluster 1 · Northern highlands</a:t>
            </a:r>
          </a:p>
        </p:txBody>
      </p:sp>
      <p:sp>
        <p:nvSpPr>
          <p:cNvPr id="8" name="TextBox 7"/>
          <p:cNvSpPr txBox="1"/>
          <p:nvPr/>
        </p:nvSpPr>
        <p:spPr>
          <a:xfrm>
            <a:off x="1123950" y="1314450"/>
            <a:ext cx="10325100" cy="295275"/>
          </a:xfrm>
          <a:prstGeom prst="rect">
            <a:avLst/>
          </a:prstGeom>
          <a:noFill/>
        </p:spPr>
        <p:txBody>
          <a:bodyPr wrap="square" lIns="0" rIns="0" tIns="0" bIns="0" anchor="ctr">
            <a:spAutoFit/>
          </a:bodyPr>
          <a:lstStyle/>
          <a:p>
            <a:pPr algn="l">
              <a:lnSpc>
                <a:spcPct val="120000"/>
              </a:lnSpc>
            </a:pPr>
            <a:r>
              <a:rPr sz="1800" b="1" i="0">
                <a:solidFill>
                  <a:srgbClr val="000000"/>
                </a:solidFill>
                <a:latin typeface="Times New Roman"/>
              </a:rPr>
              <a:t>Five mountain systems brought </a:t>
            </a:r>
            <a:r>
              <a:rPr sz="1800" b="1" i="1">
                <a:solidFill>
                  <a:srgbClr val="000000"/>
                </a:solidFill>
                <a:latin typeface="Times New Roman"/>
              </a:rPr>
              <a:t>together</a:t>
            </a:r>
            <a:r>
              <a:rPr sz="1800" b="1" i="0">
                <a:solidFill>
                  <a:srgbClr val="000000"/>
                </a:solidFill>
                <a:latin typeface="Times New Roman"/>
              </a:rPr>
              <a:t> by plate convergence.</a:t>
            </a:r>
          </a:p>
        </p:txBody>
      </p:sp>
      <p:sp>
        <p:nvSpPr>
          <p:cNvPr id="9" name="TextBox 8"/>
          <p:cNvSpPr txBox="1"/>
          <p:nvPr/>
        </p:nvSpPr>
        <p:spPr>
          <a:xfrm>
            <a:off x="1123950" y="2419350"/>
            <a:ext cx="10325100" cy="38100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 The mountains of Pakistan are not a single range. They are a </a:t>
            </a:r>
            <a:r>
              <a:rPr sz="1200" b="1" i="0">
                <a:solidFill>
                  <a:srgbClr val="000000"/>
                </a:solidFill>
                <a:latin typeface="Times New Roman"/>
              </a:rPr>
              <a:t>convergent tectonic knot</a:t>
            </a:r>
            <a:r>
              <a:rPr sz="1200" b="0" i="0">
                <a:solidFill>
                  <a:srgbClr val="000000"/>
                </a:solidFill>
                <a:latin typeface="Times New Roman"/>
              </a:rPr>
              <a:t> where the Indian, Eurasian, and Arabian plates meet, producing the highest peaks outside the Himalaya proper, the deepest gorges in Asia, and the most seismically active fault network in the country. </a:t>
            </a:r>
          </a:p>
        </p:txBody>
      </p:sp>
      <p:sp>
        <p:nvSpPr>
          <p:cNvPr id="10" name="Rectangle 9"/>
          <p:cNvSpPr/>
          <p:nvPr/>
        </p:nvSpPr>
        <p:spPr>
          <a:xfrm>
            <a:off x="1143000" y="3619500"/>
            <a:ext cx="10287000" cy="942975"/>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43000" y="3619500"/>
            <a:ext cx="57150" cy="942975"/>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90650" y="3771900"/>
            <a:ext cx="381000" cy="295275"/>
          </a:xfrm>
          <a:prstGeom prst="rect">
            <a:avLst/>
          </a:prstGeom>
          <a:noFill/>
        </p:spPr>
        <p:txBody>
          <a:bodyPr wrap="square" lIns="0" rIns="0" tIns="0" bIns="0" anchor="ctr">
            <a:spAutoFit/>
          </a:bodyPr>
          <a:lstStyle/>
          <a:p>
            <a:pPr algn="l">
              <a:lnSpc>
                <a:spcPct val="120000"/>
              </a:lnSpc>
            </a:pPr>
            <a:r>
              <a:rPr sz="1800" b="1" i="0">
                <a:solidFill>
                  <a:srgbClr val="C81D25"/>
                </a:solidFill>
                <a:latin typeface="Times New Roman"/>
              </a:rPr>
              <a:t>1</a:t>
            </a:r>
          </a:p>
        </p:txBody>
      </p:sp>
      <p:sp>
        <p:nvSpPr>
          <p:cNvPr id="13" name="TextBox 12"/>
          <p:cNvSpPr txBox="1"/>
          <p:nvPr/>
        </p:nvSpPr>
        <p:spPr>
          <a:xfrm>
            <a:off x="1885950" y="3771900"/>
            <a:ext cx="6150024" cy="190500"/>
          </a:xfrm>
          <a:prstGeom prst="rect">
            <a:avLst/>
          </a:prstGeom>
          <a:noFill/>
        </p:spPr>
        <p:txBody>
          <a:bodyPr wrap="square" lIns="0" rIns="0" tIns="0" bIns="0" anchor="ctr">
            <a:spAutoFit/>
          </a:bodyPr>
          <a:lstStyle/>
          <a:p>
            <a:pPr algn="l">
              <a:lnSpc>
                <a:spcPct val="120000"/>
              </a:lnSpc>
            </a:pPr>
            <a:r>
              <a:rPr sz="980" b="0" i="0" spc="136">
                <a:solidFill>
                  <a:srgbClr val="5B6E94"/>
                </a:solidFill>
                <a:latin typeface="Times New Roman"/>
              </a:rPr>
              <a:t>HIMALAYAS</a:t>
            </a:r>
          </a:p>
        </p:txBody>
      </p:sp>
      <p:sp>
        <p:nvSpPr>
          <p:cNvPr id="14" name="TextBox 13"/>
          <p:cNvSpPr txBox="1"/>
          <p:nvPr/>
        </p:nvSpPr>
        <p:spPr>
          <a:xfrm>
            <a:off x="1885950" y="3943350"/>
            <a:ext cx="6150024" cy="257175"/>
          </a:xfrm>
          <a:prstGeom prst="rect">
            <a:avLst/>
          </a:prstGeom>
          <a:noFill/>
        </p:spPr>
        <p:txBody>
          <a:bodyPr wrap="square" lIns="0" rIns="0" tIns="0" bIns="0" anchor="ctr">
            <a:spAutoFit/>
          </a:bodyPr>
          <a:lstStyle/>
          <a:p>
            <a:pPr algn="l">
              <a:lnSpc>
                <a:spcPct val="120000"/>
              </a:lnSpc>
            </a:pPr>
            <a:r>
              <a:rPr sz="1500" b="1" i="0">
                <a:solidFill>
                  <a:srgbClr val="1A2B4C"/>
                </a:solidFill>
                <a:latin typeface="Times New Roman"/>
              </a:rPr>
              <a:t>Eastern anchor of Pakistan’s mountain belt</a:t>
            </a:r>
          </a:p>
        </p:txBody>
      </p:sp>
      <p:sp>
        <p:nvSpPr>
          <p:cNvPr id="15" name="TextBox 14"/>
          <p:cNvSpPr txBox="1"/>
          <p:nvPr/>
        </p:nvSpPr>
        <p:spPr>
          <a:xfrm>
            <a:off x="1885950" y="4200525"/>
            <a:ext cx="6150024" cy="209550"/>
          </a:xfrm>
          <a:prstGeom prst="rect">
            <a:avLst/>
          </a:prstGeom>
          <a:noFill/>
        </p:spPr>
        <p:txBody>
          <a:bodyPr wrap="square" lIns="0" rIns="0" tIns="0" bIns="0" anchor="ctr">
            <a:spAutoFit/>
          </a:bodyPr>
          <a:lstStyle/>
          <a:p>
            <a:pPr algn="l">
              <a:lnSpc>
                <a:spcPct val="120000"/>
              </a:lnSpc>
            </a:pPr>
            <a:r>
              <a:rPr sz="1200" b="0" i="0">
                <a:solidFill>
                  <a:srgbClr val="1A2B4C"/>
                </a:solidFill>
                <a:latin typeface="Times New Roman"/>
              </a:rPr>
              <a:t>Western syntaxis in Azad Kashmir; Nanga Parbat (8,126 m) marks the western Himalayan terminus.</a:t>
            </a:r>
          </a:p>
        </p:txBody>
      </p:sp>
      <p:sp>
        <p:nvSpPr>
          <p:cNvPr id="16" name="Rectangle 15"/>
          <p:cNvSpPr/>
          <p:nvPr/>
        </p:nvSpPr>
        <p:spPr>
          <a:xfrm>
            <a:off x="1143000" y="4695825"/>
            <a:ext cx="10287000" cy="942975"/>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1143000" y="4695825"/>
            <a:ext cx="57150" cy="942975"/>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390650" y="4848225"/>
            <a:ext cx="381000" cy="295275"/>
          </a:xfrm>
          <a:prstGeom prst="rect">
            <a:avLst/>
          </a:prstGeom>
          <a:noFill/>
        </p:spPr>
        <p:txBody>
          <a:bodyPr wrap="square" lIns="0" rIns="0" tIns="0" bIns="0" anchor="ctr">
            <a:spAutoFit/>
          </a:bodyPr>
          <a:lstStyle/>
          <a:p>
            <a:pPr algn="l">
              <a:lnSpc>
                <a:spcPct val="120000"/>
              </a:lnSpc>
            </a:pPr>
            <a:r>
              <a:rPr sz="1800" b="1" i="0">
                <a:solidFill>
                  <a:srgbClr val="C81D25"/>
                </a:solidFill>
                <a:latin typeface="Times New Roman"/>
              </a:rPr>
              <a:t>2</a:t>
            </a:r>
          </a:p>
        </p:txBody>
      </p:sp>
      <p:sp>
        <p:nvSpPr>
          <p:cNvPr id="19" name="TextBox 18"/>
          <p:cNvSpPr txBox="1"/>
          <p:nvPr/>
        </p:nvSpPr>
        <p:spPr>
          <a:xfrm>
            <a:off x="1885950" y="4848225"/>
            <a:ext cx="6660505" cy="190500"/>
          </a:xfrm>
          <a:prstGeom prst="rect">
            <a:avLst/>
          </a:prstGeom>
          <a:noFill/>
        </p:spPr>
        <p:txBody>
          <a:bodyPr wrap="square" lIns="0" rIns="0" tIns="0" bIns="0" anchor="ctr">
            <a:spAutoFit/>
          </a:bodyPr>
          <a:lstStyle/>
          <a:p>
            <a:pPr algn="l">
              <a:lnSpc>
                <a:spcPct val="120000"/>
              </a:lnSpc>
            </a:pPr>
            <a:r>
              <a:rPr sz="980" b="0" i="0" spc="136">
                <a:solidFill>
                  <a:srgbClr val="5B6E94"/>
                </a:solidFill>
                <a:latin typeface="Times New Roman"/>
              </a:rPr>
              <a:t>KARAKORAM</a:t>
            </a:r>
          </a:p>
        </p:txBody>
      </p:sp>
      <p:sp>
        <p:nvSpPr>
          <p:cNvPr id="20" name="TextBox 19"/>
          <p:cNvSpPr txBox="1"/>
          <p:nvPr/>
        </p:nvSpPr>
        <p:spPr>
          <a:xfrm>
            <a:off x="1885950" y="5019675"/>
            <a:ext cx="6660505" cy="257175"/>
          </a:xfrm>
          <a:prstGeom prst="rect">
            <a:avLst/>
          </a:prstGeom>
          <a:noFill/>
        </p:spPr>
        <p:txBody>
          <a:bodyPr wrap="square" lIns="0" rIns="0" tIns="0" bIns="0" anchor="ctr">
            <a:spAutoFit/>
          </a:bodyPr>
          <a:lstStyle/>
          <a:p>
            <a:pPr algn="l">
              <a:lnSpc>
                <a:spcPct val="120000"/>
              </a:lnSpc>
            </a:pPr>
            <a:r>
              <a:rPr sz="1500" b="1" i="0">
                <a:solidFill>
                  <a:srgbClr val="1A2B4C"/>
                </a:solidFill>
                <a:latin typeface="Times New Roman"/>
              </a:rPr>
              <a:t>The “roof of the world” west of the Himalaya</a:t>
            </a:r>
          </a:p>
        </p:txBody>
      </p:sp>
      <p:sp>
        <p:nvSpPr>
          <p:cNvPr id="21" name="TextBox 20"/>
          <p:cNvSpPr txBox="1"/>
          <p:nvPr/>
        </p:nvSpPr>
        <p:spPr>
          <a:xfrm>
            <a:off x="1885950" y="5276850"/>
            <a:ext cx="6660505" cy="209550"/>
          </a:xfrm>
          <a:prstGeom prst="rect">
            <a:avLst/>
          </a:prstGeom>
          <a:noFill/>
        </p:spPr>
        <p:txBody>
          <a:bodyPr wrap="square" lIns="0" rIns="0" tIns="0" bIns="0" anchor="ctr">
            <a:spAutoFit/>
          </a:bodyPr>
          <a:lstStyle/>
          <a:p>
            <a:pPr algn="l">
              <a:lnSpc>
                <a:spcPct val="120000"/>
              </a:lnSpc>
            </a:pPr>
            <a:r>
              <a:rPr sz="1200" b="0" i="0">
                <a:solidFill>
                  <a:srgbClr val="1A2B4C"/>
                </a:solidFill>
                <a:latin typeface="Times New Roman"/>
              </a:rPr>
              <a:t>K2 (8,611 m), Gasherbrum I (8,080 m), Broad Peak; home to the Baltoro, Biafo, and Hispar glacier systems.</a:t>
            </a:r>
          </a:p>
        </p:txBody>
      </p:sp>
      <p:sp>
        <p:nvSpPr>
          <p:cNvPr id="22" name="Rectangle 21"/>
          <p:cNvSpPr/>
          <p:nvPr/>
        </p:nvSpPr>
        <p:spPr>
          <a:xfrm>
            <a:off x="1143000" y="5772150"/>
            <a:ext cx="10287000" cy="942975"/>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43000" y="5772150"/>
            <a:ext cx="57150" cy="942975"/>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390650" y="5924550"/>
            <a:ext cx="381000" cy="295275"/>
          </a:xfrm>
          <a:prstGeom prst="rect">
            <a:avLst/>
          </a:prstGeom>
          <a:noFill/>
        </p:spPr>
        <p:txBody>
          <a:bodyPr wrap="square" lIns="0" rIns="0" tIns="0" bIns="0" anchor="ctr">
            <a:spAutoFit/>
          </a:bodyPr>
          <a:lstStyle/>
          <a:p>
            <a:pPr algn="l">
              <a:lnSpc>
                <a:spcPct val="120000"/>
              </a:lnSpc>
            </a:pPr>
            <a:r>
              <a:rPr sz="1800" b="1" i="0">
                <a:solidFill>
                  <a:srgbClr val="C81D25"/>
                </a:solidFill>
                <a:latin typeface="Times New Roman"/>
              </a:rPr>
              <a:t>3</a:t>
            </a:r>
          </a:p>
        </p:txBody>
      </p:sp>
      <p:sp>
        <p:nvSpPr>
          <p:cNvPr id="25" name="TextBox 24"/>
          <p:cNvSpPr txBox="1"/>
          <p:nvPr/>
        </p:nvSpPr>
        <p:spPr>
          <a:xfrm>
            <a:off x="1885950" y="5924550"/>
            <a:ext cx="5953720" cy="190500"/>
          </a:xfrm>
          <a:prstGeom prst="rect">
            <a:avLst/>
          </a:prstGeom>
          <a:noFill/>
        </p:spPr>
        <p:txBody>
          <a:bodyPr wrap="square" lIns="0" rIns="0" tIns="0" bIns="0" anchor="ctr">
            <a:spAutoFit/>
          </a:bodyPr>
          <a:lstStyle/>
          <a:p>
            <a:pPr algn="l">
              <a:lnSpc>
                <a:spcPct val="120000"/>
              </a:lnSpc>
            </a:pPr>
            <a:r>
              <a:rPr sz="980" b="0" i="0" spc="136">
                <a:solidFill>
                  <a:srgbClr val="5B6E94"/>
                </a:solidFill>
                <a:latin typeface="Times New Roman"/>
              </a:rPr>
              <a:t>HINDU KUSH</a:t>
            </a:r>
          </a:p>
        </p:txBody>
      </p:sp>
      <p:sp>
        <p:nvSpPr>
          <p:cNvPr id="26" name="TextBox 25"/>
          <p:cNvSpPr txBox="1"/>
          <p:nvPr/>
        </p:nvSpPr>
        <p:spPr>
          <a:xfrm>
            <a:off x="1885950" y="6096000"/>
            <a:ext cx="5953720" cy="257175"/>
          </a:xfrm>
          <a:prstGeom prst="rect">
            <a:avLst/>
          </a:prstGeom>
          <a:noFill/>
        </p:spPr>
        <p:txBody>
          <a:bodyPr wrap="square" lIns="0" rIns="0" tIns="0" bIns="0" anchor="ctr">
            <a:spAutoFit/>
          </a:bodyPr>
          <a:lstStyle/>
          <a:p>
            <a:pPr algn="l">
              <a:lnSpc>
                <a:spcPct val="120000"/>
              </a:lnSpc>
            </a:pPr>
            <a:r>
              <a:rPr sz="1500" b="1" i="0">
                <a:solidFill>
                  <a:srgbClr val="1A2B4C"/>
                </a:solidFill>
                <a:latin typeface="Times New Roman"/>
              </a:rPr>
              <a:t>The western wall of the Karakoram corridor</a:t>
            </a:r>
          </a:p>
        </p:txBody>
      </p:sp>
      <p:sp>
        <p:nvSpPr>
          <p:cNvPr id="27" name="TextBox 26"/>
          <p:cNvSpPr txBox="1"/>
          <p:nvPr/>
        </p:nvSpPr>
        <p:spPr>
          <a:xfrm>
            <a:off x="1885950" y="6353175"/>
            <a:ext cx="5953720" cy="209550"/>
          </a:xfrm>
          <a:prstGeom prst="rect">
            <a:avLst/>
          </a:prstGeom>
          <a:noFill/>
        </p:spPr>
        <p:txBody>
          <a:bodyPr wrap="square" lIns="0" rIns="0" tIns="0" bIns="0" anchor="ctr">
            <a:spAutoFit/>
          </a:bodyPr>
          <a:lstStyle/>
          <a:p>
            <a:pPr algn="l">
              <a:lnSpc>
                <a:spcPct val="120000"/>
              </a:lnSpc>
            </a:pPr>
            <a:r>
              <a:rPr sz="1200" b="0" i="0">
                <a:solidFill>
                  <a:srgbClr val="1A2B4C"/>
                </a:solidFill>
                <a:latin typeface="Times New Roman"/>
              </a:rPr>
              <a:t>Tirich Mir (7,708 m) anchors the Chitral district; separates the Kabul River basin from the Indus.</a:t>
            </a:r>
          </a:p>
        </p:txBody>
      </p:sp>
      <p:sp>
        <p:nvSpPr>
          <p:cNvPr id="28" name="Rectangle 27"/>
          <p:cNvSpPr/>
          <p:nvPr/>
        </p:nvSpPr>
        <p:spPr>
          <a:xfrm>
            <a:off x="1143000" y="6848475"/>
            <a:ext cx="10287000" cy="942975"/>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143000" y="6848475"/>
            <a:ext cx="57150" cy="942975"/>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1390650" y="7000875"/>
            <a:ext cx="381000" cy="295275"/>
          </a:xfrm>
          <a:prstGeom prst="rect">
            <a:avLst/>
          </a:prstGeom>
          <a:noFill/>
        </p:spPr>
        <p:txBody>
          <a:bodyPr wrap="square" lIns="0" rIns="0" tIns="0" bIns="0" anchor="ctr">
            <a:spAutoFit/>
          </a:bodyPr>
          <a:lstStyle/>
          <a:p>
            <a:pPr algn="l">
              <a:lnSpc>
                <a:spcPct val="120000"/>
              </a:lnSpc>
            </a:pPr>
            <a:r>
              <a:rPr sz="1800" b="1" i="0">
                <a:solidFill>
                  <a:srgbClr val="C81D25"/>
                </a:solidFill>
                <a:latin typeface="Times New Roman"/>
              </a:rPr>
              <a:t>4</a:t>
            </a:r>
          </a:p>
        </p:txBody>
      </p:sp>
      <p:sp>
        <p:nvSpPr>
          <p:cNvPr id="31" name="TextBox 30"/>
          <p:cNvSpPr txBox="1"/>
          <p:nvPr/>
        </p:nvSpPr>
        <p:spPr>
          <a:xfrm>
            <a:off x="1885950" y="7000875"/>
            <a:ext cx="5047208" cy="190500"/>
          </a:xfrm>
          <a:prstGeom prst="rect">
            <a:avLst/>
          </a:prstGeom>
          <a:noFill/>
        </p:spPr>
        <p:txBody>
          <a:bodyPr wrap="square" lIns="0" rIns="0" tIns="0" bIns="0" anchor="ctr">
            <a:spAutoFit/>
          </a:bodyPr>
          <a:lstStyle/>
          <a:p>
            <a:pPr algn="l">
              <a:lnSpc>
                <a:spcPct val="120000"/>
              </a:lnSpc>
            </a:pPr>
            <a:r>
              <a:rPr sz="980" b="0" i="0" spc="136">
                <a:solidFill>
                  <a:srgbClr val="5B6E94"/>
                </a:solidFill>
                <a:latin typeface="Times New Roman"/>
              </a:rPr>
              <a:t>SULAIMAN &amp; KIRTHAR</a:t>
            </a:r>
          </a:p>
        </p:txBody>
      </p:sp>
      <p:sp>
        <p:nvSpPr>
          <p:cNvPr id="32" name="TextBox 31"/>
          <p:cNvSpPr txBox="1"/>
          <p:nvPr/>
        </p:nvSpPr>
        <p:spPr>
          <a:xfrm>
            <a:off x="1885950" y="7172325"/>
            <a:ext cx="5047208" cy="257175"/>
          </a:xfrm>
          <a:prstGeom prst="rect">
            <a:avLst/>
          </a:prstGeom>
          <a:noFill/>
        </p:spPr>
        <p:txBody>
          <a:bodyPr wrap="square" lIns="0" rIns="0" tIns="0" bIns="0" anchor="ctr">
            <a:spAutoFit/>
          </a:bodyPr>
          <a:lstStyle/>
          <a:p>
            <a:pPr algn="l">
              <a:lnSpc>
                <a:spcPct val="120000"/>
              </a:lnSpc>
            </a:pPr>
            <a:r>
              <a:rPr sz="1500" b="1" i="0">
                <a:solidFill>
                  <a:srgbClr val="1A2B4C"/>
                </a:solidFill>
                <a:latin typeface="Times New Roman"/>
              </a:rPr>
              <a:t>The west-Pakistan ranges guarding the Indus plain</a:t>
            </a:r>
          </a:p>
        </p:txBody>
      </p:sp>
      <p:sp>
        <p:nvSpPr>
          <p:cNvPr id="33" name="TextBox 32"/>
          <p:cNvSpPr txBox="1"/>
          <p:nvPr/>
        </p:nvSpPr>
        <p:spPr>
          <a:xfrm>
            <a:off x="1885950" y="7429500"/>
            <a:ext cx="5047208" cy="209550"/>
          </a:xfrm>
          <a:prstGeom prst="rect">
            <a:avLst/>
          </a:prstGeom>
          <a:noFill/>
        </p:spPr>
        <p:txBody>
          <a:bodyPr wrap="square" lIns="0" rIns="0" tIns="0" bIns="0" anchor="ctr">
            <a:spAutoFit/>
          </a:bodyPr>
          <a:lstStyle/>
          <a:p>
            <a:pPr algn="l">
              <a:lnSpc>
                <a:spcPct val="120000"/>
              </a:lnSpc>
            </a:pPr>
            <a:r>
              <a:rPr sz="1200" b="0" i="0">
                <a:solidFill>
                  <a:srgbClr val="1A2B4C"/>
                </a:solidFill>
                <a:latin typeface="Times New Roman"/>
              </a:rPr>
              <a:t>Sulaiman (Takht-e-Sulaiman, 3,487 m); Kirthar in Sindh/Balochistan borderlands.</a:t>
            </a:r>
          </a:p>
        </p:txBody>
      </p:sp>
      <p:sp>
        <p:nvSpPr>
          <p:cNvPr id="34" name="Rectangle 33"/>
          <p:cNvSpPr/>
          <p:nvPr/>
        </p:nvSpPr>
        <p:spPr>
          <a:xfrm>
            <a:off x="1143000" y="7924800"/>
            <a:ext cx="10287000" cy="942975"/>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43000" y="7924800"/>
            <a:ext cx="57150" cy="942975"/>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390650" y="8077200"/>
            <a:ext cx="381000" cy="295275"/>
          </a:xfrm>
          <a:prstGeom prst="rect">
            <a:avLst/>
          </a:prstGeom>
          <a:noFill/>
        </p:spPr>
        <p:txBody>
          <a:bodyPr wrap="square" lIns="0" rIns="0" tIns="0" bIns="0" anchor="ctr">
            <a:spAutoFit/>
          </a:bodyPr>
          <a:lstStyle/>
          <a:p>
            <a:pPr algn="l">
              <a:lnSpc>
                <a:spcPct val="120000"/>
              </a:lnSpc>
            </a:pPr>
            <a:r>
              <a:rPr sz="1800" b="1" i="0">
                <a:solidFill>
                  <a:srgbClr val="C81D25"/>
                </a:solidFill>
                <a:latin typeface="Times New Roman"/>
              </a:rPr>
              <a:t>5</a:t>
            </a:r>
          </a:p>
        </p:txBody>
      </p:sp>
      <p:sp>
        <p:nvSpPr>
          <p:cNvPr id="37" name="TextBox 36"/>
          <p:cNvSpPr txBox="1"/>
          <p:nvPr/>
        </p:nvSpPr>
        <p:spPr>
          <a:xfrm>
            <a:off x="1885950" y="8077200"/>
            <a:ext cx="5452318" cy="190500"/>
          </a:xfrm>
          <a:prstGeom prst="rect">
            <a:avLst/>
          </a:prstGeom>
          <a:noFill/>
        </p:spPr>
        <p:txBody>
          <a:bodyPr wrap="square" lIns="0" rIns="0" tIns="0" bIns="0" anchor="ctr">
            <a:spAutoFit/>
          </a:bodyPr>
          <a:lstStyle/>
          <a:p>
            <a:pPr algn="l">
              <a:lnSpc>
                <a:spcPct val="120000"/>
              </a:lnSpc>
            </a:pPr>
            <a:r>
              <a:rPr sz="980" b="0" i="0" spc="136">
                <a:solidFill>
                  <a:srgbClr val="5B6E94"/>
                </a:solidFill>
                <a:latin typeface="Times New Roman"/>
              </a:rPr>
              <a:t>SALT RANGE</a:t>
            </a:r>
          </a:p>
        </p:txBody>
      </p:sp>
      <p:sp>
        <p:nvSpPr>
          <p:cNvPr id="38" name="TextBox 37"/>
          <p:cNvSpPr txBox="1"/>
          <p:nvPr/>
        </p:nvSpPr>
        <p:spPr>
          <a:xfrm>
            <a:off x="1885950" y="8248650"/>
            <a:ext cx="5452318" cy="257175"/>
          </a:xfrm>
          <a:prstGeom prst="rect">
            <a:avLst/>
          </a:prstGeom>
          <a:noFill/>
        </p:spPr>
        <p:txBody>
          <a:bodyPr wrap="square" lIns="0" rIns="0" tIns="0" bIns="0" anchor="ctr">
            <a:spAutoFit/>
          </a:bodyPr>
          <a:lstStyle/>
          <a:p>
            <a:pPr algn="l">
              <a:lnSpc>
                <a:spcPct val="120000"/>
              </a:lnSpc>
            </a:pPr>
            <a:r>
              <a:rPr sz="1500" b="1" i="0">
                <a:solidFill>
                  <a:srgbClr val="1A2B4C"/>
                </a:solidFill>
                <a:latin typeface="Times New Roman"/>
              </a:rPr>
              <a:t>Pakistan’s geological showcase</a:t>
            </a:r>
          </a:p>
        </p:txBody>
      </p:sp>
      <p:sp>
        <p:nvSpPr>
          <p:cNvPr id="39" name="TextBox 38"/>
          <p:cNvSpPr txBox="1"/>
          <p:nvPr/>
        </p:nvSpPr>
        <p:spPr>
          <a:xfrm>
            <a:off x="1885950" y="8505825"/>
            <a:ext cx="5452318" cy="209550"/>
          </a:xfrm>
          <a:prstGeom prst="rect">
            <a:avLst/>
          </a:prstGeom>
          <a:noFill/>
        </p:spPr>
        <p:txBody>
          <a:bodyPr wrap="square" lIns="0" rIns="0" tIns="0" bIns="0" anchor="ctr">
            <a:spAutoFit/>
          </a:bodyPr>
          <a:lstStyle/>
          <a:p>
            <a:pPr algn="l">
              <a:lnSpc>
                <a:spcPct val="120000"/>
              </a:lnSpc>
            </a:pPr>
            <a:r>
              <a:rPr sz="1200" b="0" i="0">
                <a:solidFill>
                  <a:srgbClr val="1A2B4C"/>
                </a:solidFill>
                <a:latin typeface="Times New Roman"/>
              </a:rPr>
              <a:t>Edwards-era evaporite outcrop, Potwar Plateau; world’s second-largest rock-salt deposit.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00" cy="685800"/>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791950" y="1009650"/>
            <a:ext cx="5372100" cy="38100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Image: Annotated cross-section diagram — Karakoram thrust / Main Karakoram Thrust / Indus Suture.</a:t>
            </a:r>
          </a:p>
        </p:txBody>
      </p:sp>
      <p:sp>
        <p:nvSpPr>
          <p:cNvPr id="5" name="TextBox 4"/>
          <p:cNvSpPr txBox="1"/>
          <p:nvPr/>
        </p:nvSpPr>
        <p:spPr>
          <a:xfrm>
            <a:off x="1123950" y="190500"/>
            <a:ext cx="11468100" cy="209550"/>
          </a:xfrm>
          <a:prstGeom prst="rect">
            <a:avLst/>
          </a:prstGeom>
          <a:noFill/>
        </p:spPr>
        <p:txBody>
          <a:bodyPr wrap="square" lIns="0" rIns="0" tIns="0" bIns="0" anchor="ctr">
            <a:spAutoFit/>
          </a:bodyPr>
          <a:lstStyle/>
          <a:p>
            <a:pPr algn="l">
              <a:lnSpc>
                <a:spcPct val="120000"/>
              </a:lnSpc>
            </a:pPr>
            <a:r>
              <a:rPr sz="1200" b="0" i="0">
                <a:solidFill>
                  <a:srgbClr val="FFFFFF"/>
                </a:solidFill>
                <a:latin typeface="Times New Roman"/>
              </a:rPr>
              <a:t>06 · Detail A · the Karakoram–Himalaya knot</a:t>
            </a:r>
          </a:p>
        </p:txBody>
      </p:sp>
      <p:sp>
        <p:nvSpPr>
          <p:cNvPr id="6" name="TextBox 5"/>
          <p:cNvSpPr txBox="1"/>
          <p:nvPr/>
        </p:nvSpPr>
        <p:spPr>
          <a:xfrm>
            <a:off x="16173450" y="190500"/>
            <a:ext cx="1181100" cy="323850"/>
          </a:xfrm>
          <a:prstGeom prst="rect">
            <a:avLst/>
          </a:prstGeom>
          <a:noFill/>
        </p:spPr>
        <p:txBody>
          <a:bodyPr wrap="square" lIns="0" rIns="0" tIns="0" bIns="0" anchor="ctr">
            <a:spAutoFit/>
          </a:bodyPr>
          <a:lstStyle/>
          <a:p>
            <a:pPr algn="r">
              <a:lnSpc>
                <a:spcPct val="120000"/>
              </a:lnSpc>
            </a:pPr>
            <a:r>
              <a:rPr sz="1050" b="0" i="1">
                <a:solidFill>
                  <a:srgbClr val="C81D25"/>
                </a:solidFill>
                <a:latin typeface="Times New Roman"/>
              </a:rPr>
              <a:t>06 / 22</a:t>
            </a:r>
          </a:p>
        </p:txBody>
      </p:sp>
      <p:sp>
        <p:nvSpPr>
          <p:cNvPr id="7" name="TextBox 6"/>
          <p:cNvSpPr txBox="1"/>
          <p:nvPr/>
        </p:nvSpPr>
        <p:spPr>
          <a:xfrm>
            <a:off x="1123950" y="1009650"/>
            <a:ext cx="7658100" cy="41910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Detail A</a:t>
            </a:r>
          </a:p>
        </p:txBody>
      </p:sp>
      <p:sp>
        <p:nvSpPr>
          <p:cNvPr id="8" name="TextBox 7"/>
          <p:cNvSpPr txBox="1"/>
          <p:nvPr/>
        </p:nvSpPr>
        <p:spPr>
          <a:xfrm>
            <a:off x="1123950" y="1600200"/>
            <a:ext cx="16040100" cy="1198066"/>
          </a:xfrm>
          <a:prstGeom prst="rect">
            <a:avLst/>
          </a:prstGeom>
          <a:noFill/>
        </p:spPr>
        <p:txBody>
          <a:bodyPr wrap="square" lIns="0" rIns="0" tIns="0" bIns="0" anchor="t">
            <a:spAutoFit/>
          </a:bodyPr>
          <a:lstStyle/>
          <a:p>
            <a:pPr algn="l">
              <a:lnSpc>
                <a:spcPct val="105000"/>
              </a:lnSpc>
            </a:pPr>
            <a:r>
              <a:rPr sz="4350" b="1" i="0">
                <a:solidFill>
                  <a:srgbClr val="C81D25"/>
                </a:solidFill>
                <a:latin typeface="Times New Roman"/>
              </a:rPr>
              <a:t>The northern highlands.</a:t>
            </a:r>
          </a:p>
          <a:p>
            <a:pPr algn="l">
              <a:lnSpc>
                <a:spcPct val="105000"/>
              </a:lnSpc>
            </a:pPr>
            <a:r>
              <a:rPr sz="4350" b="1" i="0">
                <a:solidFill>
                  <a:srgbClr val="1A2B4C"/>
                </a:solidFill>
                <a:latin typeface="Times New Roman"/>
              </a:rPr>
              <a:t>Karakoram, Himalaya, and Hindu Kush — a triangular syntaxis. </a:t>
            </a:r>
          </a:p>
        </p:txBody>
      </p:sp>
      <p:sp>
        <p:nvSpPr>
          <p:cNvPr id="9" name="Rectangle 8"/>
          <p:cNvSpPr/>
          <p:nvPr/>
        </p:nvSpPr>
        <p:spPr>
          <a:xfrm>
            <a:off x="1143000" y="4095750"/>
            <a:ext cx="3340000" cy="207645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43000" y="4095750"/>
            <a:ext cx="3340000" cy="38100"/>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33500" y="4305300"/>
            <a:ext cx="2959000" cy="190500"/>
          </a:xfrm>
          <a:prstGeom prst="rect">
            <a:avLst/>
          </a:prstGeom>
          <a:noFill/>
        </p:spPr>
        <p:txBody>
          <a:bodyPr wrap="square" lIns="0" rIns="0" tIns="0" bIns="0" anchor="ctr">
            <a:spAutoFit/>
          </a:bodyPr>
          <a:lstStyle/>
          <a:p>
            <a:pPr algn="l">
              <a:lnSpc>
                <a:spcPct val="120000"/>
              </a:lnSpc>
            </a:pPr>
            <a:r>
              <a:rPr sz="980" b="0" i="0" spc="136">
                <a:solidFill>
                  <a:srgbClr val="5B6E94"/>
                </a:solidFill>
                <a:latin typeface="Times New Roman"/>
              </a:rPr>
              <a:t>KARAKORAM</a:t>
            </a:r>
          </a:p>
        </p:txBody>
      </p:sp>
      <p:sp>
        <p:nvSpPr>
          <p:cNvPr id="12" name="TextBox 11"/>
          <p:cNvSpPr txBox="1"/>
          <p:nvPr/>
        </p:nvSpPr>
        <p:spPr>
          <a:xfrm>
            <a:off x="1333500" y="4514850"/>
            <a:ext cx="2959000" cy="285750"/>
          </a:xfrm>
          <a:prstGeom prst="rect">
            <a:avLst/>
          </a:prstGeom>
          <a:noFill/>
        </p:spPr>
        <p:txBody>
          <a:bodyPr wrap="square" lIns="0" rIns="0" tIns="0" bIns="0" anchor="ctr">
            <a:spAutoFit/>
          </a:bodyPr>
          <a:lstStyle/>
          <a:p>
            <a:pPr algn="l">
              <a:lnSpc>
                <a:spcPct val="120000"/>
              </a:lnSpc>
            </a:pPr>
            <a:r>
              <a:rPr sz="1650" b="1" i="0">
                <a:solidFill>
                  <a:srgbClr val="1A2B4C"/>
                </a:solidFill>
                <a:latin typeface="Times New Roman"/>
              </a:rPr>
              <a:t>Ceiling: 8,611 m</a:t>
            </a:r>
          </a:p>
        </p:txBody>
      </p:sp>
      <p:sp>
        <p:nvSpPr>
          <p:cNvPr id="13" name="TextBox 12"/>
          <p:cNvSpPr txBox="1"/>
          <p:nvPr/>
        </p:nvSpPr>
        <p:spPr>
          <a:xfrm>
            <a:off x="1333500" y="4819650"/>
            <a:ext cx="2959000" cy="952500"/>
          </a:xfrm>
          <a:prstGeom prst="rect">
            <a:avLst/>
          </a:prstGeom>
          <a:noFill/>
        </p:spPr>
        <p:txBody>
          <a:bodyPr wrap="square" lIns="0" rIns="0" tIns="0" bIns="0" anchor="t">
            <a:spAutoFit/>
          </a:bodyPr>
          <a:lstStyle/>
          <a:p>
            <a:pPr algn="l">
              <a:lnSpc>
                <a:spcPct val="150000"/>
              </a:lnSpc>
            </a:pPr>
            <a:r>
              <a:rPr sz="1200" b="0" i="0">
                <a:solidFill>
                  <a:srgbClr val="1A2B4C"/>
                </a:solidFill>
                <a:latin typeface="Times New Roman"/>
              </a:rPr>
              <a:t>K2, the world’s second-highest peak, anchors a 600-km range shared between Gilgit-Baltistan and Xinjiang. Five of the world’s fourteen 8,000-m peaks lie entirely within Pakistan.</a:t>
            </a:r>
          </a:p>
        </p:txBody>
      </p:sp>
      <p:sp>
        <p:nvSpPr>
          <p:cNvPr id="14" name="Rectangle 13"/>
          <p:cNvSpPr/>
          <p:nvPr/>
        </p:nvSpPr>
        <p:spPr>
          <a:xfrm>
            <a:off x="4616350" y="4095750"/>
            <a:ext cx="3340149" cy="207645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616350" y="4095750"/>
            <a:ext cx="3340149" cy="38100"/>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806850" y="4305300"/>
            <a:ext cx="2959149" cy="190500"/>
          </a:xfrm>
          <a:prstGeom prst="rect">
            <a:avLst/>
          </a:prstGeom>
          <a:noFill/>
        </p:spPr>
        <p:txBody>
          <a:bodyPr wrap="square" lIns="0" rIns="0" tIns="0" bIns="0" anchor="ctr">
            <a:spAutoFit/>
          </a:bodyPr>
          <a:lstStyle/>
          <a:p>
            <a:pPr algn="l">
              <a:lnSpc>
                <a:spcPct val="120000"/>
              </a:lnSpc>
            </a:pPr>
            <a:r>
              <a:rPr sz="980" b="0" i="0" spc="136">
                <a:solidFill>
                  <a:srgbClr val="5B6E94"/>
                </a:solidFill>
                <a:latin typeface="Times New Roman"/>
              </a:rPr>
              <a:t>HIMALAYAS</a:t>
            </a:r>
          </a:p>
        </p:txBody>
      </p:sp>
      <p:sp>
        <p:nvSpPr>
          <p:cNvPr id="17" name="TextBox 16"/>
          <p:cNvSpPr txBox="1"/>
          <p:nvPr/>
        </p:nvSpPr>
        <p:spPr>
          <a:xfrm>
            <a:off x="4806850" y="4514850"/>
            <a:ext cx="2959149" cy="285750"/>
          </a:xfrm>
          <a:prstGeom prst="rect">
            <a:avLst/>
          </a:prstGeom>
          <a:noFill/>
        </p:spPr>
        <p:txBody>
          <a:bodyPr wrap="square" lIns="0" rIns="0" tIns="0" bIns="0" anchor="ctr">
            <a:spAutoFit/>
          </a:bodyPr>
          <a:lstStyle/>
          <a:p>
            <a:pPr algn="l">
              <a:lnSpc>
                <a:spcPct val="120000"/>
              </a:lnSpc>
            </a:pPr>
            <a:r>
              <a:rPr sz="1650" b="1" i="0">
                <a:solidFill>
                  <a:srgbClr val="1A2B4C"/>
                </a:solidFill>
                <a:latin typeface="Times New Roman"/>
              </a:rPr>
              <a:t>Ceiling: 8,126 m</a:t>
            </a:r>
          </a:p>
        </p:txBody>
      </p:sp>
      <p:sp>
        <p:nvSpPr>
          <p:cNvPr id="18" name="TextBox 17"/>
          <p:cNvSpPr txBox="1"/>
          <p:nvPr/>
        </p:nvSpPr>
        <p:spPr>
          <a:xfrm>
            <a:off x="4806850" y="4819650"/>
            <a:ext cx="2959149" cy="952500"/>
          </a:xfrm>
          <a:prstGeom prst="rect">
            <a:avLst/>
          </a:prstGeom>
          <a:noFill/>
        </p:spPr>
        <p:txBody>
          <a:bodyPr wrap="square" lIns="0" rIns="0" tIns="0" bIns="0" anchor="t">
            <a:spAutoFit/>
          </a:bodyPr>
          <a:lstStyle/>
          <a:p>
            <a:pPr algn="l">
              <a:lnSpc>
                <a:spcPct val="150000"/>
              </a:lnSpc>
            </a:pPr>
            <a:r>
              <a:rPr sz="1200" b="0" i="0">
                <a:solidFill>
                  <a:srgbClr val="1A2B4C"/>
                </a:solidFill>
                <a:latin typeface="Times New Roman"/>
              </a:rPr>
              <a:t>Nanga Parbat, the “Killer Mountain,” stands alone in the western syntaxis of Azad Kashmir. Produces the Indus’ upper gorge — one of the deepest fluvial cuts on Earth.</a:t>
            </a:r>
          </a:p>
        </p:txBody>
      </p:sp>
      <p:sp>
        <p:nvSpPr>
          <p:cNvPr id="19" name="Rectangle 18"/>
          <p:cNvSpPr/>
          <p:nvPr/>
        </p:nvSpPr>
        <p:spPr>
          <a:xfrm>
            <a:off x="8089850" y="4095750"/>
            <a:ext cx="3340000" cy="207645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89850" y="4095750"/>
            <a:ext cx="3340000" cy="38100"/>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80350" y="4305300"/>
            <a:ext cx="2959000" cy="190500"/>
          </a:xfrm>
          <a:prstGeom prst="rect">
            <a:avLst/>
          </a:prstGeom>
          <a:noFill/>
        </p:spPr>
        <p:txBody>
          <a:bodyPr wrap="square" lIns="0" rIns="0" tIns="0" bIns="0" anchor="ctr">
            <a:spAutoFit/>
          </a:bodyPr>
          <a:lstStyle/>
          <a:p>
            <a:pPr algn="l">
              <a:lnSpc>
                <a:spcPct val="120000"/>
              </a:lnSpc>
            </a:pPr>
            <a:r>
              <a:rPr sz="980" b="0" i="0" spc="136">
                <a:solidFill>
                  <a:srgbClr val="5B6E94"/>
                </a:solidFill>
                <a:latin typeface="Times New Roman"/>
              </a:rPr>
              <a:t>HINDU KUSH</a:t>
            </a:r>
          </a:p>
        </p:txBody>
      </p:sp>
      <p:sp>
        <p:nvSpPr>
          <p:cNvPr id="22" name="TextBox 21"/>
          <p:cNvSpPr txBox="1"/>
          <p:nvPr/>
        </p:nvSpPr>
        <p:spPr>
          <a:xfrm>
            <a:off x="8280350" y="4514850"/>
            <a:ext cx="2959000" cy="285750"/>
          </a:xfrm>
          <a:prstGeom prst="rect">
            <a:avLst/>
          </a:prstGeom>
          <a:noFill/>
        </p:spPr>
        <p:txBody>
          <a:bodyPr wrap="square" lIns="0" rIns="0" tIns="0" bIns="0" anchor="ctr">
            <a:spAutoFit/>
          </a:bodyPr>
          <a:lstStyle/>
          <a:p>
            <a:pPr algn="l">
              <a:lnSpc>
                <a:spcPct val="120000"/>
              </a:lnSpc>
            </a:pPr>
            <a:r>
              <a:rPr sz="1650" b="1" i="0">
                <a:solidFill>
                  <a:srgbClr val="1A2B4C"/>
                </a:solidFill>
                <a:latin typeface="Times New Roman"/>
              </a:rPr>
              <a:t>Ceiling: 7,708 m</a:t>
            </a:r>
          </a:p>
        </p:txBody>
      </p:sp>
      <p:sp>
        <p:nvSpPr>
          <p:cNvPr id="23" name="TextBox 22"/>
          <p:cNvSpPr txBox="1"/>
          <p:nvPr/>
        </p:nvSpPr>
        <p:spPr>
          <a:xfrm>
            <a:off x="8280350" y="4819650"/>
            <a:ext cx="2959000" cy="1181100"/>
          </a:xfrm>
          <a:prstGeom prst="rect">
            <a:avLst/>
          </a:prstGeom>
          <a:noFill/>
        </p:spPr>
        <p:txBody>
          <a:bodyPr wrap="square" lIns="0" rIns="0" tIns="0" bIns="0" anchor="t">
            <a:spAutoFit/>
          </a:bodyPr>
          <a:lstStyle/>
          <a:p>
            <a:pPr algn="l">
              <a:lnSpc>
                <a:spcPct val="150000"/>
              </a:lnSpc>
            </a:pPr>
            <a:r>
              <a:rPr sz="1200" b="0" i="0">
                <a:solidFill>
                  <a:srgbClr val="1A2B4C"/>
                </a:solidFill>
                <a:latin typeface="Times New Roman"/>
              </a:rPr>
              <a:t>Tirich Mir in Chitral marks Pakistan’s NW corner. The Hindu Kush cuts east–west across the Afghan frontier and channels the westerly disturbances that snow the Karakoram in winter.</a:t>
            </a:r>
          </a:p>
        </p:txBody>
      </p:sp>
      <p:sp>
        <p:nvSpPr>
          <p:cNvPr id="24" name="Rectangle 23"/>
          <p:cNvSpPr/>
          <p:nvPr/>
        </p:nvSpPr>
        <p:spPr>
          <a:xfrm>
            <a:off x="1143000" y="6438900"/>
            <a:ext cx="10287000" cy="1047750"/>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352550" y="6610350"/>
            <a:ext cx="1172467" cy="190500"/>
          </a:xfrm>
          <a:prstGeom prst="rect">
            <a:avLst/>
          </a:prstGeom>
          <a:noFill/>
        </p:spPr>
        <p:txBody>
          <a:bodyPr wrap="square" lIns="0" rIns="0" tIns="0" bIns="0" anchor="ctr">
            <a:spAutoFit/>
          </a:bodyPr>
          <a:lstStyle/>
          <a:p>
            <a:pPr algn="l">
              <a:lnSpc>
                <a:spcPct val="120000"/>
              </a:lnSpc>
            </a:pPr>
            <a:r>
              <a:rPr sz="980" b="0" i="0" spc="136">
                <a:solidFill>
                  <a:srgbClr val="FFFFFF"/>
                </a:solidFill>
                <a:latin typeface="Times New Roman"/>
              </a:rPr>
              <a:t>Glaciers</a:t>
            </a:r>
          </a:p>
        </p:txBody>
      </p:sp>
      <p:sp>
        <p:nvSpPr>
          <p:cNvPr id="26" name="TextBox 25"/>
          <p:cNvSpPr txBox="1"/>
          <p:nvPr/>
        </p:nvSpPr>
        <p:spPr>
          <a:xfrm>
            <a:off x="1352550" y="6781800"/>
            <a:ext cx="1172467" cy="361950"/>
          </a:xfrm>
          <a:prstGeom prst="rect">
            <a:avLst/>
          </a:prstGeom>
          <a:noFill/>
        </p:spPr>
        <p:txBody>
          <a:bodyPr wrap="square" lIns="0" rIns="0" tIns="0" bIns="0" anchor="ctr">
            <a:spAutoFit/>
          </a:bodyPr>
          <a:lstStyle/>
          <a:p>
            <a:pPr algn="l">
              <a:lnSpc>
                <a:spcPct val="120000"/>
              </a:lnSpc>
            </a:pPr>
            <a:r>
              <a:rPr sz="2250" b="1" i="0">
                <a:solidFill>
                  <a:srgbClr val="FFFFFF"/>
                </a:solidFill>
                <a:latin typeface="Times New Roman"/>
              </a:rPr>
              <a:t>~7,200</a:t>
            </a:r>
          </a:p>
        </p:txBody>
      </p:sp>
      <p:sp>
        <p:nvSpPr>
          <p:cNvPr id="27" name="TextBox 26"/>
          <p:cNvSpPr txBox="1"/>
          <p:nvPr/>
        </p:nvSpPr>
        <p:spPr>
          <a:xfrm>
            <a:off x="1352550" y="7124700"/>
            <a:ext cx="1172467" cy="190500"/>
          </a:xfrm>
          <a:prstGeom prst="rect">
            <a:avLst/>
          </a:prstGeom>
          <a:noFill/>
        </p:spPr>
        <p:txBody>
          <a:bodyPr wrap="square" lIns="0" rIns="0" tIns="0" bIns="0" anchor="ctr">
            <a:spAutoFit/>
          </a:bodyPr>
          <a:lstStyle/>
          <a:p>
            <a:pPr algn="l">
              <a:lnSpc>
                <a:spcPct val="120000"/>
              </a:lnSpc>
            </a:pPr>
            <a:r>
              <a:rPr sz="1050" b="0" i="1">
                <a:solidFill>
                  <a:srgbClr val="FFFFFF"/>
                </a:solidFill>
                <a:latin typeface="Times New Roman"/>
              </a:rPr>
              <a:t>incl. 60+ km Siachen</a:t>
            </a:r>
          </a:p>
        </p:txBody>
      </p:sp>
      <p:sp>
        <p:nvSpPr>
          <p:cNvPr id="28" name="TextBox 27"/>
          <p:cNvSpPr txBox="1"/>
          <p:nvPr/>
        </p:nvSpPr>
        <p:spPr>
          <a:xfrm>
            <a:off x="2791717" y="6610350"/>
            <a:ext cx="1922115" cy="190500"/>
          </a:xfrm>
          <a:prstGeom prst="rect">
            <a:avLst/>
          </a:prstGeom>
          <a:noFill/>
        </p:spPr>
        <p:txBody>
          <a:bodyPr wrap="square" lIns="0" rIns="0" tIns="0" bIns="0" anchor="ctr">
            <a:spAutoFit/>
          </a:bodyPr>
          <a:lstStyle/>
          <a:p>
            <a:pPr algn="l">
              <a:lnSpc>
                <a:spcPct val="120000"/>
              </a:lnSpc>
            </a:pPr>
            <a:r>
              <a:rPr sz="980" b="0" i="0" spc="136">
                <a:solidFill>
                  <a:srgbClr val="FFFFFF"/>
                </a:solidFill>
                <a:latin typeface="Times New Roman"/>
              </a:rPr>
              <a:t>Ice reserves</a:t>
            </a:r>
          </a:p>
        </p:txBody>
      </p:sp>
      <p:sp>
        <p:nvSpPr>
          <p:cNvPr id="29" name="TextBox 28"/>
          <p:cNvSpPr txBox="1"/>
          <p:nvPr/>
        </p:nvSpPr>
        <p:spPr>
          <a:xfrm>
            <a:off x="2791717" y="6781800"/>
            <a:ext cx="1922115" cy="361950"/>
          </a:xfrm>
          <a:prstGeom prst="rect">
            <a:avLst/>
          </a:prstGeom>
          <a:noFill/>
        </p:spPr>
        <p:txBody>
          <a:bodyPr wrap="square" lIns="0" rIns="0" tIns="0" bIns="0" anchor="ctr">
            <a:spAutoFit/>
          </a:bodyPr>
          <a:lstStyle/>
          <a:p>
            <a:pPr algn="l">
              <a:lnSpc>
                <a:spcPct val="120000"/>
              </a:lnSpc>
            </a:pPr>
            <a:r>
              <a:rPr sz="2250" b="1" i="0">
                <a:solidFill>
                  <a:srgbClr val="FFFFFF"/>
                </a:solidFill>
                <a:latin typeface="Times New Roman"/>
              </a:rPr>
              <a:t>~3,700 km³</a:t>
            </a:r>
          </a:p>
        </p:txBody>
      </p:sp>
      <p:sp>
        <p:nvSpPr>
          <p:cNvPr id="30" name="TextBox 29"/>
          <p:cNvSpPr txBox="1"/>
          <p:nvPr/>
        </p:nvSpPr>
        <p:spPr>
          <a:xfrm>
            <a:off x="2791717" y="7124700"/>
            <a:ext cx="1922115" cy="190500"/>
          </a:xfrm>
          <a:prstGeom prst="rect">
            <a:avLst/>
          </a:prstGeom>
          <a:noFill/>
        </p:spPr>
        <p:txBody>
          <a:bodyPr wrap="square" lIns="0" rIns="0" tIns="0" bIns="0" anchor="ctr">
            <a:spAutoFit/>
          </a:bodyPr>
          <a:lstStyle/>
          <a:p>
            <a:pPr algn="l">
              <a:lnSpc>
                <a:spcPct val="120000"/>
              </a:lnSpc>
            </a:pPr>
            <a:r>
              <a:rPr sz="1050" b="0" i="1">
                <a:solidFill>
                  <a:srgbClr val="FFFFFF"/>
                </a:solidFill>
                <a:latin typeface="Times New Roman"/>
              </a:rPr>
              <a:t>Outside polar regions, near-largest</a:t>
            </a:r>
          </a:p>
        </p:txBody>
      </p:sp>
      <p:sp>
        <p:nvSpPr>
          <p:cNvPr id="31" name="TextBox 30"/>
          <p:cNvSpPr txBox="1"/>
          <p:nvPr/>
        </p:nvSpPr>
        <p:spPr>
          <a:xfrm>
            <a:off x="4980533" y="6610350"/>
            <a:ext cx="1656903" cy="190500"/>
          </a:xfrm>
          <a:prstGeom prst="rect">
            <a:avLst/>
          </a:prstGeom>
          <a:noFill/>
        </p:spPr>
        <p:txBody>
          <a:bodyPr wrap="square" lIns="0" rIns="0" tIns="0" bIns="0" anchor="ctr">
            <a:spAutoFit/>
          </a:bodyPr>
          <a:lstStyle/>
          <a:p>
            <a:pPr algn="l">
              <a:lnSpc>
                <a:spcPct val="120000"/>
              </a:lnSpc>
            </a:pPr>
            <a:r>
              <a:rPr sz="980" b="0" i="0" spc="136">
                <a:solidFill>
                  <a:srgbClr val="FFFFFF"/>
                </a:solidFill>
                <a:latin typeface="Times New Roman"/>
              </a:rPr>
              <a:t>Convergence rate</a:t>
            </a:r>
          </a:p>
        </p:txBody>
      </p:sp>
      <p:sp>
        <p:nvSpPr>
          <p:cNvPr id="32" name="TextBox 31"/>
          <p:cNvSpPr txBox="1"/>
          <p:nvPr/>
        </p:nvSpPr>
        <p:spPr>
          <a:xfrm>
            <a:off x="4980533" y="6781800"/>
            <a:ext cx="1656903" cy="361950"/>
          </a:xfrm>
          <a:prstGeom prst="rect">
            <a:avLst/>
          </a:prstGeom>
          <a:noFill/>
        </p:spPr>
        <p:txBody>
          <a:bodyPr wrap="square" lIns="0" rIns="0" tIns="0" bIns="0" anchor="ctr">
            <a:spAutoFit/>
          </a:bodyPr>
          <a:lstStyle/>
          <a:p>
            <a:pPr algn="l">
              <a:lnSpc>
                <a:spcPct val="120000"/>
              </a:lnSpc>
            </a:pPr>
            <a:r>
              <a:rPr sz="2250" b="1" i="0">
                <a:solidFill>
                  <a:srgbClr val="FFFFFF"/>
                </a:solidFill>
                <a:latin typeface="Times New Roman"/>
              </a:rPr>
              <a:t>~40 mm/yr</a:t>
            </a:r>
          </a:p>
        </p:txBody>
      </p:sp>
      <p:sp>
        <p:nvSpPr>
          <p:cNvPr id="33" name="TextBox 32"/>
          <p:cNvSpPr txBox="1"/>
          <p:nvPr/>
        </p:nvSpPr>
        <p:spPr>
          <a:xfrm>
            <a:off x="4980533" y="7124700"/>
            <a:ext cx="1656903" cy="190500"/>
          </a:xfrm>
          <a:prstGeom prst="rect">
            <a:avLst/>
          </a:prstGeom>
          <a:noFill/>
        </p:spPr>
        <p:txBody>
          <a:bodyPr wrap="square" lIns="0" rIns="0" tIns="0" bIns="0" anchor="ctr">
            <a:spAutoFit/>
          </a:bodyPr>
          <a:lstStyle/>
          <a:p>
            <a:pPr algn="l">
              <a:lnSpc>
                <a:spcPct val="120000"/>
              </a:lnSpc>
            </a:pPr>
            <a:r>
              <a:rPr sz="1050" b="0" i="1">
                <a:solidFill>
                  <a:srgbClr val="FFFFFF"/>
                </a:solidFill>
                <a:latin typeface="Times New Roman"/>
              </a:rPr>
              <a:t>Indo–Eurasian, ongoing uplift</a:t>
            </a:r>
          </a:p>
        </p:txBody>
      </p:sp>
      <p:sp>
        <p:nvSpPr>
          <p:cNvPr id="34" name="Rectangle 33"/>
          <p:cNvSpPr/>
          <p:nvPr/>
        </p:nvSpPr>
        <p:spPr>
          <a:xfrm>
            <a:off x="11811000" y="6953250"/>
            <a:ext cx="5334000" cy="723900"/>
          </a:xfrm>
          <a:prstGeom prst="rect">
            <a:avLst/>
          </a:prstGeom>
          <a:solidFill>
            <a:srgbClr val="FCE4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811000" y="6953250"/>
            <a:ext cx="38100" cy="723900"/>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1791950" y="6934200"/>
            <a:ext cx="5372100" cy="762000"/>
          </a:xfrm>
          <a:prstGeom prst="rect">
            <a:avLst/>
          </a:prstGeom>
          <a:noFill/>
        </p:spPr>
        <p:txBody>
          <a:bodyPr wrap="square" lIns="0" rIns="0" tIns="0" bIns="0" anchor="t">
            <a:spAutoFit/>
          </a:bodyPr>
          <a:lstStyle/>
          <a:p>
            <a:pPr algn="l">
              <a:lnSpc>
                <a:spcPct val="150000"/>
              </a:lnSpc>
            </a:pPr>
            <a:r>
              <a:rPr sz="1200" b="0" i="1">
                <a:solidFill>
                  <a:srgbClr val="1A2B4C"/>
                </a:solidFill>
                <a:latin typeface="Times New Roman"/>
              </a:rPr>
              <a:t> The northern highlands are not scenic — they are </a:t>
            </a:r>
            <a:r>
              <a:rPr sz="1200" b="1" i="1">
                <a:solidFill>
                  <a:srgbClr val="1A2B4C"/>
                </a:solidFill>
                <a:latin typeface="Times New Roman"/>
              </a:rPr>
              <a:t>hydrologically decisive</a:t>
            </a:r>
            <a:r>
              <a:rPr sz="1200" b="0" i="1">
                <a:solidFill>
                  <a:srgbClr val="1A2B4C"/>
                </a:solidFill>
                <a:latin typeface="Times New Roman"/>
              </a:rPr>
              <a:t>. Every drop of meltwater the Indus carries past Tarbela Dam originates here. </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00" cy="685800"/>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791950" y="1009650"/>
            <a:ext cx="5372100" cy="55245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Image: Annotated map of western Pakistan mountain ranges — Salt Range in Potwar (top), Sulaiman running N–S along Punjab/ Balochistan border, Kirthar running N–S along Sindh/ Balochistan border, Chagai Hills at the SW corner.</a:t>
            </a:r>
          </a:p>
        </p:txBody>
      </p:sp>
      <p:sp>
        <p:nvSpPr>
          <p:cNvPr id="5" name="TextBox 4"/>
          <p:cNvSpPr txBox="1"/>
          <p:nvPr/>
        </p:nvSpPr>
        <p:spPr>
          <a:xfrm>
            <a:off x="1123950" y="190500"/>
            <a:ext cx="11468100" cy="209550"/>
          </a:xfrm>
          <a:prstGeom prst="rect">
            <a:avLst/>
          </a:prstGeom>
          <a:noFill/>
        </p:spPr>
        <p:txBody>
          <a:bodyPr wrap="square" lIns="0" rIns="0" tIns="0" bIns="0" anchor="ctr">
            <a:spAutoFit/>
          </a:bodyPr>
          <a:lstStyle/>
          <a:p>
            <a:pPr algn="l">
              <a:lnSpc>
                <a:spcPct val="120000"/>
              </a:lnSpc>
            </a:pPr>
            <a:r>
              <a:rPr sz="1200" b="0" i="0">
                <a:solidFill>
                  <a:srgbClr val="FFFFFF"/>
                </a:solidFill>
                <a:latin typeface="Times New Roman"/>
              </a:rPr>
              <a:t>07 · Detail B · the western wall and the basin between mountains</a:t>
            </a:r>
          </a:p>
        </p:txBody>
      </p:sp>
      <p:sp>
        <p:nvSpPr>
          <p:cNvPr id="6" name="TextBox 5"/>
          <p:cNvSpPr txBox="1"/>
          <p:nvPr/>
        </p:nvSpPr>
        <p:spPr>
          <a:xfrm>
            <a:off x="16173450" y="190500"/>
            <a:ext cx="1181100" cy="323850"/>
          </a:xfrm>
          <a:prstGeom prst="rect">
            <a:avLst/>
          </a:prstGeom>
          <a:noFill/>
        </p:spPr>
        <p:txBody>
          <a:bodyPr wrap="square" lIns="0" rIns="0" tIns="0" bIns="0" anchor="ctr">
            <a:spAutoFit/>
          </a:bodyPr>
          <a:lstStyle/>
          <a:p>
            <a:pPr algn="r">
              <a:lnSpc>
                <a:spcPct val="120000"/>
              </a:lnSpc>
            </a:pPr>
            <a:r>
              <a:rPr sz="1050" b="0" i="1">
                <a:solidFill>
                  <a:srgbClr val="C81D25"/>
                </a:solidFill>
                <a:latin typeface="Times New Roman"/>
              </a:rPr>
              <a:t>07 / 22</a:t>
            </a:r>
          </a:p>
        </p:txBody>
      </p:sp>
      <p:sp>
        <p:nvSpPr>
          <p:cNvPr id="7" name="TextBox 6"/>
          <p:cNvSpPr txBox="1"/>
          <p:nvPr/>
        </p:nvSpPr>
        <p:spPr>
          <a:xfrm>
            <a:off x="1123950" y="1009650"/>
            <a:ext cx="7658100" cy="41910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Detail B</a:t>
            </a:r>
          </a:p>
        </p:txBody>
      </p:sp>
      <p:sp>
        <p:nvSpPr>
          <p:cNvPr id="8" name="TextBox 7"/>
          <p:cNvSpPr txBox="1"/>
          <p:nvPr/>
        </p:nvSpPr>
        <p:spPr>
          <a:xfrm>
            <a:off x="1123950" y="1600200"/>
            <a:ext cx="16040100" cy="618083"/>
          </a:xfrm>
          <a:prstGeom prst="rect">
            <a:avLst/>
          </a:prstGeom>
          <a:noFill/>
        </p:spPr>
        <p:txBody>
          <a:bodyPr wrap="square" lIns="0" rIns="0" tIns="0" bIns="0" anchor="ctr">
            <a:spAutoFit/>
          </a:bodyPr>
          <a:lstStyle/>
          <a:p>
            <a:pPr algn="l">
              <a:lnSpc>
                <a:spcPct val="105000"/>
              </a:lnSpc>
            </a:pPr>
            <a:r>
              <a:rPr sz="4350" b="1" i="0">
                <a:solidFill>
                  <a:srgbClr val="C81D25"/>
                </a:solidFill>
                <a:latin typeface="Times New Roman"/>
              </a:rPr>
              <a:t>The western ranges</a:t>
            </a:r>
            <a:r>
              <a:rPr sz="4350" b="1" i="0">
                <a:solidFill>
                  <a:srgbClr val="1A2B4C"/>
                </a:solidFill>
                <a:latin typeface="Times New Roman"/>
              </a:rPr>
              <a:t> guard the Indus plain like a fortress wall. </a:t>
            </a:r>
          </a:p>
        </p:txBody>
      </p:sp>
      <p:sp>
        <p:nvSpPr>
          <p:cNvPr id="9" name="TextBox 8"/>
          <p:cNvSpPr txBox="1"/>
          <p:nvPr/>
        </p:nvSpPr>
        <p:spPr>
          <a:xfrm>
            <a:off x="1123950" y="3752850"/>
            <a:ext cx="10325100" cy="38100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South and west of the Indus plain, three mountain chains shape rainfall, river course, and provincial boundary — the Sulaiman, the Kirthar, and the Balochistan ranges proper.</a:t>
            </a:r>
          </a:p>
        </p:txBody>
      </p:sp>
      <p:sp>
        <p:nvSpPr>
          <p:cNvPr id="10" name="Rectangle 9"/>
          <p:cNvSpPr/>
          <p:nvPr/>
        </p:nvSpPr>
        <p:spPr>
          <a:xfrm>
            <a:off x="1143000" y="4572000"/>
            <a:ext cx="3327350" cy="216202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43000" y="4572000"/>
            <a:ext cx="3327350" cy="95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60825" y="4572000"/>
            <a:ext cx="9525" cy="2162026"/>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43000" y="6724501"/>
            <a:ext cx="3327350" cy="95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43000" y="4572000"/>
            <a:ext cx="57150" cy="2162026"/>
          </a:xfrm>
          <a:prstGeom prst="rect">
            <a:avLst/>
          </a:prstGeom>
          <a:solidFill>
            <a:srgbClr val="6B4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90650" y="4772025"/>
            <a:ext cx="2879675" cy="190500"/>
          </a:xfrm>
          <a:prstGeom prst="rect">
            <a:avLst/>
          </a:prstGeom>
          <a:noFill/>
        </p:spPr>
        <p:txBody>
          <a:bodyPr wrap="square" lIns="0" rIns="0" tIns="0" bIns="0" anchor="ctr">
            <a:spAutoFit/>
          </a:bodyPr>
          <a:lstStyle/>
          <a:p>
            <a:pPr algn="l">
              <a:lnSpc>
                <a:spcPct val="120000"/>
              </a:lnSpc>
            </a:pPr>
            <a:r>
              <a:rPr sz="980" b="0" i="0" spc="136">
                <a:solidFill>
                  <a:srgbClr val="5B6E94"/>
                </a:solidFill>
                <a:latin typeface="Times New Roman"/>
              </a:rPr>
              <a:t>SULAIMAN RANGE</a:t>
            </a:r>
          </a:p>
        </p:txBody>
      </p:sp>
      <p:sp>
        <p:nvSpPr>
          <p:cNvPr id="16" name="TextBox 15"/>
          <p:cNvSpPr txBox="1"/>
          <p:nvPr/>
        </p:nvSpPr>
        <p:spPr>
          <a:xfrm>
            <a:off x="1390650" y="4981575"/>
            <a:ext cx="2879675" cy="295275"/>
          </a:xfrm>
          <a:prstGeom prst="rect">
            <a:avLst/>
          </a:prstGeom>
          <a:noFill/>
        </p:spPr>
        <p:txBody>
          <a:bodyPr wrap="square" lIns="0" rIns="0" tIns="0" bIns="0" anchor="ctr">
            <a:spAutoFit/>
          </a:bodyPr>
          <a:lstStyle/>
          <a:p>
            <a:pPr algn="l">
              <a:lnSpc>
                <a:spcPct val="120000"/>
              </a:lnSpc>
            </a:pPr>
            <a:r>
              <a:rPr sz="1800" b="1" i="0">
                <a:solidFill>
                  <a:srgbClr val="1A2B4C"/>
                </a:solidFill>
                <a:latin typeface="Times New Roman"/>
              </a:rPr>
              <a:t>Western batholith</a:t>
            </a:r>
          </a:p>
        </p:txBody>
      </p:sp>
      <p:sp>
        <p:nvSpPr>
          <p:cNvPr id="17" name="TextBox 16"/>
          <p:cNvSpPr txBox="1"/>
          <p:nvPr/>
        </p:nvSpPr>
        <p:spPr>
          <a:xfrm>
            <a:off x="1562100" y="5314950"/>
            <a:ext cx="2708225" cy="510480"/>
          </a:xfrm>
          <a:prstGeom prst="rect">
            <a:avLst/>
          </a:prstGeom>
          <a:noFill/>
        </p:spPr>
        <p:txBody>
          <a:bodyPr wrap="square" lIns="0" rIns="0" tIns="0" bIns="0" anchor="t">
            <a:spAutoFit/>
          </a:bodyPr>
          <a:lstStyle/>
          <a:p>
            <a:pPr algn="l">
              <a:lnSpc>
                <a:spcPct val="155000"/>
              </a:lnSpc>
            </a:pPr>
            <a:r>
              <a:rPr sz="1200" b="0" i="0">
                <a:solidFill>
                  <a:srgbClr val="1A2B4C"/>
                </a:solidFill>
                <a:latin typeface="Times New Roman"/>
              </a:rPr>
              <a:t>• </a:t>
            </a:r>
            <a:r>
              <a:rPr sz="1200" b="0" i="0">
                <a:solidFill>
                  <a:srgbClr val="1A2B4C"/>
                </a:solidFill>
                <a:latin typeface="Times New Roman"/>
              </a:rPr>
              <a:t>Takht-e-Sulaiman peak (3,487 m) in Balochistan</a:t>
            </a:r>
          </a:p>
        </p:txBody>
      </p:sp>
      <p:sp>
        <p:nvSpPr>
          <p:cNvPr id="18" name="TextBox 17"/>
          <p:cNvSpPr txBox="1"/>
          <p:nvPr/>
        </p:nvSpPr>
        <p:spPr>
          <a:xfrm>
            <a:off x="1562100" y="5787330"/>
            <a:ext cx="2708225" cy="510480"/>
          </a:xfrm>
          <a:prstGeom prst="rect">
            <a:avLst/>
          </a:prstGeom>
          <a:noFill/>
        </p:spPr>
        <p:txBody>
          <a:bodyPr wrap="square" lIns="0" rIns="0" tIns="0" bIns="0" anchor="t">
            <a:spAutoFit/>
          </a:bodyPr>
          <a:lstStyle/>
          <a:p>
            <a:pPr algn="l">
              <a:lnSpc>
                <a:spcPct val="155000"/>
              </a:lnSpc>
            </a:pPr>
            <a:r>
              <a:rPr sz="1200" b="0" i="0">
                <a:solidFill>
                  <a:srgbClr val="1A2B4C"/>
                </a:solidFill>
                <a:latin typeface="Times New Roman"/>
              </a:rPr>
              <a:t>• </a:t>
            </a:r>
            <a:r>
              <a:rPr sz="1200" b="0" i="0">
                <a:solidFill>
                  <a:srgbClr val="1A2B4C"/>
                </a:solidFill>
                <a:latin typeface="Times New Roman"/>
              </a:rPr>
              <a:t>Marks the eastern edge of the Afghan–Baloch basin</a:t>
            </a:r>
          </a:p>
        </p:txBody>
      </p:sp>
      <p:sp>
        <p:nvSpPr>
          <p:cNvPr id="19" name="TextBox 18"/>
          <p:cNvSpPr txBox="1"/>
          <p:nvPr/>
        </p:nvSpPr>
        <p:spPr>
          <a:xfrm>
            <a:off x="1562100" y="6259710"/>
            <a:ext cx="2708225" cy="274290"/>
          </a:xfrm>
          <a:prstGeom prst="rect">
            <a:avLst/>
          </a:prstGeom>
          <a:noFill/>
        </p:spPr>
        <p:txBody>
          <a:bodyPr wrap="square" lIns="0" rIns="0" tIns="0" bIns="0" anchor="ctr">
            <a:spAutoFit/>
          </a:bodyPr>
          <a:lstStyle/>
          <a:p>
            <a:pPr algn="l">
              <a:lnSpc>
                <a:spcPct val="155000"/>
              </a:lnSpc>
            </a:pPr>
            <a:r>
              <a:rPr sz="1200" b="0" i="0">
                <a:solidFill>
                  <a:srgbClr val="1A2B4C"/>
                </a:solidFill>
                <a:latin typeface="Times New Roman"/>
              </a:rPr>
              <a:t>• </a:t>
            </a:r>
            <a:r>
              <a:rPr sz="1200" b="0" i="0">
                <a:solidFill>
                  <a:srgbClr val="1A2B4C"/>
                </a:solidFill>
                <a:latin typeface="Times New Roman"/>
              </a:rPr>
              <a:t>Forms the western wall of the Indus plain</a:t>
            </a:r>
          </a:p>
        </p:txBody>
      </p:sp>
      <p:sp>
        <p:nvSpPr>
          <p:cNvPr id="20" name="Rectangle 19"/>
          <p:cNvSpPr/>
          <p:nvPr/>
        </p:nvSpPr>
        <p:spPr>
          <a:xfrm>
            <a:off x="4622750" y="4572000"/>
            <a:ext cx="3327350" cy="216202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622750" y="4572000"/>
            <a:ext cx="3327350" cy="95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7940575" y="4572000"/>
            <a:ext cx="9525" cy="2162026"/>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4622750" y="6724501"/>
            <a:ext cx="3327350" cy="95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4622750" y="4572000"/>
            <a:ext cx="57150" cy="2162026"/>
          </a:xfrm>
          <a:prstGeom prst="rect">
            <a:avLst/>
          </a:prstGeom>
          <a:solidFill>
            <a:srgbClr val="6B4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870400" y="4772025"/>
            <a:ext cx="2879675" cy="190500"/>
          </a:xfrm>
          <a:prstGeom prst="rect">
            <a:avLst/>
          </a:prstGeom>
          <a:noFill/>
        </p:spPr>
        <p:txBody>
          <a:bodyPr wrap="square" lIns="0" rIns="0" tIns="0" bIns="0" anchor="ctr">
            <a:spAutoFit/>
          </a:bodyPr>
          <a:lstStyle/>
          <a:p>
            <a:pPr algn="l">
              <a:lnSpc>
                <a:spcPct val="120000"/>
              </a:lnSpc>
            </a:pPr>
            <a:r>
              <a:rPr sz="980" b="0" i="0" spc="136">
                <a:solidFill>
                  <a:srgbClr val="5B6E94"/>
                </a:solidFill>
                <a:latin typeface="Times New Roman"/>
              </a:rPr>
              <a:t>KIRTHAR RANGE</a:t>
            </a:r>
          </a:p>
        </p:txBody>
      </p:sp>
      <p:sp>
        <p:nvSpPr>
          <p:cNvPr id="26" name="TextBox 25"/>
          <p:cNvSpPr txBox="1"/>
          <p:nvPr/>
        </p:nvSpPr>
        <p:spPr>
          <a:xfrm>
            <a:off x="4870400" y="4981575"/>
            <a:ext cx="2879675" cy="295275"/>
          </a:xfrm>
          <a:prstGeom prst="rect">
            <a:avLst/>
          </a:prstGeom>
          <a:noFill/>
        </p:spPr>
        <p:txBody>
          <a:bodyPr wrap="square" lIns="0" rIns="0" tIns="0" bIns="0" anchor="ctr">
            <a:spAutoFit/>
          </a:bodyPr>
          <a:lstStyle/>
          <a:p>
            <a:pPr algn="l">
              <a:lnSpc>
                <a:spcPct val="120000"/>
              </a:lnSpc>
            </a:pPr>
            <a:r>
              <a:rPr sz="1800" b="1" i="0">
                <a:solidFill>
                  <a:srgbClr val="1A2B4C"/>
                </a:solidFill>
                <a:latin typeface="Times New Roman"/>
              </a:rPr>
              <a:t>Sindh–Baloch divide</a:t>
            </a:r>
          </a:p>
        </p:txBody>
      </p:sp>
      <p:sp>
        <p:nvSpPr>
          <p:cNvPr id="27" name="TextBox 26"/>
          <p:cNvSpPr txBox="1"/>
          <p:nvPr/>
        </p:nvSpPr>
        <p:spPr>
          <a:xfrm>
            <a:off x="5041850" y="5314950"/>
            <a:ext cx="2708225" cy="274290"/>
          </a:xfrm>
          <a:prstGeom prst="rect">
            <a:avLst/>
          </a:prstGeom>
          <a:noFill/>
        </p:spPr>
        <p:txBody>
          <a:bodyPr wrap="square" lIns="0" rIns="0" tIns="0" bIns="0" anchor="ctr">
            <a:spAutoFit/>
          </a:bodyPr>
          <a:lstStyle/>
          <a:p>
            <a:pPr algn="l">
              <a:lnSpc>
                <a:spcPct val="155000"/>
              </a:lnSpc>
            </a:pPr>
            <a:r>
              <a:rPr sz="1200" b="0" i="0">
                <a:solidFill>
                  <a:srgbClr val="1A2B4C"/>
                </a:solidFill>
                <a:latin typeface="Times New Roman"/>
              </a:rPr>
              <a:t>• </a:t>
            </a:r>
            <a:r>
              <a:rPr sz="1200" b="0" i="0">
                <a:solidFill>
                  <a:srgbClr val="1A2B4C"/>
                </a:solidFill>
                <a:latin typeface="Times New Roman"/>
              </a:rPr>
              <a:t>Zardak peak (2,201 m) and Gorakh Hill</a:t>
            </a:r>
          </a:p>
        </p:txBody>
      </p:sp>
      <p:sp>
        <p:nvSpPr>
          <p:cNvPr id="28" name="TextBox 27"/>
          <p:cNvSpPr txBox="1"/>
          <p:nvPr/>
        </p:nvSpPr>
        <p:spPr>
          <a:xfrm>
            <a:off x="5041850" y="5551140"/>
            <a:ext cx="2708225" cy="274290"/>
          </a:xfrm>
          <a:prstGeom prst="rect">
            <a:avLst/>
          </a:prstGeom>
          <a:noFill/>
        </p:spPr>
        <p:txBody>
          <a:bodyPr wrap="square" lIns="0" rIns="0" tIns="0" bIns="0" anchor="ctr">
            <a:spAutoFit/>
          </a:bodyPr>
          <a:lstStyle/>
          <a:p>
            <a:pPr algn="l">
              <a:lnSpc>
                <a:spcPct val="155000"/>
              </a:lnSpc>
            </a:pPr>
            <a:r>
              <a:rPr sz="1200" b="0" i="0">
                <a:solidFill>
                  <a:srgbClr val="1A2B4C"/>
                </a:solidFill>
                <a:latin typeface="Times New Roman"/>
              </a:rPr>
              <a:t>• </a:t>
            </a:r>
            <a:r>
              <a:rPr sz="1200" b="0" i="0">
                <a:solidFill>
                  <a:srgbClr val="1A2B4C"/>
                </a:solidFill>
                <a:latin typeface="Times New Roman"/>
              </a:rPr>
              <a:t>Lies along the Kirthar Fold Belt</a:t>
            </a:r>
          </a:p>
        </p:txBody>
      </p:sp>
      <p:sp>
        <p:nvSpPr>
          <p:cNvPr id="29" name="TextBox 28"/>
          <p:cNvSpPr txBox="1"/>
          <p:nvPr/>
        </p:nvSpPr>
        <p:spPr>
          <a:xfrm>
            <a:off x="5041850" y="5787330"/>
            <a:ext cx="2708225" cy="274290"/>
          </a:xfrm>
          <a:prstGeom prst="rect">
            <a:avLst/>
          </a:prstGeom>
          <a:noFill/>
        </p:spPr>
        <p:txBody>
          <a:bodyPr wrap="square" lIns="0" rIns="0" tIns="0" bIns="0" anchor="ctr">
            <a:spAutoFit/>
          </a:bodyPr>
          <a:lstStyle/>
          <a:p>
            <a:pPr algn="l">
              <a:lnSpc>
                <a:spcPct val="155000"/>
              </a:lnSpc>
            </a:pPr>
            <a:r>
              <a:rPr sz="1200" b="0" i="0">
                <a:solidFill>
                  <a:srgbClr val="1A2B4C"/>
                </a:solidFill>
                <a:latin typeface="Times New Roman"/>
              </a:rPr>
              <a:t>• </a:t>
            </a:r>
            <a:r>
              <a:rPr sz="1200" b="0" i="0">
                <a:solidFill>
                  <a:srgbClr val="1A2B4C"/>
                </a:solidFill>
                <a:latin typeface="Times New Roman"/>
              </a:rPr>
              <a:t>Separates upper Sindh from Balochistan</a:t>
            </a:r>
          </a:p>
        </p:txBody>
      </p:sp>
      <p:sp>
        <p:nvSpPr>
          <p:cNvPr id="30" name="Rectangle 29"/>
          <p:cNvSpPr/>
          <p:nvPr/>
        </p:nvSpPr>
        <p:spPr>
          <a:xfrm>
            <a:off x="8102500" y="4572000"/>
            <a:ext cx="3327499" cy="216202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8102500" y="4572000"/>
            <a:ext cx="3327499" cy="95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1420475" y="4572000"/>
            <a:ext cx="9525" cy="2162026"/>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8102500" y="6724501"/>
            <a:ext cx="3327499" cy="95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8102500" y="4572000"/>
            <a:ext cx="57150" cy="2162026"/>
          </a:xfrm>
          <a:prstGeom prst="rect">
            <a:avLst/>
          </a:prstGeom>
          <a:solidFill>
            <a:srgbClr val="6B4F2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350150" y="4772025"/>
            <a:ext cx="2879824" cy="190500"/>
          </a:xfrm>
          <a:prstGeom prst="rect">
            <a:avLst/>
          </a:prstGeom>
          <a:noFill/>
        </p:spPr>
        <p:txBody>
          <a:bodyPr wrap="square" lIns="0" rIns="0" tIns="0" bIns="0" anchor="ctr">
            <a:spAutoFit/>
          </a:bodyPr>
          <a:lstStyle/>
          <a:p>
            <a:pPr algn="l">
              <a:lnSpc>
                <a:spcPct val="120000"/>
              </a:lnSpc>
            </a:pPr>
            <a:r>
              <a:rPr sz="980" b="0" i="0" spc="136">
                <a:solidFill>
                  <a:srgbClr val="5B6E94"/>
                </a:solidFill>
                <a:latin typeface="Times New Roman"/>
              </a:rPr>
              <a:t>CHAGAI &amp; CENTRAL MAKRAN</a:t>
            </a:r>
          </a:p>
        </p:txBody>
      </p:sp>
      <p:sp>
        <p:nvSpPr>
          <p:cNvPr id="36" name="TextBox 35"/>
          <p:cNvSpPr txBox="1"/>
          <p:nvPr/>
        </p:nvSpPr>
        <p:spPr>
          <a:xfrm>
            <a:off x="8350150" y="4981575"/>
            <a:ext cx="2879824" cy="295275"/>
          </a:xfrm>
          <a:prstGeom prst="rect">
            <a:avLst/>
          </a:prstGeom>
          <a:noFill/>
        </p:spPr>
        <p:txBody>
          <a:bodyPr wrap="square" lIns="0" rIns="0" tIns="0" bIns="0" anchor="ctr">
            <a:spAutoFit/>
          </a:bodyPr>
          <a:lstStyle/>
          <a:p>
            <a:pPr algn="l">
              <a:lnSpc>
                <a:spcPct val="120000"/>
              </a:lnSpc>
            </a:pPr>
            <a:r>
              <a:rPr sz="1800" b="1" i="0">
                <a:solidFill>
                  <a:srgbClr val="1A2B4C"/>
                </a:solidFill>
                <a:latin typeface="Times New Roman"/>
              </a:rPr>
              <a:t>Volcanic highland</a:t>
            </a:r>
          </a:p>
        </p:txBody>
      </p:sp>
      <p:sp>
        <p:nvSpPr>
          <p:cNvPr id="37" name="TextBox 36"/>
          <p:cNvSpPr txBox="1"/>
          <p:nvPr/>
        </p:nvSpPr>
        <p:spPr>
          <a:xfrm>
            <a:off x="8521600" y="5314950"/>
            <a:ext cx="2708374" cy="274290"/>
          </a:xfrm>
          <a:prstGeom prst="rect">
            <a:avLst/>
          </a:prstGeom>
          <a:noFill/>
        </p:spPr>
        <p:txBody>
          <a:bodyPr wrap="square" lIns="0" rIns="0" tIns="0" bIns="0" anchor="ctr">
            <a:spAutoFit/>
          </a:bodyPr>
          <a:lstStyle/>
          <a:p>
            <a:pPr algn="l">
              <a:lnSpc>
                <a:spcPct val="155000"/>
              </a:lnSpc>
            </a:pPr>
            <a:r>
              <a:rPr sz="1200" b="0" i="0">
                <a:solidFill>
                  <a:srgbClr val="1A2B4C"/>
                </a:solidFill>
                <a:latin typeface="Times New Roman"/>
              </a:rPr>
              <a:t>• </a:t>
            </a:r>
            <a:r>
              <a:rPr sz="1200" b="0" i="0">
                <a:solidFill>
                  <a:srgbClr val="1A2B4C"/>
                </a:solidFill>
                <a:latin typeface="Times New Roman"/>
              </a:rPr>
              <a:t>Koh-i-Sultan volcano (2,334 m)</a:t>
            </a:r>
          </a:p>
        </p:txBody>
      </p:sp>
      <p:sp>
        <p:nvSpPr>
          <p:cNvPr id="38" name="TextBox 37"/>
          <p:cNvSpPr txBox="1"/>
          <p:nvPr/>
        </p:nvSpPr>
        <p:spPr>
          <a:xfrm>
            <a:off x="8521600" y="5551140"/>
            <a:ext cx="2708374" cy="274290"/>
          </a:xfrm>
          <a:prstGeom prst="rect">
            <a:avLst/>
          </a:prstGeom>
          <a:noFill/>
        </p:spPr>
        <p:txBody>
          <a:bodyPr wrap="square" lIns="0" rIns="0" tIns="0" bIns="0" anchor="ctr">
            <a:spAutoFit/>
          </a:bodyPr>
          <a:lstStyle/>
          <a:p>
            <a:pPr algn="l">
              <a:lnSpc>
                <a:spcPct val="155000"/>
              </a:lnSpc>
            </a:pPr>
            <a:r>
              <a:rPr sz="1200" b="0" i="0">
                <a:solidFill>
                  <a:srgbClr val="1A2B4C"/>
                </a:solidFill>
                <a:latin typeface="Times New Roman"/>
              </a:rPr>
              <a:t>• </a:t>
            </a:r>
            <a:r>
              <a:rPr sz="1200" b="0" i="0">
                <a:solidFill>
                  <a:srgbClr val="1A2B4C"/>
                </a:solidFill>
                <a:latin typeface="Times New Roman"/>
              </a:rPr>
              <a:t>Chagai Hills mark Balochistan’s west</a:t>
            </a:r>
          </a:p>
        </p:txBody>
      </p:sp>
      <p:sp>
        <p:nvSpPr>
          <p:cNvPr id="39" name="TextBox 38"/>
          <p:cNvSpPr txBox="1"/>
          <p:nvPr/>
        </p:nvSpPr>
        <p:spPr>
          <a:xfrm>
            <a:off x="8521600" y="5787330"/>
            <a:ext cx="2708374" cy="274290"/>
          </a:xfrm>
          <a:prstGeom prst="rect">
            <a:avLst/>
          </a:prstGeom>
          <a:noFill/>
        </p:spPr>
        <p:txBody>
          <a:bodyPr wrap="square" lIns="0" rIns="0" tIns="0" bIns="0" anchor="ctr">
            <a:spAutoFit/>
          </a:bodyPr>
          <a:lstStyle/>
          <a:p>
            <a:pPr algn="l">
              <a:lnSpc>
                <a:spcPct val="155000"/>
              </a:lnSpc>
            </a:pPr>
            <a:r>
              <a:rPr sz="1200" b="0" i="0">
                <a:solidFill>
                  <a:srgbClr val="1A2B4C"/>
                </a:solidFill>
                <a:latin typeface="Times New Roman"/>
              </a:rPr>
              <a:t>• </a:t>
            </a:r>
            <a:r>
              <a:rPr sz="1200" b="0" i="0">
                <a:solidFill>
                  <a:srgbClr val="1A2B4C"/>
                </a:solidFill>
                <a:latin typeface="Times New Roman"/>
              </a:rPr>
              <a:t>Active Makran subduction zone offshore</a:t>
            </a:r>
          </a:p>
        </p:txBody>
      </p:sp>
      <p:sp>
        <p:nvSpPr>
          <p:cNvPr id="40" name="Rectangle 39"/>
          <p:cNvSpPr/>
          <p:nvPr/>
        </p:nvSpPr>
        <p:spPr>
          <a:xfrm>
            <a:off x="1143000" y="6962626"/>
            <a:ext cx="10287000" cy="89535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1143000" y="6962626"/>
            <a:ext cx="57150" cy="895350"/>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390650" y="7115026"/>
            <a:ext cx="9848850" cy="190500"/>
          </a:xfrm>
          <a:prstGeom prst="rect">
            <a:avLst/>
          </a:prstGeom>
          <a:noFill/>
        </p:spPr>
        <p:txBody>
          <a:bodyPr wrap="square" lIns="0" rIns="0" tIns="0" bIns="0" anchor="ctr">
            <a:spAutoFit/>
          </a:bodyPr>
          <a:lstStyle/>
          <a:p>
            <a:pPr algn="l">
              <a:lnSpc>
                <a:spcPct val="120000"/>
              </a:lnSpc>
            </a:pPr>
            <a:r>
              <a:rPr sz="980" b="0" i="0" spc="136">
                <a:solidFill>
                  <a:srgbClr val="C81D25"/>
                </a:solidFill>
                <a:latin typeface="Times New Roman"/>
              </a:rPr>
              <a:t>WHY IT MATTERS</a:t>
            </a:r>
          </a:p>
        </p:txBody>
      </p:sp>
      <p:sp>
        <p:nvSpPr>
          <p:cNvPr id="43" name="TextBox 42"/>
          <p:cNvSpPr txBox="1"/>
          <p:nvPr/>
        </p:nvSpPr>
        <p:spPr>
          <a:xfrm>
            <a:off x="1390650" y="7324576"/>
            <a:ext cx="9848850" cy="38100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These ranges determine where the </a:t>
            </a:r>
            <a:r>
              <a:rPr sz="1200" b="1" i="0">
                <a:solidFill>
                  <a:srgbClr val="000000"/>
                </a:solidFill>
                <a:latin typeface="Times New Roman"/>
              </a:rPr>
              <a:t>monsoon rains stop</a:t>
            </a:r>
            <a:r>
              <a:rPr sz="1200" b="0" i="0">
                <a:solidFill>
                  <a:srgbClr val="000000"/>
                </a:solidFill>
                <a:latin typeface="Times New Roman"/>
              </a:rPr>
              <a:t> (e.g. Quetta at ~100 mm vs. Jacobabad at ~110 mm above and below the Sulaiman crest) and where the </a:t>
            </a:r>
            <a:r>
              <a:rPr sz="1200" b="1" i="0">
                <a:solidFill>
                  <a:srgbClr val="000000"/>
                </a:solidFill>
                <a:latin typeface="Times New Roman"/>
              </a:rPr>
              <a:t>Indus plain begins</a:t>
            </a:r>
            <a:r>
              <a:rPr sz="1200" b="0" i="0">
                <a:solidFill>
                  <a:srgbClr val="000000"/>
                </a:solidFill>
                <a:latin typeface="Times New Roman"/>
              </a:rPr>
              <a:t>. They are also the principal zone of seismic hazard outside the Karakoram.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00" cy="685800"/>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791950" y="1009650"/>
            <a:ext cx="5372100" cy="38100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Image: Climate classification map of Pakistan — BWh hot desert, BSh hot semi-arid, Cwa humid subtropical, Csa subtropical highland, Dsa alpine (Karakoram only).</a:t>
            </a:r>
          </a:p>
        </p:txBody>
      </p:sp>
      <p:sp>
        <p:nvSpPr>
          <p:cNvPr id="5" name="TextBox 4"/>
          <p:cNvSpPr txBox="1"/>
          <p:nvPr/>
        </p:nvSpPr>
        <p:spPr>
          <a:xfrm>
            <a:off x="1123950" y="190500"/>
            <a:ext cx="11468100" cy="209550"/>
          </a:xfrm>
          <a:prstGeom prst="rect">
            <a:avLst/>
          </a:prstGeom>
          <a:noFill/>
        </p:spPr>
        <p:txBody>
          <a:bodyPr wrap="square" lIns="0" rIns="0" tIns="0" bIns="0" anchor="ctr">
            <a:spAutoFit/>
          </a:bodyPr>
          <a:lstStyle/>
          <a:p>
            <a:pPr algn="l">
              <a:lnSpc>
                <a:spcPct val="120000"/>
              </a:lnSpc>
            </a:pPr>
            <a:r>
              <a:rPr sz="1200" b="0" i="0">
                <a:solidFill>
                  <a:srgbClr val="FFFFFF"/>
                </a:solidFill>
                <a:latin typeface="Times New Roman"/>
              </a:rPr>
              <a:t>08 · Seasons · the four-rhythm tropical continental year</a:t>
            </a:r>
          </a:p>
        </p:txBody>
      </p:sp>
      <p:sp>
        <p:nvSpPr>
          <p:cNvPr id="6" name="TextBox 5"/>
          <p:cNvSpPr txBox="1"/>
          <p:nvPr/>
        </p:nvSpPr>
        <p:spPr>
          <a:xfrm>
            <a:off x="16173450" y="190500"/>
            <a:ext cx="1181100" cy="323850"/>
          </a:xfrm>
          <a:prstGeom prst="rect">
            <a:avLst/>
          </a:prstGeom>
          <a:noFill/>
        </p:spPr>
        <p:txBody>
          <a:bodyPr wrap="square" lIns="0" rIns="0" tIns="0" bIns="0" anchor="ctr">
            <a:spAutoFit/>
          </a:bodyPr>
          <a:lstStyle/>
          <a:p>
            <a:pPr algn="r">
              <a:lnSpc>
                <a:spcPct val="120000"/>
              </a:lnSpc>
            </a:pPr>
            <a:r>
              <a:rPr sz="1050" b="0" i="1">
                <a:solidFill>
                  <a:srgbClr val="C81D25"/>
                </a:solidFill>
                <a:latin typeface="Times New Roman"/>
              </a:rPr>
              <a:t>08 / 22</a:t>
            </a:r>
          </a:p>
        </p:txBody>
      </p:sp>
      <p:sp>
        <p:nvSpPr>
          <p:cNvPr id="7" name="TextBox 6"/>
          <p:cNvSpPr txBox="1"/>
          <p:nvPr/>
        </p:nvSpPr>
        <p:spPr>
          <a:xfrm>
            <a:off x="1123950" y="1009650"/>
            <a:ext cx="7658100" cy="41910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Cluster 2 · Climate</a:t>
            </a:r>
          </a:p>
        </p:txBody>
      </p:sp>
      <p:sp>
        <p:nvSpPr>
          <p:cNvPr id="8" name="TextBox 7"/>
          <p:cNvSpPr txBox="1"/>
          <p:nvPr/>
        </p:nvSpPr>
        <p:spPr>
          <a:xfrm>
            <a:off x="1123950" y="1600200"/>
            <a:ext cx="16040100" cy="1198066"/>
          </a:xfrm>
          <a:prstGeom prst="rect">
            <a:avLst/>
          </a:prstGeom>
          <a:noFill/>
        </p:spPr>
        <p:txBody>
          <a:bodyPr wrap="square" lIns="0" rIns="0" tIns="0" bIns="0" anchor="t">
            <a:spAutoFit/>
          </a:bodyPr>
          <a:lstStyle/>
          <a:p>
            <a:pPr algn="l">
              <a:lnSpc>
                <a:spcPct val="105000"/>
              </a:lnSpc>
            </a:pPr>
            <a:r>
              <a:rPr sz="4350" b="1" i="0">
                <a:solidFill>
                  <a:srgbClr val="C81D25"/>
                </a:solidFill>
                <a:latin typeface="Times New Roman"/>
              </a:rPr>
              <a:t>A four-season country.</a:t>
            </a:r>
            <a:r>
              <a:rPr sz="4350" b="1" i="0">
                <a:solidFill>
                  <a:srgbClr val="1A2B4C"/>
                </a:solidFill>
                <a:latin typeface="Times New Roman"/>
              </a:rPr>
              <a:t> Pakistani climate varies sharply by month and latitude. </a:t>
            </a:r>
          </a:p>
        </p:txBody>
      </p:sp>
      <p:sp>
        <p:nvSpPr>
          <p:cNvPr id="9" name="TextBox 8"/>
          <p:cNvSpPr txBox="1"/>
          <p:nvPr/>
        </p:nvSpPr>
        <p:spPr>
          <a:xfrm>
            <a:off x="1123950" y="2990850"/>
            <a:ext cx="10325100" cy="38100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Pakistan’s climate is classified as </a:t>
            </a:r>
            <a:r>
              <a:rPr sz="1200" b="1" i="0">
                <a:solidFill>
                  <a:srgbClr val="000000"/>
                </a:solidFill>
                <a:latin typeface="Times New Roman"/>
              </a:rPr>
              <a:t>tropical continental</a:t>
            </a:r>
            <a:r>
              <a:rPr sz="1200" b="0" i="0">
                <a:solidFill>
                  <a:srgbClr val="000000"/>
                </a:solidFill>
                <a:latin typeface="Times New Roman"/>
              </a:rPr>
              <a:t>, but the dominant rhythm is governed by the South Asian monsoon, not by latitude. The same year produces dense snow at Skardu in January and a 50°C heat low at Sibi in June.</a:t>
            </a:r>
          </a:p>
        </p:txBody>
      </p:sp>
      <p:sp>
        <p:nvSpPr>
          <p:cNvPr id="10" name="Rectangle 9"/>
          <p:cNvSpPr/>
          <p:nvPr/>
        </p:nvSpPr>
        <p:spPr>
          <a:xfrm>
            <a:off x="1143000" y="4000500"/>
            <a:ext cx="5048250" cy="1963935"/>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43000" y="4000500"/>
            <a:ext cx="5048250" cy="57150"/>
          </a:xfrm>
          <a:prstGeom prst="rect">
            <a:avLst/>
          </a:prstGeom>
          <a:solidFill>
            <a:srgbClr val="1F5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52550" y="4248150"/>
            <a:ext cx="4629150" cy="190500"/>
          </a:xfrm>
          <a:prstGeom prst="rect">
            <a:avLst/>
          </a:prstGeom>
          <a:noFill/>
        </p:spPr>
        <p:txBody>
          <a:bodyPr wrap="square" lIns="0" rIns="0" tIns="0" bIns="0" anchor="ctr">
            <a:spAutoFit/>
          </a:bodyPr>
          <a:lstStyle/>
          <a:p>
            <a:pPr algn="l">
              <a:lnSpc>
                <a:spcPct val="120000"/>
              </a:lnSpc>
            </a:pPr>
            <a:r>
              <a:rPr sz="980" b="0" i="0" spc="136">
                <a:solidFill>
                  <a:srgbClr val="1F5A7E"/>
                </a:solidFill>
                <a:latin typeface="Times New Roman"/>
              </a:rPr>
              <a:t>WINTER · DEC – FEB</a:t>
            </a:r>
          </a:p>
        </p:txBody>
      </p:sp>
      <p:sp>
        <p:nvSpPr>
          <p:cNvPr id="13" name="TextBox 12"/>
          <p:cNvSpPr txBox="1"/>
          <p:nvPr/>
        </p:nvSpPr>
        <p:spPr>
          <a:xfrm>
            <a:off x="1352550" y="4457700"/>
            <a:ext cx="4629150" cy="295275"/>
          </a:xfrm>
          <a:prstGeom prst="rect">
            <a:avLst/>
          </a:prstGeom>
          <a:noFill/>
        </p:spPr>
        <p:txBody>
          <a:bodyPr wrap="square" lIns="0" rIns="0" tIns="0" bIns="0" anchor="ctr">
            <a:spAutoFit/>
          </a:bodyPr>
          <a:lstStyle/>
          <a:p>
            <a:pPr algn="l">
              <a:lnSpc>
                <a:spcPct val="120000"/>
              </a:lnSpc>
            </a:pPr>
            <a:r>
              <a:rPr sz="1800" b="1" i="0">
                <a:solidFill>
                  <a:srgbClr val="1A2B4C"/>
                </a:solidFill>
                <a:latin typeface="Times New Roman"/>
              </a:rPr>
              <a:t>Cold &amp; dry across the plains</a:t>
            </a:r>
          </a:p>
        </p:txBody>
      </p:sp>
      <p:sp>
        <p:nvSpPr>
          <p:cNvPr id="14" name="TextBox 13"/>
          <p:cNvSpPr txBox="1"/>
          <p:nvPr/>
        </p:nvSpPr>
        <p:spPr>
          <a:xfrm>
            <a:off x="1524000" y="4791075"/>
            <a:ext cx="4457700" cy="274290"/>
          </a:xfrm>
          <a:prstGeom prst="rect">
            <a:avLst/>
          </a:prstGeom>
          <a:noFill/>
        </p:spPr>
        <p:txBody>
          <a:bodyPr wrap="square" lIns="0" rIns="0" tIns="0" bIns="0" anchor="ctr">
            <a:spAutoFit/>
          </a:bodyPr>
          <a:lstStyle/>
          <a:p>
            <a:pPr algn="l">
              <a:lnSpc>
                <a:spcPct val="155000"/>
              </a:lnSpc>
            </a:pPr>
            <a:r>
              <a:rPr sz="1200" b="0" i="0">
                <a:solidFill>
                  <a:srgbClr val="1A2B4C"/>
                </a:solidFill>
                <a:latin typeface="Times New Roman"/>
              </a:rPr>
              <a:t>• </a:t>
            </a:r>
            <a:r>
              <a:rPr sz="1200" b="0" i="0">
                <a:solidFill>
                  <a:srgbClr val="1A2B4C"/>
                </a:solidFill>
                <a:latin typeface="Times New Roman"/>
              </a:rPr>
              <a:t>Punjab &amp; Sindh plains: 5–15°C daytime</a:t>
            </a:r>
          </a:p>
        </p:txBody>
      </p:sp>
      <p:sp>
        <p:nvSpPr>
          <p:cNvPr id="15" name="TextBox 14"/>
          <p:cNvSpPr txBox="1"/>
          <p:nvPr/>
        </p:nvSpPr>
        <p:spPr>
          <a:xfrm>
            <a:off x="1524000" y="5027265"/>
            <a:ext cx="4457700" cy="274290"/>
          </a:xfrm>
          <a:prstGeom prst="rect">
            <a:avLst/>
          </a:prstGeom>
          <a:noFill/>
        </p:spPr>
        <p:txBody>
          <a:bodyPr wrap="square" lIns="0" rIns="0" tIns="0" bIns="0" anchor="ctr">
            <a:spAutoFit/>
          </a:bodyPr>
          <a:lstStyle/>
          <a:p>
            <a:pPr algn="l">
              <a:lnSpc>
                <a:spcPct val="155000"/>
              </a:lnSpc>
            </a:pPr>
            <a:r>
              <a:rPr sz="1200" b="0" i="0">
                <a:solidFill>
                  <a:srgbClr val="1A2B4C"/>
                </a:solidFill>
                <a:latin typeface="Times New Roman"/>
              </a:rPr>
              <a:t>• </a:t>
            </a:r>
            <a:r>
              <a:rPr sz="1200" b="0" i="0">
                <a:solidFill>
                  <a:srgbClr val="1A2B4C"/>
                </a:solidFill>
                <a:latin typeface="Times New Roman"/>
              </a:rPr>
              <a:t>Northern highlands: snow accumulation, glacier recharge</a:t>
            </a:r>
          </a:p>
        </p:txBody>
      </p:sp>
      <p:sp>
        <p:nvSpPr>
          <p:cNvPr id="16" name="TextBox 15"/>
          <p:cNvSpPr txBox="1"/>
          <p:nvPr/>
        </p:nvSpPr>
        <p:spPr>
          <a:xfrm>
            <a:off x="1524000" y="5263455"/>
            <a:ext cx="4457700" cy="274290"/>
          </a:xfrm>
          <a:prstGeom prst="rect">
            <a:avLst/>
          </a:prstGeom>
          <a:noFill/>
        </p:spPr>
        <p:txBody>
          <a:bodyPr wrap="square" lIns="0" rIns="0" tIns="0" bIns="0" anchor="ctr">
            <a:spAutoFit/>
          </a:bodyPr>
          <a:lstStyle/>
          <a:p>
            <a:pPr algn="l">
              <a:lnSpc>
                <a:spcPct val="155000"/>
              </a:lnSpc>
            </a:pPr>
            <a:r>
              <a:rPr sz="1200" b="0" i="0">
                <a:solidFill>
                  <a:srgbClr val="1A2B4C"/>
                </a:solidFill>
                <a:latin typeface="Times New Roman"/>
              </a:rPr>
              <a:t>• </a:t>
            </a:r>
            <a:r>
              <a:rPr sz="1200" b="0" i="0">
                <a:solidFill>
                  <a:srgbClr val="1A2B4C"/>
                </a:solidFill>
                <a:latin typeface="Times New Roman"/>
              </a:rPr>
              <a:t>Westerly disturbances bring 30–40% NWFP annual rainfall</a:t>
            </a:r>
          </a:p>
        </p:txBody>
      </p:sp>
      <p:sp>
        <p:nvSpPr>
          <p:cNvPr id="17" name="TextBox 16"/>
          <p:cNvSpPr txBox="1"/>
          <p:nvPr/>
        </p:nvSpPr>
        <p:spPr>
          <a:xfrm>
            <a:off x="1524000" y="5499645"/>
            <a:ext cx="4457700" cy="274290"/>
          </a:xfrm>
          <a:prstGeom prst="rect">
            <a:avLst/>
          </a:prstGeom>
          <a:noFill/>
        </p:spPr>
        <p:txBody>
          <a:bodyPr wrap="square" lIns="0" rIns="0" tIns="0" bIns="0" anchor="ctr">
            <a:spAutoFit/>
          </a:bodyPr>
          <a:lstStyle/>
          <a:p>
            <a:pPr algn="l">
              <a:lnSpc>
                <a:spcPct val="155000"/>
              </a:lnSpc>
            </a:pPr>
            <a:r>
              <a:rPr sz="1200" b="0" i="0">
                <a:solidFill>
                  <a:srgbClr val="1A2B4C"/>
                </a:solidFill>
                <a:latin typeface="Times New Roman"/>
              </a:rPr>
              <a:t>• </a:t>
            </a:r>
            <a:r>
              <a:rPr sz="1200" b="0" i="0">
                <a:solidFill>
                  <a:srgbClr val="1A2B4C"/>
                </a:solidFill>
                <a:latin typeface="Times New Roman"/>
              </a:rPr>
              <a:t>Fog &amp; frost common in central Punjab from Dec to mid-Jan</a:t>
            </a:r>
          </a:p>
        </p:txBody>
      </p:sp>
      <p:sp>
        <p:nvSpPr>
          <p:cNvPr id="18" name="Rectangle 17"/>
          <p:cNvSpPr/>
          <p:nvPr/>
        </p:nvSpPr>
        <p:spPr>
          <a:xfrm>
            <a:off x="6381750" y="4000500"/>
            <a:ext cx="5048250" cy="1963935"/>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81750" y="4000500"/>
            <a:ext cx="5048250" cy="57150"/>
          </a:xfrm>
          <a:prstGeom prst="rect">
            <a:avLst/>
          </a:prstGeom>
          <a:solidFill>
            <a:srgbClr val="B88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591300" y="4248150"/>
            <a:ext cx="4629150" cy="190500"/>
          </a:xfrm>
          <a:prstGeom prst="rect">
            <a:avLst/>
          </a:prstGeom>
          <a:noFill/>
        </p:spPr>
        <p:txBody>
          <a:bodyPr wrap="square" lIns="0" rIns="0" tIns="0" bIns="0" anchor="ctr">
            <a:spAutoFit/>
          </a:bodyPr>
          <a:lstStyle/>
          <a:p>
            <a:pPr algn="l">
              <a:lnSpc>
                <a:spcPct val="120000"/>
              </a:lnSpc>
            </a:pPr>
            <a:r>
              <a:rPr sz="980" b="0" i="0" spc="136">
                <a:solidFill>
                  <a:srgbClr val="B8862B"/>
                </a:solidFill>
                <a:latin typeface="Times New Roman"/>
              </a:rPr>
              <a:t>PRE-MONSOON · MAR – MAY</a:t>
            </a:r>
          </a:p>
        </p:txBody>
      </p:sp>
      <p:sp>
        <p:nvSpPr>
          <p:cNvPr id="21" name="TextBox 20"/>
          <p:cNvSpPr txBox="1"/>
          <p:nvPr/>
        </p:nvSpPr>
        <p:spPr>
          <a:xfrm>
            <a:off x="6591300" y="4457700"/>
            <a:ext cx="4629150" cy="295275"/>
          </a:xfrm>
          <a:prstGeom prst="rect">
            <a:avLst/>
          </a:prstGeom>
          <a:noFill/>
        </p:spPr>
        <p:txBody>
          <a:bodyPr wrap="square" lIns="0" rIns="0" tIns="0" bIns="0" anchor="ctr">
            <a:spAutoFit/>
          </a:bodyPr>
          <a:lstStyle/>
          <a:p>
            <a:pPr algn="l">
              <a:lnSpc>
                <a:spcPct val="120000"/>
              </a:lnSpc>
            </a:pPr>
            <a:r>
              <a:rPr sz="1800" b="1" i="0">
                <a:solidFill>
                  <a:srgbClr val="1A2B4C"/>
                </a:solidFill>
                <a:latin typeface="Times New Roman"/>
              </a:rPr>
              <a:t>Hot, dry — the heat-low season</a:t>
            </a:r>
          </a:p>
        </p:txBody>
      </p:sp>
      <p:sp>
        <p:nvSpPr>
          <p:cNvPr id="22" name="TextBox 21"/>
          <p:cNvSpPr txBox="1"/>
          <p:nvPr/>
        </p:nvSpPr>
        <p:spPr>
          <a:xfrm>
            <a:off x="6762750" y="4791075"/>
            <a:ext cx="4457700" cy="274290"/>
          </a:xfrm>
          <a:prstGeom prst="rect">
            <a:avLst/>
          </a:prstGeom>
          <a:noFill/>
        </p:spPr>
        <p:txBody>
          <a:bodyPr wrap="square" lIns="0" rIns="0" tIns="0" bIns="0" anchor="ctr">
            <a:spAutoFit/>
          </a:bodyPr>
          <a:lstStyle/>
          <a:p>
            <a:pPr algn="l">
              <a:lnSpc>
                <a:spcPct val="155000"/>
              </a:lnSpc>
            </a:pPr>
            <a:r>
              <a:rPr sz="1200" b="0" i="0">
                <a:solidFill>
                  <a:srgbClr val="1A2B4C"/>
                </a:solidFill>
                <a:latin typeface="Times New Roman"/>
              </a:rPr>
              <a:t>• </a:t>
            </a:r>
            <a:r>
              <a:rPr sz="1200" b="0" i="0">
                <a:solidFill>
                  <a:srgbClr val="1A2B4C"/>
                </a:solidFill>
                <a:latin typeface="Times New Roman"/>
              </a:rPr>
              <a:t>Sibi, Jacobabad, Larkana exceed 45°C in May</a:t>
            </a:r>
          </a:p>
        </p:txBody>
      </p:sp>
      <p:sp>
        <p:nvSpPr>
          <p:cNvPr id="23" name="TextBox 22"/>
          <p:cNvSpPr txBox="1"/>
          <p:nvPr/>
        </p:nvSpPr>
        <p:spPr>
          <a:xfrm>
            <a:off x="6762750" y="5027265"/>
            <a:ext cx="4457700" cy="274290"/>
          </a:xfrm>
          <a:prstGeom prst="rect">
            <a:avLst/>
          </a:prstGeom>
          <a:noFill/>
        </p:spPr>
        <p:txBody>
          <a:bodyPr wrap="square" lIns="0" rIns="0" tIns="0" bIns="0" anchor="ctr">
            <a:spAutoFit/>
          </a:bodyPr>
          <a:lstStyle/>
          <a:p>
            <a:pPr algn="l">
              <a:lnSpc>
                <a:spcPct val="155000"/>
              </a:lnSpc>
            </a:pPr>
            <a:r>
              <a:rPr sz="1200" b="0" i="0">
                <a:solidFill>
                  <a:srgbClr val="1A2B4C"/>
                </a:solidFill>
                <a:latin typeface="Times New Roman"/>
              </a:rPr>
              <a:t>• </a:t>
            </a:r>
            <a:r>
              <a:rPr sz="1200" b="0" i="0">
                <a:solidFill>
                  <a:srgbClr val="1A2B4C"/>
                </a:solidFill>
                <a:latin typeface="Times New Roman"/>
              </a:rPr>
              <a:t>Northwest dust storms (“loo”) dominate NW Balochistan</a:t>
            </a:r>
          </a:p>
        </p:txBody>
      </p:sp>
      <p:sp>
        <p:nvSpPr>
          <p:cNvPr id="24" name="TextBox 23"/>
          <p:cNvSpPr txBox="1"/>
          <p:nvPr/>
        </p:nvSpPr>
        <p:spPr>
          <a:xfrm>
            <a:off x="6762750" y="5263455"/>
            <a:ext cx="4457700" cy="274290"/>
          </a:xfrm>
          <a:prstGeom prst="rect">
            <a:avLst/>
          </a:prstGeom>
          <a:noFill/>
        </p:spPr>
        <p:txBody>
          <a:bodyPr wrap="square" lIns="0" rIns="0" tIns="0" bIns="0" anchor="ctr">
            <a:spAutoFit/>
          </a:bodyPr>
          <a:lstStyle/>
          <a:p>
            <a:pPr algn="l">
              <a:lnSpc>
                <a:spcPct val="155000"/>
              </a:lnSpc>
            </a:pPr>
            <a:r>
              <a:rPr sz="1200" b="0" i="0">
                <a:solidFill>
                  <a:srgbClr val="1A2B4C"/>
                </a:solidFill>
                <a:latin typeface="Times New Roman"/>
              </a:rPr>
              <a:t>• </a:t>
            </a:r>
            <a:r>
              <a:rPr sz="1200" b="0" i="0">
                <a:solidFill>
                  <a:srgbClr val="1A2B4C"/>
                </a:solidFill>
                <a:latin typeface="Times New Roman"/>
              </a:rPr>
              <a:t>Cotton sowing begins in lower Sindh with canal water</a:t>
            </a:r>
          </a:p>
        </p:txBody>
      </p:sp>
      <p:sp>
        <p:nvSpPr>
          <p:cNvPr id="25" name="Rectangle 24"/>
          <p:cNvSpPr/>
          <p:nvPr/>
        </p:nvSpPr>
        <p:spPr>
          <a:xfrm>
            <a:off x="1143000" y="6154935"/>
            <a:ext cx="5048250" cy="1727745"/>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143000" y="6154935"/>
            <a:ext cx="5048250" cy="57150"/>
          </a:xfrm>
          <a:prstGeom prst="rect">
            <a:avLst/>
          </a:prstGeom>
          <a:solidFill>
            <a:srgbClr val="2E5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52550" y="6402585"/>
            <a:ext cx="4629150" cy="190500"/>
          </a:xfrm>
          <a:prstGeom prst="rect">
            <a:avLst/>
          </a:prstGeom>
          <a:noFill/>
        </p:spPr>
        <p:txBody>
          <a:bodyPr wrap="square" lIns="0" rIns="0" tIns="0" bIns="0" anchor="ctr">
            <a:spAutoFit/>
          </a:bodyPr>
          <a:lstStyle/>
          <a:p>
            <a:pPr algn="l">
              <a:lnSpc>
                <a:spcPct val="120000"/>
              </a:lnSpc>
            </a:pPr>
            <a:r>
              <a:rPr sz="980" b="0" i="0" spc="136">
                <a:solidFill>
                  <a:srgbClr val="2E5D3A"/>
                </a:solidFill>
                <a:latin typeface="Times New Roman"/>
              </a:rPr>
              <a:t>MONSOON · JUL – SEP</a:t>
            </a:r>
          </a:p>
        </p:txBody>
      </p:sp>
      <p:sp>
        <p:nvSpPr>
          <p:cNvPr id="28" name="TextBox 27"/>
          <p:cNvSpPr txBox="1"/>
          <p:nvPr/>
        </p:nvSpPr>
        <p:spPr>
          <a:xfrm>
            <a:off x="1352550" y="6612135"/>
            <a:ext cx="4629150" cy="295275"/>
          </a:xfrm>
          <a:prstGeom prst="rect">
            <a:avLst/>
          </a:prstGeom>
          <a:noFill/>
        </p:spPr>
        <p:txBody>
          <a:bodyPr wrap="square" lIns="0" rIns="0" tIns="0" bIns="0" anchor="ctr">
            <a:spAutoFit/>
          </a:bodyPr>
          <a:lstStyle/>
          <a:p>
            <a:pPr algn="l">
              <a:lnSpc>
                <a:spcPct val="120000"/>
              </a:lnSpc>
            </a:pPr>
            <a:r>
              <a:rPr sz="1800" b="1" i="0">
                <a:solidFill>
                  <a:srgbClr val="1A2B4C"/>
                </a:solidFill>
                <a:latin typeface="Times New Roman"/>
              </a:rPr>
              <a:t>Rain-bearing southwesterly flow</a:t>
            </a:r>
          </a:p>
        </p:txBody>
      </p:sp>
      <p:sp>
        <p:nvSpPr>
          <p:cNvPr id="29" name="TextBox 28"/>
          <p:cNvSpPr txBox="1"/>
          <p:nvPr/>
        </p:nvSpPr>
        <p:spPr>
          <a:xfrm>
            <a:off x="1524000" y="6945510"/>
            <a:ext cx="4457700" cy="274290"/>
          </a:xfrm>
          <a:prstGeom prst="rect">
            <a:avLst/>
          </a:prstGeom>
          <a:noFill/>
        </p:spPr>
        <p:txBody>
          <a:bodyPr wrap="square" lIns="0" rIns="0" tIns="0" bIns="0" anchor="ctr">
            <a:spAutoFit/>
          </a:bodyPr>
          <a:lstStyle/>
          <a:p>
            <a:pPr algn="l">
              <a:lnSpc>
                <a:spcPct val="155000"/>
              </a:lnSpc>
            </a:pPr>
            <a:r>
              <a:rPr sz="1200" b="0" i="0">
                <a:solidFill>
                  <a:srgbClr val="1A2B4C"/>
                </a:solidFill>
                <a:latin typeface="Times New Roman"/>
              </a:rPr>
              <a:t>• </a:t>
            </a:r>
            <a:r>
              <a:rPr sz="1200" b="0" i="0">
                <a:solidFill>
                  <a:srgbClr val="1A2B4C"/>
                </a:solidFill>
                <a:latin typeface="Times New Roman"/>
              </a:rPr>
              <a:t>Punjab, Sindh &amp; KPK plains receive 60–80% of annual rain</a:t>
            </a:r>
          </a:p>
        </p:txBody>
      </p:sp>
      <p:sp>
        <p:nvSpPr>
          <p:cNvPr id="30" name="TextBox 29"/>
          <p:cNvSpPr txBox="1"/>
          <p:nvPr/>
        </p:nvSpPr>
        <p:spPr>
          <a:xfrm>
            <a:off x="1524000" y="7181701"/>
            <a:ext cx="4457700" cy="274290"/>
          </a:xfrm>
          <a:prstGeom prst="rect">
            <a:avLst/>
          </a:prstGeom>
          <a:noFill/>
        </p:spPr>
        <p:txBody>
          <a:bodyPr wrap="square" lIns="0" rIns="0" tIns="0" bIns="0" anchor="ctr">
            <a:spAutoFit/>
          </a:bodyPr>
          <a:lstStyle/>
          <a:p>
            <a:pPr algn="l">
              <a:lnSpc>
                <a:spcPct val="155000"/>
              </a:lnSpc>
            </a:pPr>
            <a:r>
              <a:rPr sz="1200" b="0" i="0">
                <a:solidFill>
                  <a:srgbClr val="1A2B4C"/>
                </a:solidFill>
                <a:latin typeface="Times New Roman"/>
              </a:rPr>
              <a:t>• </a:t>
            </a:r>
            <a:r>
              <a:rPr sz="1200" b="0" i="0">
                <a:solidFill>
                  <a:srgbClr val="1A2B4C"/>
                </a:solidFill>
                <a:latin typeface="Times New Roman"/>
              </a:rPr>
              <a:t>Heavy orographic rain against Siwaliks and Pir Panjal</a:t>
            </a:r>
          </a:p>
        </p:txBody>
      </p:sp>
      <p:sp>
        <p:nvSpPr>
          <p:cNvPr id="31" name="TextBox 30"/>
          <p:cNvSpPr txBox="1"/>
          <p:nvPr/>
        </p:nvSpPr>
        <p:spPr>
          <a:xfrm>
            <a:off x="1524000" y="7417891"/>
            <a:ext cx="4457700" cy="274290"/>
          </a:xfrm>
          <a:prstGeom prst="rect">
            <a:avLst/>
          </a:prstGeom>
          <a:noFill/>
        </p:spPr>
        <p:txBody>
          <a:bodyPr wrap="square" lIns="0" rIns="0" tIns="0" bIns="0" anchor="ctr">
            <a:spAutoFit/>
          </a:bodyPr>
          <a:lstStyle/>
          <a:p>
            <a:pPr algn="l">
              <a:lnSpc>
                <a:spcPct val="155000"/>
              </a:lnSpc>
            </a:pPr>
            <a:r>
              <a:rPr sz="1200" b="0" i="0">
                <a:solidFill>
                  <a:srgbClr val="1A2B4C"/>
                </a:solidFill>
                <a:latin typeface="Times New Roman"/>
              </a:rPr>
              <a:t>• </a:t>
            </a:r>
            <a:r>
              <a:rPr sz="1200" b="0" i="0">
                <a:solidFill>
                  <a:srgbClr val="1A2B4C"/>
                </a:solidFill>
                <a:latin typeface="Times New Roman"/>
              </a:rPr>
              <a:t>Indus discharge peaks August–early September</a:t>
            </a:r>
          </a:p>
        </p:txBody>
      </p:sp>
      <p:sp>
        <p:nvSpPr>
          <p:cNvPr id="32" name="Rectangle 31"/>
          <p:cNvSpPr/>
          <p:nvPr/>
        </p:nvSpPr>
        <p:spPr>
          <a:xfrm>
            <a:off x="6381750" y="6154935"/>
            <a:ext cx="5048250" cy="1727745"/>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6381750" y="6154935"/>
            <a:ext cx="5048250" cy="57150"/>
          </a:xfrm>
          <a:prstGeom prst="rect">
            <a:avLst/>
          </a:prstGeom>
          <a:solidFill>
            <a:srgbClr val="6E7B9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591300" y="6402585"/>
            <a:ext cx="4629150" cy="190500"/>
          </a:xfrm>
          <a:prstGeom prst="rect">
            <a:avLst/>
          </a:prstGeom>
          <a:noFill/>
        </p:spPr>
        <p:txBody>
          <a:bodyPr wrap="square" lIns="0" rIns="0" tIns="0" bIns="0" anchor="ctr">
            <a:spAutoFit/>
          </a:bodyPr>
          <a:lstStyle/>
          <a:p>
            <a:pPr algn="l">
              <a:lnSpc>
                <a:spcPct val="120000"/>
              </a:lnSpc>
            </a:pPr>
            <a:r>
              <a:rPr sz="980" b="0" i="0" spc="136">
                <a:solidFill>
                  <a:srgbClr val="6E7B96"/>
                </a:solidFill>
                <a:latin typeface="Times New Roman"/>
              </a:rPr>
              <a:t>POST-MONSOON / RETREATING · OCT – NOV</a:t>
            </a:r>
          </a:p>
        </p:txBody>
      </p:sp>
      <p:sp>
        <p:nvSpPr>
          <p:cNvPr id="35" name="TextBox 34"/>
          <p:cNvSpPr txBox="1"/>
          <p:nvPr/>
        </p:nvSpPr>
        <p:spPr>
          <a:xfrm>
            <a:off x="6591300" y="6612135"/>
            <a:ext cx="4629150" cy="295275"/>
          </a:xfrm>
          <a:prstGeom prst="rect">
            <a:avLst/>
          </a:prstGeom>
          <a:noFill/>
        </p:spPr>
        <p:txBody>
          <a:bodyPr wrap="square" lIns="0" rIns="0" tIns="0" bIns="0" anchor="ctr">
            <a:spAutoFit/>
          </a:bodyPr>
          <a:lstStyle/>
          <a:p>
            <a:pPr algn="l">
              <a:lnSpc>
                <a:spcPct val="120000"/>
              </a:lnSpc>
            </a:pPr>
            <a:r>
              <a:rPr sz="1800" b="1" i="0">
                <a:solidFill>
                  <a:srgbClr val="1A2B4C"/>
                </a:solidFill>
                <a:latin typeface="Times New Roman"/>
              </a:rPr>
              <a:t>Withdraws &amp; re-balances</a:t>
            </a:r>
          </a:p>
        </p:txBody>
      </p:sp>
      <p:sp>
        <p:nvSpPr>
          <p:cNvPr id="36" name="TextBox 35"/>
          <p:cNvSpPr txBox="1"/>
          <p:nvPr/>
        </p:nvSpPr>
        <p:spPr>
          <a:xfrm>
            <a:off x="6762750" y="6945510"/>
            <a:ext cx="4457700" cy="274290"/>
          </a:xfrm>
          <a:prstGeom prst="rect">
            <a:avLst/>
          </a:prstGeom>
          <a:noFill/>
        </p:spPr>
        <p:txBody>
          <a:bodyPr wrap="square" lIns="0" rIns="0" tIns="0" bIns="0" anchor="ctr">
            <a:spAutoFit/>
          </a:bodyPr>
          <a:lstStyle/>
          <a:p>
            <a:pPr algn="l">
              <a:lnSpc>
                <a:spcPct val="155000"/>
              </a:lnSpc>
            </a:pPr>
            <a:r>
              <a:rPr sz="1200" b="0" i="0">
                <a:solidFill>
                  <a:srgbClr val="1A2B4C"/>
                </a:solidFill>
                <a:latin typeface="Times New Roman"/>
              </a:rPr>
              <a:t>• </a:t>
            </a:r>
            <a:r>
              <a:rPr sz="1200" b="0" i="0">
                <a:solidFill>
                  <a:srgbClr val="1A2B4C"/>
                </a:solidFill>
                <a:latin typeface="Times New Roman"/>
              </a:rPr>
              <a:t>Monsoon retreats south east; clear skies prevail</a:t>
            </a:r>
          </a:p>
        </p:txBody>
      </p:sp>
      <p:sp>
        <p:nvSpPr>
          <p:cNvPr id="37" name="TextBox 36"/>
          <p:cNvSpPr txBox="1"/>
          <p:nvPr/>
        </p:nvSpPr>
        <p:spPr>
          <a:xfrm>
            <a:off x="6762750" y="7181701"/>
            <a:ext cx="4457700" cy="274290"/>
          </a:xfrm>
          <a:prstGeom prst="rect">
            <a:avLst/>
          </a:prstGeom>
          <a:noFill/>
        </p:spPr>
        <p:txBody>
          <a:bodyPr wrap="square" lIns="0" rIns="0" tIns="0" bIns="0" anchor="ctr">
            <a:spAutoFit/>
          </a:bodyPr>
          <a:lstStyle/>
          <a:p>
            <a:pPr algn="l">
              <a:lnSpc>
                <a:spcPct val="155000"/>
              </a:lnSpc>
            </a:pPr>
            <a:r>
              <a:rPr sz="1200" b="0" i="0">
                <a:solidFill>
                  <a:srgbClr val="1A2B4C"/>
                </a:solidFill>
                <a:latin typeface="Times New Roman"/>
              </a:rPr>
              <a:t>• </a:t>
            </a:r>
            <a:r>
              <a:rPr sz="1200" b="0" i="0">
                <a:solidFill>
                  <a:srgbClr val="1A2B4C"/>
                </a:solidFill>
                <a:latin typeface="Times New Roman"/>
              </a:rPr>
              <a:t>Rabi sowing window (wheat, lentils) opens Oct–Nov</a:t>
            </a:r>
          </a:p>
        </p:txBody>
      </p:sp>
      <p:sp>
        <p:nvSpPr>
          <p:cNvPr id="38" name="TextBox 37"/>
          <p:cNvSpPr txBox="1"/>
          <p:nvPr/>
        </p:nvSpPr>
        <p:spPr>
          <a:xfrm>
            <a:off x="6762750" y="7417891"/>
            <a:ext cx="4457700" cy="274290"/>
          </a:xfrm>
          <a:prstGeom prst="rect">
            <a:avLst/>
          </a:prstGeom>
          <a:noFill/>
        </p:spPr>
        <p:txBody>
          <a:bodyPr wrap="square" lIns="0" rIns="0" tIns="0" bIns="0" anchor="ctr">
            <a:spAutoFit/>
          </a:bodyPr>
          <a:lstStyle/>
          <a:p>
            <a:pPr algn="l">
              <a:lnSpc>
                <a:spcPct val="155000"/>
              </a:lnSpc>
            </a:pPr>
            <a:r>
              <a:rPr sz="1200" b="0" i="0">
                <a:solidFill>
                  <a:srgbClr val="1A2B4C"/>
                </a:solidFill>
                <a:latin typeface="Times New Roman"/>
              </a:rPr>
              <a:t>• </a:t>
            </a:r>
            <a:r>
              <a:rPr sz="1200" b="0" i="0">
                <a:solidFill>
                  <a:srgbClr val="1A2B4C"/>
                </a:solidFill>
                <a:latin typeface="Times New Roman"/>
              </a:rPr>
              <a:t>Brief Arabian Sea cyclone season affects Sindh coast</a:t>
            </a:r>
          </a:p>
        </p:txBody>
      </p:sp>
      <p:sp>
        <p:nvSpPr>
          <p:cNvPr id="39" name="Rectangle 38"/>
          <p:cNvSpPr/>
          <p:nvPr/>
        </p:nvSpPr>
        <p:spPr>
          <a:xfrm>
            <a:off x="11811000" y="5219700"/>
            <a:ext cx="5334000" cy="2496740"/>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2039600" y="5429250"/>
            <a:ext cx="4876800" cy="190500"/>
          </a:xfrm>
          <a:prstGeom prst="rect">
            <a:avLst/>
          </a:prstGeom>
          <a:noFill/>
        </p:spPr>
        <p:txBody>
          <a:bodyPr wrap="square" lIns="0" rIns="0" tIns="0" bIns="0" anchor="ctr">
            <a:spAutoFit/>
          </a:bodyPr>
          <a:lstStyle/>
          <a:p>
            <a:pPr algn="l">
              <a:lnSpc>
                <a:spcPct val="120000"/>
              </a:lnSpc>
            </a:pPr>
            <a:r>
              <a:rPr sz="980" b="0" i="1" spc="156">
                <a:solidFill>
                  <a:srgbClr val="FFFFFF"/>
                </a:solidFill>
                <a:latin typeface="Times New Roman"/>
              </a:rPr>
              <a:t>The PMD’s four conventional seasons</a:t>
            </a:r>
          </a:p>
        </p:txBody>
      </p:sp>
      <p:sp>
        <p:nvSpPr>
          <p:cNvPr id="41" name="TextBox 40"/>
          <p:cNvSpPr txBox="1"/>
          <p:nvPr/>
        </p:nvSpPr>
        <p:spPr>
          <a:xfrm>
            <a:off x="12249150" y="5715000"/>
            <a:ext cx="4667250" cy="297060"/>
          </a:xfrm>
          <a:prstGeom prst="rect">
            <a:avLst/>
          </a:prstGeom>
          <a:noFill/>
        </p:spPr>
        <p:txBody>
          <a:bodyPr wrap="square" lIns="0" rIns="0" tIns="0" bIns="0" anchor="ctr">
            <a:spAutoFit/>
          </a:bodyPr>
          <a:lstStyle/>
          <a:p>
            <a:pPr algn="l">
              <a:lnSpc>
                <a:spcPct val="170000"/>
              </a:lnSpc>
            </a:pPr>
            <a:r>
              <a:rPr sz="1200" b="0" i="0">
                <a:solidFill>
                  <a:srgbClr val="FFFFFF"/>
                </a:solidFill>
                <a:latin typeface="Times New Roman"/>
              </a:rPr>
              <a:t>• </a:t>
            </a:r>
            <a:r>
              <a:rPr sz="1200" b="1" i="0">
                <a:solidFill>
                  <a:srgbClr val="FFFFFF"/>
                </a:solidFill>
                <a:latin typeface="Times New Roman"/>
              </a:rPr>
              <a:t>Winter</a:t>
            </a:r>
            <a:r>
              <a:rPr sz="1200" b="0" i="0">
                <a:solidFill>
                  <a:srgbClr val="FFFFFF"/>
                </a:solidFill>
                <a:latin typeface="Times New Roman"/>
              </a:rPr>
              <a:t> (Dec–Feb)</a:t>
            </a:r>
          </a:p>
        </p:txBody>
      </p:sp>
      <p:sp>
        <p:nvSpPr>
          <p:cNvPr id="42" name="TextBox 41"/>
          <p:cNvSpPr txBox="1"/>
          <p:nvPr/>
        </p:nvSpPr>
        <p:spPr>
          <a:xfrm>
            <a:off x="12249150" y="5973960"/>
            <a:ext cx="4667250" cy="297060"/>
          </a:xfrm>
          <a:prstGeom prst="rect">
            <a:avLst/>
          </a:prstGeom>
          <a:noFill/>
        </p:spPr>
        <p:txBody>
          <a:bodyPr wrap="square" lIns="0" rIns="0" tIns="0" bIns="0" anchor="ctr">
            <a:spAutoFit/>
          </a:bodyPr>
          <a:lstStyle/>
          <a:p>
            <a:pPr algn="l">
              <a:lnSpc>
                <a:spcPct val="170000"/>
              </a:lnSpc>
            </a:pPr>
            <a:r>
              <a:rPr sz="1200" b="0" i="0">
                <a:solidFill>
                  <a:srgbClr val="FFFFFF"/>
                </a:solidFill>
                <a:latin typeface="Times New Roman"/>
              </a:rPr>
              <a:t>• </a:t>
            </a:r>
            <a:r>
              <a:rPr sz="1200" b="1" i="0">
                <a:solidFill>
                  <a:srgbClr val="FFFFFF"/>
                </a:solidFill>
                <a:latin typeface="Times New Roman"/>
              </a:rPr>
              <a:t>Pre-monsoon / Summer</a:t>
            </a:r>
            <a:r>
              <a:rPr sz="1200" b="0" i="0">
                <a:solidFill>
                  <a:srgbClr val="FFFFFF"/>
                </a:solidFill>
                <a:latin typeface="Times New Roman"/>
              </a:rPr>
              <a:t> (Mar–May)</a:t>
            </a:r>
          </a:p>
        </p:txBody>
      </p:sp>
      <p:sp>
        <p:nvSpPr>
          <p:cNvPr id="43" name="TextBox 42"/>
          <p:cNvSpPr txBox="1"/>
          <p:nvPr/>
        </p:nvSpPr>
        <p:spPr>
          <a:xfrm>
            <a:off x="12249150" y="6232921"/>
            <a:ext cx="4667250" cy="297060"/>
          </a:xfrm>
          <a:prstGeom prst="rect">
            <a:avLst/>
          </a:prstGeom>
          <a:noFill/>
        </p:spPr>
        <p:txBody>
          <a:bodyPr wrap="square" lIns="0" rIns="0" tIns="0" bIns="0" anchor="ctr">
            <a:spAutoFit/>
          </a:bodyPr>
          <a:lstStyle/>
          <a:p>
            <a:pPr algn="l">
              <a:lnSpc>
                <a:spcPct val="170000"/>
              </a:lnSpc>
            </a:pPr>
            <a:r>
              <a:rPr sz="1200" b="0" i="0">
                <a:solidFill>
                  <a:srgbClr val="FFFFFF"/>
                </a:solidFill>
                <a:latin typeface="Times New Roman"/>
              </a:rPr>
              <a:t>• </a:t>
            </a:r>
            <a:r>
              <a:rPr sz="1200" b="1" i="0">
                <a:solidFill>
                  <a:srgbClr val="FFFFFF"/>
                </a:solidFill>
                <a:latin typeface="Times New Roman"/>
              </a:rPr>
              <a:t>Monsoon</a:t>
            </a:r>
            <a:r>
              <a:rPr sz="1200" b="0" i="0">
                <a:solidFill>
                  <a:srgbClr val="FFFFFF"/>
                </a:solidFill>
                <a:latin typeface="Times New Roman"/>
              </a:rPr>
              <a:t> (Jun–Sep)</a:t>
            </a:r>
          </a:p>
        </p:txBody>
      </p:sp>
      <p:sp>
        <p:nvSpPr>
          <p:cNvPr id="44" name="TextBox 43"/>
          <p:cNvSpPr txBox="1"/>
          <p:nvPr/>
        </p:nvSpPr>
        <p:spPr>
          <a:xfrm>
            <a:off x="12249150" y="6491882"/>
            <a:ext cx="4667250" cy="297060"/>
          </a:xfrm>
          <a:prstGeom prst="rect">
            <a:avLst/>
          </a:prstGeom>
          <a:noFill/>
        </p:spPr>
        <p:txBody>
          <a:bodyPr wrap="square" lIns="0" rIns="0" tIns="0" bIns="0" anchor="ctr">
            <a:spAutoFit/>
          </a:bodyPr>
          <a:lstStyle/>
          <a:p>
            <a:pPr algn="l">
              <a:lnSpc>
                <a:spcPct val="170000"/>
              </a:lnSpc>
            </a:pPr>
            <a:r>
              <a:rPr sz="1200" b="0" i="0">
                <a:solidFill>
                  <a:srgbClr val="FFFFFF"/>
                </a:solidFill>
                <a:latin typeface="Times New Roman"/>
              </a:rPr>
              <a:t>• </a:t>
            </a:r>
            <a:r>
              <a:rPr sz="1200" b="1" i="0">
                <a:solidFill>
                  <a:srgbClr val="FFFFFF"/>
                </a:solidFill>
                <a:latin typeface="Times New Roman"/>
              </a:rPr>
              <a:t>Post-monsoon</a:t>
            </a:r>
            <a:r>
              <a:rPr sz="1200" b="0" i="0">
                <a:solidFill>
                  <a:srgbClr val="FFFFFF"/>
                </a:solidFill>
                <a:latin typeface="Times New Roman"/>
              </a:rPr>
              <a:t> (Oct–Nov)</a:t>
            </a:r>
          </a:p>
        </p:txBody>
      </p:sp>
      <p:sp>
        <p:nvSpPr>
          <p:cNvPr id="45" name="TextBox 44"/>
          <p:cNvSpPr txBox="1"/>
          <p:nvPr/>
        </p:nvSpPr>
        <p:spPr>
          <a:xfrm>
            <a:off x="12039600" y="6922293"/>
            <a:ext cx="4876800" cy="451246"/>
          </a:xfrm>
          <a:prstGeom prst="rect">
            <a:avLst/>
          </a:prstGeom>
          <a:noFill/>
        </p:spPr>
        <p:txBody>
          <a:bodyPr wrap="square" lIns="0" rIns="0" tIns="0" bIns="0" anchor="t">
            <a:spAutoFit/>
          </a:bodyPr>
          <a:lstStyle/>
          <a:p>
            <a:pPr algn="l">
              <a:lnSpc>
                <a:spcPct val="155000"/>
              </a:lnSpc>
            </a:pPr>
            <a:r>
              <a:rPr sz="1050" b="0" i="1">
                <a:solidFill>
                  <a:srgbClr val="FFFFFF"/>
                </a:solidFill>
                <a:latin typeface="Times New Roman"/>
              </a:rPr>
              <a:t>Pakistan Meteorological Department uses these four categories rather than the conventional six- or twelve-month models.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00" cy="685800"/>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791950" y="1009650"/>
            <a:ext cx="5372100" cy="38100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Image: Crop calendar chart — shows the kharif (Apr–Oct) and rabi (Oct–Apr) cycles overlaid on monthly rainfall and temperature curves at Lahore.</a:t>
            </a:r>
          </a:p>
        </p:txBody>
      </p:sp>
      <p:sp>
        <p:nvSpPr>
          <p:cNvPr id="5" name="TextBox 4"/>
          <p:cNvSpPr txBox="1"/>
          <p:nvPr/>
        </p:nvSpPr>
        <p:spPr>
          <a:xfrm>
            <a:off x="1123950" y="190500"/>
            <a:ext cx="11468100" cy="209550"/>
          </a:xfrm>
          <a:prstGeom prst="rect">
            <a:avLst/>
          </a:prstGeom>
          <a:noFill/>
        </p:spPr>
        <p:txBody>
          <a:bodyPr wrap="square" lIns="0" rIns="0" tIns="0" bIns="0" anchor="ctr">
            <a:spAutoFit/>
          </a:bodyPr>
          <a:lstStyle/>
          <a:p>
            <a:pPr algn="l">
              <a:lnSpc>
                <a:spcPct val="120000"/>
              </a:lnSpc>
            </a:pPr>
            <a:r>
              <a:rPr sz="1200" b="0" i="0">
                <a:solidFill>
                  <a:srgbClr val="FFFFFF"/>
                </a:solidFill>
                <a:latin typeface="Times New Roman"/>
              </a:rPr>
              <a:t>09 · Detail · seasonality as a driver of agriculture</a:t>
            </a:r>
          </a:p>
        </p:txBody>
      </p:sp>
      <p:sp>
        <p:nvSpPr>
          <p:cNvPr id="6" name="TextBox 5"/>
          <p:cNvSpPr txBox="1"/>
          <p:nvPr/>
        </p:nvSpPr>
        <p:spPr>
          <a:xfrm>
            <a:off x="16173450" y="190500"/>
            <a:ext cx="1181100" cy="323850"/>
          </a:xfrm>
          <a:prstGeom prst="rect">
            <a:avLst/>
          </a:prstGeom>
          <a:noFill/>
        </p:spPr>
        <p:txBody>
          <a:bodyPr wrap="square" lIns="0" rIns="0" tIns="0" bIns="0" anchor="ctr">
            <a:spAutoFit/>
          </a:bodyPr>
          <a:lstStyle/>
          <a:p>
            <a:pPr algn="r">
              <a:lnSpc>
                <a:spcPct val="120000"/>
              </a:lnSpc>
            </a:pPr>
            <a:r>
              <a:rPr sz="1050" b="0" i="1">
                <a:solidFill>
                  <a:srgbClr val="C81D25"/>
                </a:solidFill>
                <a:latin typeface="Times New Roman"/>
              </a:rPr>
              <a:t>09 / 22</a:t>
            </a:r>
          </a:p>
        </p:txBody>
      </p:sp>
      <p:sp>
        <p:nvSpPr>
          <p:cNvPr id="7" name="TextBox 6"/>
          <p:cNvSpPr txBox="1"/>
          <p:nvPr/>
        </p:nvSpPr>
        <p:spPr>
          <a:xfrm>
            <a:off x="1123950" y="1009650"/>
            <a:ext cx="7658100" cy="41910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Detail</a:t>
            </a:r>
          </a:p>
        </p:txBody>
      </p:sp>
      <p:sp>
        <p:nvSpPr>
          <p:cNvPr id="8" name="TextBox 7"/>
          <p:cNvSpPr txBox="1"/>
          <p:nvPr/>
        </p:nvSpPr>
        <p:spPr>
          <a:xfrm>
            <a:off x="1123950" y="1600200"/>
            <a:ext cx="16040100" cy="1128414"/>
          </a:xfrm>
          <a:prstGeom prst="rect">
            <a:avLst/>
          </a:prstGeom>
          <a:noFill/>
        </p:spPr>
        <p:txBody>
          <a:bodyPr wrap="square" lIns="0" rIns="0" tIns="0" bIns="0" anchor="t">
            <a:spAutoFit/>
          </a:bodyPr>
          <a:lstStyle/>
          <a:p>
            <a:pPr algn="l">
              <a:lnSpc>
                <a:spcPct val="106000"/>
              </a:lnSpc>
            </a:pPr>
            <a:r>
              <a:rPr sz="4050" b="1" i="0">
                <a:solidFill>
                  <a:srgbClr val="1A2B4C"/>
                </a:solidFill>
                <a:latin typeface="Times New Roman"/>
              </a:rPr>
              <a:t> Why </a:t>
            </a:r>
            <a:r>
              <a:rPr sz="4050" b="1" i="0">
                <a:solidFill>
                  <a:srgbClr val="C81D25"/>
                </a:solidFill>
                <a:latin typeface="Times New Roman"/>
              </a:rPr>
              <a:t>the monsoon pulse</a:t>
            </a:r>
            <a:r>
              <a:rPr sz="4050" b="1" i="0">
                <a:solidFill>
                  <a:srgbClr val="1A2B4C"/>
                </a:solidFill>
                <a:latin typeface="Times New Roman"/>
              </a:rPr>
              <a:t> is the single most important variable in Pakistani geography. </a:t>
            </a:r>
          </a:p>
        </p:txBody>
      </p:sp>
      <p:sp>
        <p:nvSpPr>
          <p:cNvPr id="9" name="TextBox 8"/>
          <p:cNvSpPr txBox="1"/>
          <p:nvPr/>
        </p:nvSpPr>
        <p:spPr>
          <a:xfrm>
            <a:off x="1123950" y="3600450"/>
            <a:ext cx="10325100" cy="336649"/>
          </a:xfrm>
          <a:prstGeom prst="rect">
            <a:avLst/>
          </a:prstGeom>
          <a:noFill/>
        </p:spPr>
        <p:txBody>
          <a:bodyPr wrap="square" lIns="0" rIns="0" tIns="0" bIns="0" anchor="ctr">
            <a:spAutoFit/>
          </a:bodyPr>
          <a:lstStyle/>
          <a:p>
            <a:pPr algn="l">
              <a:lnSpc>
                <a:spcPct val="165000"/>
              </a:lnSpc>
            </a:pPr>
            <a:r>
              <a:rPr sz="1420" b="0" i="0">
                <a:solidFill>
                  <a:srgbClr val="1A2B4C"/>
                </a:solidFill>
                <a:latin typeface="Times New Roman"/>
              </a:rPr>
              <a:t>The seasonal rhythm is the </a:t>
            </a:r>
            <a:r>
              <a:rPr sz="1420" b="1" i="0">
                <a:solidFill>
                  <a:srgbClr val="1A2B4C"/>
                </a:solidFill>
                <a:latin typeface="Times New Roman"/>
              </a:rPr>
              <a:t>schedule</a:t>
            </a:r>
            <a:r>
              <a:rPr sz="1420" b="0" i="0">
                <a:solidFill>
                  <a:srgbClr val="1A2B4C"/>
                </a:solidFill>
                <a:latin typeface="Times New Roman"/>
              </a:rPr>
              <a:t> on which every rain-fed and many irrigated crops operate:</a:t>
            </a:r>
          </a:p>
        </p:txBody>
      </p:sp>
      <p:sp>
        <p:nvSpPr>
          <p:cNvPr id="10" name="Rectangle 9"/>
          <p:cNvSpPr/>
          <p:nvPr/>
        </p:nvSpPr>
        <p:spPr>
          <a:xfrm>
            <a:off x="1143000" y="4089499"/>
            <a:ext cx="10287000" cy="1141809"/>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43000" y="4089499"/>
            <a:ext cx="57150" cy="1141809"/>
          </a:xfrm>
          <a:prstGeom prst="rect">
            <a:avLst/>
          </a:prstGeom>
          <a:solidFill>
            <a:srgbClr val="2E5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90650" y="4241899"/>
            <a:ext cx="9848850" cy="242292"/>
          </a:xfrm>
          <a:prstGeom prst="rect">
            <a:avLst/>
          </a:prstGeom>
          <a:noFill/>
        </p:spPr>
        <p:txBody>
          <a:bodyPr wrap="square" lIns="0" rIns="0" tIns="0" bIns="0" anchor="ctr">
            <a:spAutoFit/>
          </a:bodyPr>
          <a:lstStyle/>
          <a:p>
            <a:pPr algn="l">
              <a:lnSpc>
                <a:spcPct val="165000"/>
              </a:lnSpc>
            </a:pPr>
            <a:r>
              <a:rPr sz="980" b="0" i="0" spc="136">
                <a:solidFill>
                  <a:srgbClr val="2E5D3A"/>
                </a:solidFill>
                <a:latin typeface="Times New Roman"/>
              </a:rPr>
              <a:t>KHARIF SEASON · APR–OCT</a:t>
            </a:r>
          </a:p>
        </p:txBody>
      </p:sp>
      <p:sp>
        <p:nvSpPr>
          <p:cNvPr id="13" name="TextBox 12"/>
          <p:cNvSpPr txBox="1"/>
          <p:nvPr/>
        </p:nvSpPr>
        <p:spPr>
          <a:xfrm>
            <a:off x="1390650" y="4484191"/>
            <a:ext cx="9848850" cy="320873"/>
          </a:xfrm>
          <a:prstGeom prst="rect">
            <a:avLst/>
          </a:prstGeom>
          <a:noFill/>
        </p:spPr>
        <p:txBody>
          <a:bodyPr wrap="square" lIns="0" rIns="0" tIns="0" bIns="0" anchor="ctr">
            <a:spAutoFit/>
          </a:bodyPr>
          <a:lstStyle/>
          <a:p>
            <a:pPr algn="l">
              <a:lnSpc>
                <a:spcPct val="165000"/>
              </a:lnSpc>
            </a:pPr>
            <a:r>
              <a:rPr sz="1350" b="1" i="0">
                <a:solidFill>
                  <a:srgbClr val="1A2B4C"/>
                </a:solidFill>
                <a:latin typeface="Times New Roman"/>
              </a:rPr>
              <a:t>Monsoon-fed crops: cotton, rice, sugarcane, maize</a:t>
            </a:r>
          </a:p>
        </p:txBody>
      </p:sp>
      <p:sp>
        <p:nvSpPr>
          <p:cNvPr id="14" name="TextBox 13"/>
          <p:cNvSpPr txBox="1"/>
          <p:nvPr/>
        </p:nvSpPr>
        <p:spPr>
          <a:xfrm>
            <a:off x="1390650" y="4805064"/>
            <a:ext cx="9848850" cy="273843"/>
          </a:xfrm>
          <a:prstGeom prst="rect">
            <a:avLst/>
          </a:prstGeom>
          <a:noFill/>
        </p:spPr>
        <p:txBody>
          <a:bodyPr wrap="square" lIns="0" rIns="0" tIns="0" bIns="0" anchor="ctr">
            <a:spAutoFit/>
          </a:bodyPr>
          <a:lstStyle/>
          <a:p>
            <a:pPr algn="l">
              <a:lnSpc>
                <a:spcPct val="165000"/>
              </a:lnSpc>
            </a:pPr>
            <a:r>
              <a:rPr sz="1120" b="0" i="1">
                <a:solidFill>
                  <a:srgbClr val="5B6E94"/>
                </a:solidFill>
                <a:latin typeface="Times New Roman"/>
              </a:rPr>
              <a:t>Sowing at pre-monsoon heat; growth through SW monsoon; harvest at retreating monsoon.</a:t>
            </a:r>
          </a:p>
        </p:txBody>
      </p:sp>
      <p:sp>
        <p:nvSpPr>
          <p:cNvPr id="15" name="Rectangle 14"/>
          <p:cNvSpPr/>
          <p:nvPr/>
        </p:nvSpPr>
        <p:spPr>
          <a:xfrm>
            <a:off x="1143000" y="5364658"/>
            <a:ext cx="10287000" cy="1141809"/>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143000" y="5364658"/>
            <a:ext cx="57150" cy="1141809"/>
          </a:xfrm>
          <a:prstGeom prst="rect">
            <a:avLst/>
          </a:prstGeom>
          <a:solidFill>
            <a:srgbClr val="1F5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90650" y="5517058"/>
            <a:ext cx="9848850" cy="242292"/>
          </a:xfrm>
          <a:prstGeom prst="rect">
            <a:avLst/>
          </a:prstGeom>
          <a:noFill/>
        </p:spPr>
        <p:txBody>
          <a:bodyPr wrap="square" lIns="0" rIns="0" tIns="0" bIns="0" anchor="ctr">
            <a:spAutoFit/>
          </a:bodyPr>
          <a:lstStyle/>
          <a:p>
            <a:pPr algn="l">
              <a:lnSpc>
                <a:spcPct val="165000"/>
              </a:lnSpc>
            </a:pPr>
            <a:r>
              <a:rPr sz="980" b="0" i="0" spc="136">
                <a:solidFill>
                  <a:srgbClr val="1F5A7E"/>
                </a:solidFill>
                <a:latin typeface="Times New Roman"/>
              </a:rPr>
              <a:t>RABI SEASON · OCT–APR</a:t>
            </a:r>
          </a:p>
        </p:txBody>
      </p:sp>
      <p:sp>
        <p:nvSpPr>
          <p:cNvPr id="18" name="TextBox 17"/>
          <p:cNvSpPr txBox="1"/>
          <p:nvPr/>
        </p:nvSpPr>
        <p:spPr>
          <a:xfrm>
            <a:off x="1390650" y="5759350"/>
            <a:ext cx="9848850" cy="320873"/>
          </a:xfrm>
          <a:prstGeom prst="rect">
            <a:avLst/>
          </a:prstGeom>
          <a:noFill/>
        </p:spPr>
        <p:txBody>
          <a:bodyPr wrap="square" lIns="0" rIns="0" tIns="0" bIns="0" anchor="ctr">
            <a:spAutoFit/>
          </a:bodyPr>
          <a:lstStyle/>
          <a:p>
            <a:pPr algn="l">
              <a:lnSpc>
                <a:spcPct val="165000"/>
              </a:lnSpc>
            </a:pPr>
            <a:r>
              <a:rPr sz="1350" b="1" i="0">
                <a:solidFill>
                  <a:srgbClr val="1A2B4C"/>
                </a:solidFill>
                <a:latin typeface="Times New Roman"/>
              </a:rPr>
              <a:t>Winter crops: wheat, barley, mustard, gram, lentils</a:t>
            </a:r>
          </a:p>
        </p:txBody>
      </p:sp>
      <p:sp>
        <p:nvSpPr>
          <p:cNvPr id="19" name="TextBox 18"/>
          <p:cNvSpPr txBox="1"/>
          <p:nvPr/>
        </p:nvSpPr>
        <p:spPr>
          <a:xfrm>
            <a:off x="1390650" y="6080224"/>
            <a:ext cx="9848850" cy="273843"/>
          </a:xfrm>
          <a:prstGeom prst="rect">
            <a:avLst/>
          </a:prstGeom>
          <a:noFill/>
        </p:spPr>
        <p:txBody>
          <a:bodyPr wrap="square" lIns="0" rIns="0" tIns="0" bIns="0" anchor="ctr">
            <a:spAutoFit/>
          </a:bodyPr>
          <a:lstStyle/>
          <a:p>
            <a:pPr algn="l">
              <a:lnSpc>
                <a:spcPct val="165000"/>
              </a:lnSpc>
            </a:pPr>
            <a:r>
              <a:rPr sz="1120" b="0" i="1">
                <a:solidFill>
                  <a:srgbClr val="5B6E94"/>
                </a:solidFill>
                <a:latin typeface="Times New Roman"/>
              </a:rPr>
              <a:t>Sowing on residual moisture of post-monsoon; growth on winter westerlies.</a:t>
            </a:r>
          </a:p>
        </p:txBody>
      </p:sp>
      <p:sp>
        <p:nvSpPr>
          <p:cNvPr id="20" name="Rectangle 19"/>
          <p:cNvSpPr/>
          <p:nvPr/>
        </p:nvSpPr>
        <p:spPr>
          <a:xfrm>
            <a:off x="1143000" y="6639817"/>
            <a:ext cx="10287000" cy="867965"/>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43000" y="6639817"/>
            <a:ext cx="57150" cy="867965"/>
          </a:xfrm>
          <a:prstGeom prst="rect">
            <a:avLst/>
          </a:prstGeom>
          <a:solidFill>
            <a:srgbClr val="B88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90650" y="6792217"/>
            <a:ext cx="9848850" cy="242292"/>
          </a:xfrm>
          <a:prstGeom prst="rect">
            <a:avLst/>
          </a:prstGeom>
          <a:noFill/>
        </p:spPr>
        <p:txBody>
          <a:bodyPr wrap="square" lIns="0" rIns="0" tIns="0" bIns="0" anchor="ctr">
            <a:spAutoFit/>
          </a:bodyPr>
          <a:lstStyle/>
          <a:p>
            <a:pPr algn="l">
              <a:lnSpc>
                <a:spcPct val="165000"/>
              </a:lnSpc>
            </a:pPr>
            <a:r>
              <a:rPr sz="980" b="0" i="0" spc="136">
                <a:solidFill>
                  <a:srgbClr val="B8862B"/>
                </a:solidFill>
                <a:latin typeface="Times New Roman"/>
              </a:rPr>
              <a:t>WHY IT MATTERS FOR INDUSTRY</a:t>
            </a:r>
          </a:p>
        </p:txBody>
      </p:sp>
      <p:sp>
        <p:nvSpPr>
          <p:cNvPr id="23" name="TextBox 22"/>
          <p:cNvSpPr txBox="1"/>
          <p:nvPr/>
        </p:nvSpPr>
        <p:spPr>
          <a:xfrm>
            <a:off x="1390650" y="7034510"/>
            <a:ext cx="9848850" cy="320873"/>
          </a:xfrm>
          <a:prstGeom prst="rect">
            <a:avLst/>
          </a:prstGeom>
          <a:noFill/>
        </p:spPr>
        <p:txBody>
          <a:bodyPr wrap="square" lIns="0" rIns="0" tIns="0" bIns="0" anchor="ctr">
            <a:spAutoFit/>
          </a:bodyPr>
          <a:lstStyle/>
          <a:p>
            <a:pPr algn="l">
              <a:lnSpc>
                <a:spcPct val="165000"/>
              </a:lnSpc>
            </a:pPr>
            <a:r>
              <a:rPr sz="1350" b="1" i="0">
                <a:solidFill>
                  <a:srgbClr val="1A2B4C"/>
                </a:solidFill>
                <a:latin typeface="Times New Roman"/>
              </a:rPr>
              <a:t>Cotton-textile &amp; sugar industries are weather-cycle-locked: a single weak monsoon diverts billions of rupees of output.</a:t>
            </a:r>
          </a:p>
        </p:txBody>
      </p:sp>
      <p:sp>
        <p:nvSpPr>
          <p:cNvPr id="24" name="Rectangle 23"/>
          <p:cNvSpPr/>
          <p:nvPr/>
        </p:nvSpPr>
        <p:spPr>
          <a:xfrm>
            <a:off x="1143000" y="7641133"/>
            <a:ext cx="10287000" cy="867965"/>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143000" y="7641133"/>
            <a:ext cx="57150" cy="867965"/>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90650" y="7793533"/>
            <a:ext cx="9848850" cy="242292"/>
          </a:xfrm>
          <a:prstGeom prst="rect">
            <a:avLst/>
          </a:prstGeom>
          <a:noFill/>
        </p:spPr>
        <p:txBody>
          <a:bodyPr wrap="square" lIns="0" rIns="0" tIns="0" bIns="0" anchor="ctr">
            <a:spAutoFit/>
          </a:bodyPr>
          <a:lstStyle/>
          <a:p>
            <a:pPr algn="l">
              <a:lnSpc>
                <a:spcPct val="165000"/>
              </a:lnSpc>
            </a:pPr>
            <a:r>
              <a:rPr sz="980" b="0" i="0" spc="136">
                <a:solidFill>
                  <a:srgbClr val="C81D25"/>
                </a:solidFill>
                <a:latin typeface="Times New Roman"/>
              </a:rPr>
              <a:t>CLIMATE TREND (CRUTEM / PMD NORMALS)</a:t>
            </a:r>
          </a:p>
        </p:txBody>
      </p:sp>
      <p:sp>
        <p:nvSpPr>
          <p:cNvPr id="27" name="TextBox 26"/>
          <p:cNvSpPr txBox="1"/>
          <p:nvPr/>
        </p:nvSpPr>
        <p:spPr>
          <a:xfrm>
            <a:off x="1390650" y="8035825"/>
            <a:ext cx="9848850" cy="320873"/>
          </a:xfrm>
          <a:prstGeom prst="rect">
            <a:avLst/>
          </a:prstGeom>
          <a:noFill/>
        </p:spPr>
        <p:txBody>
          <a:bodyPr wrap="square" lIns="0" rIns="0" tIns="0" bIns="0" anchor="ctr">
            <a:spAutoFit/>
          </a:bodyPr>
          <a:lstStyle/>
          <a:p>
            <a:pPr algn="l">
              <a:lnSpc>
                <a:spcPct val="165000"/>
              </a:lnSpc>
            </a:pPr>
            <a:r>
              <a:rPr sz="1350" b="1" i="0">
                <a:solidFill>
                  <a:srgbClr val="1A2B4C"/>
                </a:solidFill>
                <a:latin typeface="Times New Roman"/>
              </a:rPr>
              <a:t>Monsoon onset has shifted later by 7–10 days since 1980; summer heat extremes have increased in frequency.</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00" cy="685800"/>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791950" y="1009650"/>
            <a:ext cx="5372100" cy="38100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Image: Mean annual rainfall isohyets — 100, 250, 500, 1,000 mm contours overlaid on a Pakistan map; note the steep east-to-west decline over Balochistan.</a:t>
            </a:r>
          </a:p>
        </p:txBody>
      </p:sp>
      <p:sp>
        <p:nvSpPr>
          <p:cNvPr id="5" name="TextBox 4"/>
          <p:cNvSpPr txBox="1"/>
          <p:nvPr/>
        </p:nvSpPr>
        <p:spPr>
          <a:xfrm>
            <a:off x="1123950" y="190500"/>
            <a:ext cx="11468100" cy="209550"/>
          </a:xfrm>
          <a:prstGeom prst="rect">
            <a:avLst/>
          </a:prstGeom>
          <a:noFill/>
        </p:spPr>
        <p:txBody>
          <a:bodyPr wrap="square" lIns="0" rIns="0" tIns="0" bIns="0" anchor="ctr">
            <a:spAutoFit/>
          </a:bodyPr>
          <a:lstStyle/>
          <a:p>
            <a:pPr algn="l">
              <a:lnSpc>
                <a:spcPct val="120000"/>
              </a:lnSpc>
            </a:pPr>
            <a:r>
              <a:rPr sz="1200" b="0" i="0">
                <a:solidFill>
                  <a:srgbClr val="FFFFFF"/>
                </a:solidFill>
                <a:latin typeface="Times New Roman"/>
              </a:rPr>
              <a:t>10 · Rainfall system · the most unevenly distributed in South Asia</a:t>
            </a:r>
          </a:p>
        </p:txBody>
      </p:sp>
      <p:sp>
        <p:nvSpPr>
          <p:cNvPr id="6" name="TextBox 5"/>
          <p:cNvSpPr txBox="1"/>
          <p:nvPr/>
        </p:nvSpPr>
        <p:spPr>
          <a:xfrm>
            <a:off x="16173450" y="190500"/>
            <a:ext cx="1181100" cy="323850"/>
          </a:xfrm>
          <a:prstGeom prst="rect">
            <a:avLst/>
          </a:prstGeom>
          <a:noFill/>
        </p:spPr>
        <p:txBody>
          <a:bodyPr wrap="square" lIns="0" rIns="0" tIns="0" bIns="0" anchor="ctr">
            <a:spAutoFit/>
          </a:bodyPr>
          <a:lstStyle/>
          <a:p>
            <a:pPr algn="r">
              <a:lnSpc>
                <a:spcPct val="120000"/>
              </a:lnSpc>
            </a:pPr>
            <a:r>
              <a:rPr sz="1050" b="0" i="1">
                <a:solidFill>
                  <a:srgbClr val="C81D25"/>
                </a:solidFill>
                <a:latin typeface="Times New Roman"/>
              </a:rPr>
              <a:t>10 / 22</a:t>
            </a:r>
          </a:p>
        </p:txBody>
      </p:sp>
      <p:sp>
        <p:nvSpPr>
          <p:cNvPr id="7" name="TextBox 6"/>
          <p:cNvSpPr txBox="1"/>
          <p:nvPr/>
        </p:nvSpPr>
        <p:spPr>
          <a:xfrm>
            <a:off x="1123950" y="1009650"/>
            <a:ext cx="7658100" cy="41910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Cluster 3 · Hydrology</a:t>
            </a:r>
          </a:p>
        </p:txBody>
      </p:sp>
      <p:sp>
        <p:nvSpPr>
          <p:cNvPr id="8" name="TextBox 7"/>
          <p:cNvSpPr txBox="1"/>
          <p:nvPr/>
        </p:nvSpPr>
        <p:spPr>
          <a:xfrm>
            <a:off x="1123950" y="1600200"/>
            <a:ext cx="16040100" cy="1168896"/>
          </a:xfrm>
          <a:prstGeom prst="rect">
            <a:avLst/>
          </a:prstGeom>
          <a:noFill/>
        </p:spPr>
        <p:txBody>
          <a:bodyPr wrap="square" lIns="0" rIns="0" tIns="0" bIns="0" anchor="t">
            <a:spAutoFit/>
          </a:bodyPr>
          <a:lstStyle/>
          <a:p>
            <a:pPr algn="l">
              <a:lnSpc>
                <a:spcPct val="106000"/>
              </a:lnSpc>
            </a:pPr>
            <a:r>
              <a:rPr sz="4200" b="1" i="0">
                <a:solidFill>
                  <a:srgbClr val="1A2B4C"/>
                </a:solidFill>
                <a:latin typeface="Times New Roman"/>
              </a:rPr>
              <a:t> Pakistan’s rainfall ranges from &lt;100 mm to &gt;1,500 mm — within </a:t>
            </a:r>
            <a:r>
              <a:rPr sz="4200" b="1" i="0">
                <a:solidFill>
                  <a:srgbClr val="C81D25"/>
                </a:solidFill>
                <a:latin typeface="Times New Roman"/>
              </a:rPr>
              <a:t>a single valley</a:t>
            </a:r>
            <a:r>
              <a:rPr sz="4200" b="1" i="0">
                <a:solidFill>
                  <a:srgbClr val="1A2B4C"/>
                </a:solidFill>
                <a:latin typeface="Times New Roman"/>
              </a:rPr>
              <a:t>. </a:t>
            </a:r>
          </a:p>
        </p:txBody>
      </p:sp>
      <p:sp>
        <p:nvSpPr>
          <p:cNvPr id="9" name="TextBox 8"/>
          <p:cNvSpPr txBox="1"/>
          <p:nvPr/>
        </p:nvSpPr>
        <p:spPr>
          <a:xfrm>
            <a:off x="1123950" y="3371850"/>
            <a:ext cx="10325100" cy="38100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The country’s rainfall regime is the </a:t>
            </a:r>
            <a:r>
              <a:rPr sz="1200" b="1" i="0">
                <a:solidFill>
                  <a:srgbClr val="000000"/>
                </a:solidFill>
                <a:latin typeface="Times New Roman"/>
              </a:rPr>
              <a:t>most spatially skewed</a:t>
            </a:r>
            <a:r>
              <a:rPr sz="1200" b="0" i="0">
                <a:solidFill>
                  <a:srgbClr val="000000"/>
                </a:solidFill>
                <a:latin typeface="Times New Roman"/>
              </a:rPr>
              <a:t> in South Asia. The monsoon delivers 80% of national rain to a 30% strip; the western ranges block rain from reaching Balochistan; the North receives both monsoon moisture and winter westerlies.</a:t>
            </a:r>
          </a:p>
        </p:txBody>
      </p:sp>
      <p:sp>
        <p:nvSpPr>
          <p:cNvPr id="10" name="Rectangle 9"/>
          <p:cNvSpPr/>
          <p:nvPr/>
        </p:nvSpPr>
        <p:spPr>
          <a:xfrm>
            <a:off x="1143000" y="4572000"/>
            <a:ext cx="10287000" cy="9144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33500" y="4724400"/>
            <a:ext cx="400050" cy="295275"/>
          </a:xfrm>
          <a:prstGeom prst="rect">
            <a:avLst/>
          </a:prstGeom>
          <a:noFill/>
        </p:spPr>
        <p:txBody>
          <a:bodyPr wrap="square" lIns="0" rIns="0" tIns="0" bIns="0" anchor="ctr">
            <a:spAutoFit/>
          </a:bodyPr>
          <a:lstStyle/>
          <a:p>
            <a:pPr algn="l">
              <a:lnSpc>
                <a:spcPct val="120000"/>
              </a:lnSpc>
            </a:pPr>
            <a:r>
              <a:rPr sz="1800" b="1" i="0">
                <a:solidFill>
                  <a:srgbClr val="1F5A7E"/>
                </a:solidFill>
                <a:latin typeface="Times New Roman"/>
              </a:rPr>
              <a:t>1</a:t>
            </a:r>
          </a:p>
        </p:txBody>
      </p:sp>
      <p:sp>
        <p:nvSpPr>
          <p:cNvPr id="12" name="TextBox 11"/>
          <p:cNvSpPr txBox="1"/>
          <p:nvPr/>
        </p:nvSpPr>
        <p:spPr>
          <a:xfrm>
            <a:off x="1866900" y="4724400"/>
            <a:ext cx="3948558" cy="190500"/>
          </a:xfrm>
          <a:prstGeom prst="rect">
            <a:avLst/>
          </a:prstGeom>
          <a:noFill/>
        </p:spPr>
        <p:txBody>
          <a:bodyPr wrap="square" lIns="0" rIns="0" tIns="0" bIns="0" anchor="ctr">
            <a:spAutoFit/>
          </a:bodyPr>
          <a:lstStyle/>
          <a:p>
            <a:pPr algn="l">
              <a:lnSpc>
                <a:spcPct val="120000"/>
              </a:lnSpc>
            </a:pPr>
            <a:r>
              <a:rPr sz="980" b="0" i="0" spc="136">
                <a:solidFill>
                  <a:srgbClr val="5B6E94"/>
                </a:solidFill>
                <a:latin typeface="Times New Roman"/>
              </a:rPr>
              <a:t>MONSOON</a:t>
            </a:r>
          </a:p>
        </p:txBody>
      </p:sp>
      <p:sp>
        <p:nvSpPr>
          <p:cNvPr id="13" name="TextBox 12"/>
          <p:cNvSpPr txBox="1"/>
          <p:nvPr/>
        </p:nvSpPr>
        <p:spPr>
          <a:xfrm>
            <a:off x="1866900" y="4895850"/>
            <a:ext cx="3948558" cy="238125"/>
          </a:xfrm>
          <a:prstGeom prst="rect">
            <a:avLst/>
          </a:prstGeom>
          <a:noFill/>
        </p:spPr>
        <p:txBody>
          <a:bodyPr wrap="square" lIns="0" rIns="0" tIns="0" bIns="0" anchor="ctr">
            <a:spAutoFit/>
          </a:bodyPr>
          <a:lstStyle/>
          <a:p>
            <a:pPr algn="l">
              <a:lnSpc>
                <a:spcPct val="120000"/>
              </a:lnSpc>
            </a:pPr>
            <a:r>
              <a:rPr sz="1350" b="1" i="0">
                <a:solidFill>
                  <a:srgbClr val="1A2B4C"/>
                </a:solidFill>
                <a:latin typeface="Times New Roman"/>
              </a:rPr>
              <a:t>Southwest monsoon delivers 60–80% of rain to plains</a:t>
            </a:r>
          </a:p>
        </p:txBody>
      </p:sp>
      <p:sp>
        <p:nvSpPr>
          <p:cNvPr id="14" name="TextBox 13"/>
          <p:cNvSpPr txBox="1"/>
          <p:nvPr/>
        </p:nvSpPr>
        <p:spPr>
          <a:xfrm>
            <a:off x="1866900" y="5133975"/>
            <a:ext cx="3948558" cy="200025"/>
          </a:xfrm>
          <a:prstGeom prst="rect">
            <a:avLst/>
          </a:prstGeom>
          <a:noFill/>
        </p:spPr>
        <p:txBody>
          <a:bodyPr wrap="square" lIns="0" rIns="0" tIns="0" bIns="0" anchor="ctr">
            <a:spAutoFit/>
          </a:bodyPr>
          <a:lstStyle/>
          <a:p>
            <a:pPr algn="l">
              <a:lnSpc>
                <a:spcPct val="120000"/>
              </a:lnSpc>
            </a:pPr>
            <a:r>
              <a:rPr sz="1120" b="0" i="1">
                <a:solidFill>
                  <a:srgbClr val="5B6E94"/>
                </a:solidFill>
                <a:latin typeface="Times New Roman"/>
              </a:rPr>
              <a:t>Jul–Sep; Punjab plain, Indus right-bank, KPK.</a:t>
            </a:r>
          </a:p>
        </p:txBody>
      </p:sp>
      <p:sp>
        <p:nvSpPr>
          <p:cNvPr id="15" name="Rectangle 14"/>
          <p:cNvSpPr/>
          <p:nvPr/>
        </p:nvSpPr>
        <p:spPr>
          <a:xfrm>
            <a:off x="1143000" y="5600700"/>
            <a:ext cx="10287000" cy="9144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143000" y="5600700"/>
            <a:ext cx="57150" cy="914400"/>
          </a:xfrm>
          <a:prstGeom prst="rect">
            <a:avLst/>
          </a:prstGeom>
          <a:solidFill>
            <a:srgbClr val="1F5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90650" y="5753100"/>
            <a:ext cx="400050" cy="295275"/>
          </a:xfrm>
          <a:prstGeom prst="rect">
            <a:avLst/>
          </a:prstGeom>
          <a:noFill/>
        </p:spPr>
        <p:txBody>
          <a:bodyPr wrap="square" lIns="0" rIns="0" tIns="0" bIns="0" anchor="ctr">
            <a:spAutoFit/>
          </a:bodyPr>
          <a:lstStyle/>
          <a:p>
            <a:pPr algn="l">
              <a:lnSpc>
                <a:spcPct val="120000"/>
              </a:lnSpc>
            </a:pPr>
            <a:r>
              <a:rPr sz="1800" b="1" i="0">
                <a:solidFill>
                  <a:srgbClr val="1F5A7E"/>
                </a:solidFill>
                <a:latin typeface="Times New Roman"/>
              </a:rPr>
              <a:t>2</a:t>
            </a:r>
          </a:p>
        </p:txBody>
      </p:sp>
      <p:sp>
        <p:nvSpPr>
          <p:cNvPr id="18" name="TextBox 17"/>
          <p:cNvSpPr txBox="1"/>
          <p:nvPr/>
        </p:nvSpPr>
        <p:spPr>
          <a:xfrm>
            <a:off x="1924050" y="5753100"/>
            <a:ext cx="4025651" cy="190500"/>
          </a:xfrm>
          <a:prstGeom prst="rect">
            <a:avLst/>
          </a:prstGeom>
          <a:noFill/>
        </p:spPr>
        <p:txBody>
          <a:bodyPr wrap="square" lIns="0" rIns="0" tIns="0" bIns="0" anchor="ctr">
            <a:spAutoFit/>
          </a:bodyPr>
          <a:lstStyle/>
          <a:p>
            <a:pPr algn="l">
              <a:lnSpc>
                <a:spcPct val="120000"/>
              </a:lnSpc>
            </a:pPr>
            <a:r>
              <a:rPr sz="980" b="0" i="0" spc="136">
                <a:solidFill>
                  <a:srgbClr val="5B6E94"/>
                </a:solidFill>
                <a:latin typeface="Times New Roman"/>
              </a:rPr>
              <a:t>WESTERLY WINTER DISTURBANCES</a:t>
            </a:r>
          </a:p>
        </p:txBody>
      </p:sp>
      <p:sp>
        <p:nvSpPr>
          <p:cNvPr id="19" name="TextBox 18"/>
          <p:cNvSpPr txBox="1"/>
          <p:nvPr/>
        </p:nvSpPr>
        <p:spPr>
          <a:xfrm>
            <a:off x="1924050" y="5924550"/>
            <a:ext cx="4025651" cy="238125"/>
          </a:xfrm>
          <a:prstGeom prst="rect">
            <a:avLst/>
          </a:prstGeom>
          <a:noFill/>
        </p:spPr>
        <p:txBody>
          <a:bodyPr wrap="square" lIns="0" rIns="0" tIns="0" bIns="0" anchor="ctr">
            <a:spAutoFit/>
          </a:bodyPr>
          <a:lstStyle/>
          <a:p>
            <a:pPr algn="l">
              <a:lnSpc>
                <a:spcPct val="120000"/>
              </a:lnSpc>
            </a:pPr>
            <a:r>
              <a:rPr sz="1350" b="1" i="0">
                <a:solidFill>
                  <a:srgbClr val="1A2B4C"/>
                </a:solidFill>
                <a:latin typeface="Times New Roman"/>
              </a:rPr>
              <a:t>Mediterranean cyclonic storms feed the NW highlands</a:t>
            </a:r>
          </a:p>
        </p:txBody>
      </p:sp>
      <p:sp>
        <p:nvSpPr>
          <p:cNvPr id="20" name="TextBox 19"/>
          <p:cNvSpPr txBox="1"/>
          <p:nvPr/>
        </p:nvSpPr>
        <p:spPr>
          <a:xfrm>
            <a:off x="1924050" y="6162675"/>
            <a:ext cx="4025651" cy="200025"/>
          </a:xfrm>
          <a:prstGeom prst="rect">
            <a:avLst/>
          </a:prstGeom>
          <a:noFill/>
        </p:spPr>
        <p:txBody>
          <a:bodyPr wrap="square" lIns="0" rIns="0" tIns="0" bIns="0" anchor="ctr">
            <a:spAutoFit/>
          </a:bodyPr>
          <a:lstStyle/>
          <a:p>
            <a:pPr algn="l">
              <a:lnSpc>
                <a:spcPct val="120000"/>
              </a:lnSpc>
            </a:pPr>
            <a:r>
              <a:rPr sz="1120" b="0" i="1">
                <a:solidFill>
                  <a:srgbClr val="5B6E94"/>
                </a:solidFill>
                <a:latin typeface="Times New Roman"/>
              </a:rPr>
              <a:t>Dec–Mar; Chitral, Dir, Swat, Murree hills.</a:t>
            </a:r>
          </a:p>
        </p:txBody>
      </p:sp>
      <p:sp>
        <p:nvSpPr>
          <p:cNvPr id="21" name="Rectangle 20"/>
          <p:cNvSpPr/>
          <p:nvPr/>
        </p:nvSpPr>
        <p:spPr>
          <a:xfrm>
            <a:off x="1143000" y="6629400"/>
            <a:ext cx="10287000" cy="9144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1143000" y="6629400"/>
            <a:ext cx="57150" cy="914400"/>
          </a:xfrm>
          <a:prstGeom prst="rect">
            <a:avLst/>
          </a:prstGeom>
          <a:solidFill>
            <a:srgbClr val="1F5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90650" y="6781800"/>
            <a:ext cx="400050" cy="295275"/>
          </a:xfrm>
          <a:prstGeom prst="rect">
            <a:avLst/>
          </a:prstGeom>
          <a:noFill/>
        </p:spPr>
        <p:txBody>
          <a:bodyPr wrap="square" lIns="0" rIns="0" tIns="0" bIns="0" anchor="ctr">
            <a:spAutoFit/>
          </a:bodyPr>
          <a:lstStyle/>
          <a:p>
            <a:pPr algn="l">
              <a:lnSpc>
                <a:spcPct val="120000"/>
              </a:lnSpc>
            </a:pPr>
            <a:r>
              <a:rPr sz="1800" b="1" i="0">
                <a:solidFill>
                  <a:srgbClr val="1F5A7E"/>
                </a:solidFill>
                <a:latin typeface="Times New Roman"/>
              </a:rPr>
              <a:t>3</a:t>
            </a:r>
          </a:p>
        </p:txBody>
      </p:sp>
      <p:sp>
        <p:nvSpPr>
          <p:cNvPr id="24" name="TextBox 23"/>
          <p:cNvSpPr txBox="1"/>
          <p:nvPr/>
        </p:nvSpPr>
        <p:spPr>
          <a:xfrm>
            <a:off x="1924050" y="6781800"/>
            <a:ext cx="3725912" cy="190500"/>
          </a:xfrm>
          <a:prstGeom prst="rect">
            <a:avLst/>
          </a:prstGeom>
          <a:noFill/>
        </p:spPr>
        <p:txBody>
          <a:bodyPr wrap="square" lIns="0" rIns="0" tIns="0" bIns="0" anchor="ctr">
            <a:spAutoFit/>
          </a:bodyPr>
          <a:lstStyle/>
          <a:p>
            <a:pPr algn="l">
              <a:lnSpc>
                <a:spcPct val="120000"/>
              </a:lnSpc>
            </a:pPr>
            <a:r>
              <a:rPr sz="980" b="0" i="0" spc="136">
                <a:solidFill>
                  <a:srgbClr val="5B6E94"/>
                </a:solidFill>
                <a:latin typeface="Times New Roman"/>
              </a:rPr>
              <a:t>CONVECTIVE THUNDERSTORMS</a:t>
            </a:r>
          </a:p>
        </p:txBody>
      </p:sp>
      <p:sp>
        <p:nvSpPr>
          <p:cNvPr id="25" name="TextBox 24"/>
          <p:cNvSpPr txBox="1"/>
          <p:nvPr/>
        </p:nvSpPr>
        <p:spPr>
          <a:xfrm>
            <a:off x="1924050" y="6953250"/>
            <a:ext cx="3725912" cy="238125"/>
          </a:xfrm>
          <a:prstGeom prst="rect">
            <a:avLst/>
          </a:prstGeom>
          <a:noFill/>
        </p:spPr>
        <p:txBody>
          <a:bodyPr wrap="square" lIns="0" rIns="0" tIns="0" bIns="0" anchor="ctr">
            <a:spAutoFit/>
          </a:bodyPr>
          <a:lstStyle/>
          <a:p>
            <a:pPr algn="l">
              <a:lnSpc>
                <a:spcPct val="120000"/>
              </a:lnSpc>
            </a:pPr>
            <a:r>
              <a:rPr sz="1350" b="1" i="0">
                <a:solidFill>
                  <a:srgbClr val="1A2B4C"/>
                </a:solidFill>
                <a:latin typeface="Times New Roman"/>
              </a:rPr>
              <a:t>Pre-monsoon cells: dust storms and the local “loo”</a:t>
            </a:r>
          </a:p>
        </p:txBody>
      </p:sp>
      <p:sp>
        <p:nvSpPr>
          <p:cNvPr id="26" name="TextBox 25"/>
          <p:cNvSpPr txBox="1"/>
          <p:nvPr/>
        </p:nvSpPr>
        <p:spPr>
          <a:xfrm>
            <a:off x="1924050" y="7191375"/>
            <a:ext cx="3725912" cy="200025"/>
          </a:xfrm>
          <a:prstGeom prst="rect">
            <a:avLst/>
          </a:prstGeom>
          <a:noFill/>
        </p:spPr>
        <p:txBody>
          <a:bodyPr wrap="square" lIns="0" rIns="0" tIns="0" bIns="0" anchor="ctr">
            <a:spAutoFit/>
          </a:bodyPr>
          <a:lstStyle/>
          <a:p>
            <a:pPr algn="l">
              <a:lnSpc>
                <a:spcPct val="120000"/>
              </a:lnSpc>
            </a:pPr>
            <a:r>
              <a:rPr sz="1120" b="0" i="1">
                <a:solidFill>
                  <a:srgbClr val="5B6E94"/>
                </a:solidFill>
                <a:latin typeface="Times New Roman"/>
              </a:rPr>
              <a:t>Central Punjab, NW Balochistan, May–Jun.</a:t>
            </a:r>
          </a:p>
        </p:txBody>
      </p:sp>
      <p:sp>
        <p:nvSpPr>
          <p:cNvPr id="27" name="Rectangle 26"/>
          <p:cNvSpPr/>
          <p:nvPr/>
        </p:nvSpPr>
        <p:spPr>
          <a:xfrm>
            <a:off x="1143000" y="7658100"/>
            <a:ext cx="10287000" cy="9144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1143000" y="7658100"/>
            <a:ext cx="57150" cy="914400"/>
          </a:xfrm>
          <a:prstGeom prst="rect">
            <a:avLst/>
          </a:prstGeom>
          <a:solidFill>
            <a:srgbClr val="1F5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1390650" y="7810500"/>
            <a:ext cx="400050" cy="295275"/>
          </a:xfrm>
          <a:prstGeom prst="rect">
            <a:avLst/>
          </a:prstGeom>
          <a:noFill/>
        </p:spPr>
        <p:txBody>
          <a:bodyPr wrap="square" lIns="0" rIns="0" tIns="0" bIns="0" anchor="ctr">
            <a:spAutoFit/>
          </a:bodyPr>
          <a:lstStyle/>
          <a:p>
            <a:pPr algn="l">
              <a:lnSpc>
                <a:spcPct val="120000"/>
              </a:lnSpc>
            </a:pPr>
            <a:r>
              <a:rPr sz="1800" b="1" i="0">
                <a:solidFill>
                  <a:srgbClr val="1F5A7E"/>
                </a:solidFill>
                <a:latin typeface="Times New Roman"/>
              </a:rPr>
              <a:t>4</a:t>
            </a:r>
          </a:p>
        </p:txBody>
      </p:sp>
      <p:sp>
        <p:nvSpPr>
          <p:cNvPr id="30" name="TextBox 29"/>
          <p:cNvSpPr txBox="1"/>
          <p:nvPr/>
        </p:nvSpPr>
        <p:spPr>
          <a:xfrm>
            <a:off x="1924050" y="7810500"/>
            <a:ext cx="3119437" cy="190500"/>
          </a:xfrm>
          <a:prstGeom prst="rect">
            <a:avLst/>
          </a:prstGeom>
          <a:noFill/>
        </p:spPr>
        <p:txBody>
          <a:bodyPr wrap="square" lIns="0" rIns="0" tIns="0" bIns="0" anchor="ctr">
            <a:spAutoFit/>
          </a:bodyPr>
          <a:lstStyle/>
          <a:p>
            <a:pPr algn="l">
              <a:lnSpc>
                <a:spcPct val="120000"/>
              </a:lnSpc>
            </a:pPr>
            <a:r>
              <a:rPr sz="980" b="0" i="0" spc="136">
                <a:solidFill>
                  <a:srgbClr val="5B6E94"/>
                </a:solidFill>
                <a:latin typeface="Times New Roman"/>
              </a:rPr>
              <a:t>TROPICAL CYCLONES</a:t>
            </a:r>
          </a:p>
        </p:txBody>
      </p:sp>
      <p:sp>
        <p:nvSpPr>
          <p:cNvPr id="31" name="TextBox 30"/>
          <p:cNvSpPr txBox="1"/>
          <p:nvPr/>
        </p:nvSpPr>
        <p:spPr>
          <a:xfrm>
            <a:off x="1924050" y="7981950"/>
            <a:ext cx="3119437" cy="238125"/>
          </a:xfrm>
          <a:prstGeom prst="rect">
            <a:avLst/>
          </a:prstGeom>
          <a:noFill/>
        </p:spPr>
        <p:txBody>
          <a:bodyPr wrap="square" lIns="0" rIns="0" tIns="0" bIns="0" anchor="ctr">
            <a:spAutoFit/>
          </a:bodyPr>
          <a:lstStyle/>
          <a:p>
            <a:pPr algn="l">
              <a:lnSpc>
                <a:spcPct val="120000"/>
              </a:lnSpc>
            </a:pPr>
            <a:r>
              <a:rPr sz="1350" b="1" i="0">
                <a:solidFill>
                  <a:srgbClr val="1A2B4C"/>
                </a:solidFill>
                <a:latin typeface="Times New Roman"/>
              </a:rPr>
              <a:t>Arabian Sea storms bring late-season rain</a:t>
            </a:r>
          </a:p>
        </p:txBody>
      </p:sp>
      <p:sp>
        <p:nvSpPr>
          <p:cNvPr id="32" name="TextBox 31"/>
          <p:cNvSpPr txBox="1"/>
          <p:nvPr/>
        </p:nvSpPr>
        <p:spPr>
          <a:xfrm>
            <a:off x="1924050" y="8220075"/>
            <a:ext cx="3119437" cy="200025"/>
          </a:xfrm>
          <a:prstGeom prst="rect">
            <a:avLst/>
          </a:prstGeom>
          <a:noFill/>
        </p:spPr>
        <p:txBody>
          <a:bodyPr wrap="square" lIns="0" rIns="0" tIns="0" bIns="0" anchor="ctr">
            <a:spAutoFit/>
          </a:bodyPr>
          <a:lstStyle/>
          <a:p>
            <a:pPr algn="l">
              <a:lnSpc>
                <a:spcPct val="120000"/>
              </a:lnSpc>
            </a:pPr>
            <a:r>
              <a:rPr sz="1120" b="0" i="1">
                <a:solidFill>
                  <a:srgbClr val="5B6E94"/>
                </a:solidFill>
                <a:latin typeface="Times New Roman"/>
              </a:rPr>
              <a:t>Oct–Nov, May–Jun. Coastal Sindh and Makran.</a:t>
            </a:r>
          </a:p>
        </p:txBody>
      </p:sp>
      <p:sp>
        <p:nvSpPr>
          <p:cNvPr id="33" name="Rectangle 32"/>
          <p:cNvSpPr/>
          <p:nvPr/>
        </p:nvSpPr>
        <p:spPr>
          <a:xfrm>
            <a:off x="1143000" y="8686800"/>
            <a:ext cx="10287000" cy="9144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143000" y="8686800"/>
            <a:ext cx="57150" cy="914400"/>
          </a:xfrm>
          <a:prstGeom prst="rect">
            <a:avLst/>
          </a:prstGeom>
          <a:solidFill>
            <a:srgbClr val="1F5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390650" y="8839200"/>
            <a:ext cx="400050" cy="295275"/>
          </a:xfrm>
          <a:prstGeom prst="rect">
            <a:avLst/>
          </a:prstGeom>
          <a:noFill/>
        </p:spPr>
        <p:txBody>
          <a:bodyPr wrap="square" lIns="0" rIns="0" tIns="0" bIns="0" anchor="ctr">
            <a:spAutoFit/>
          </a:bodyPr>
          <a:lstStyle/>
          <a:p>
            <a:pPr algn="l">
              <a:lnSpc>
                <a:spcPct val="120000"/>
              </a:lnSpc>
            </a:pPr>
            <a:r>
              <a:rPr sz="1800" b="1" i="0">
                <a:solidFill>
                  <a:srgbClr val="1F5A7E"/>
                </a:solidFill>
                <a:latin typeface="Times New Roman"/>
              </a:rPr>
              <a:t>5</a:t>
            </a:r>
          </a:p>
        </p:txBody>
      </p:sp>
      <p:sp>
        <p:nvSpPr>
          <p:cNvPr id="36" name="TextBox 35"/>
          <p:cNvSpPr txBox="1"/>
          <p:nvPr/>
        </p:nvSpPr>
        <p:spPr>
          <a:xfrm>
            <a:off x="1924050" y="8839200"/>
            <a:ext cx="3387774" cy="190500"/>
          </a:xfrm>
          <a:prstGeom prst="rect">
            <a:avLst/>
          </a:prstGeom>
          <a:noFill/>
        </p:spPr>
        <p:txBody>
          <a:bodyPr wrap="square" lIns="0" rIns="0" tIns="0" bIns="0" anchor="ctr">
            <a:spAutoFit/>
          </a:bodyPr>
          <a:lstStyle/>
          <a:p>
            <a:pPr algn="l">
              <a:lnSpc>
                <a:spcPct val="120000"/>
              </a:lnSpc>
            </a:pPr>
            <a:r>
              <a:rPr sz="980" b="0" i="0" spc="136">
                <a:solidFill>
                  <a:srgbClr val="5B6E94"/>
                </a:solidFill>
                <a:latin typeface="Times New Roman"/>
              </a:rPr>
              <a:t>OROGRAPHIC ENHANCEMENT</a:t>
            </a:r>
          </a:p>
        </p:txBody>
      </p:sp>
      <p:sp>
        <p:nvSpPr>
          <p:cNvPr id="37" name="TextBox 36"/>
          <p:cNvSpPr txBox="1"/>
          <p:nvPr/>
        </p:nvSpPr>
        <p:spPr>
          <a:xfrm>
            <a:off x="1924050" y="9010650"/>
            <a:ext cx="3387774" cy="238125"/>
          </a:xfrm>
          <a:prstGeom prst="rect">
            <a:avLst/>
          </a:prstGeom>
          <a:noFill/>
        </p:spPr>
        <p:txBody>
          <a:bodyPr wrap="square" lIns="0" rIns="0" tIns="0" bIns="0" anchor="ctr">
            <a:spAutoFit/>
          </a:bodyPr>
          <a:lstStyle/>
          <a:p>
            <a:pPr algn="l">
              <a:lnSpc>
                <a:spcPct val="120000"/>
              </a:lnSpc>
            </a:pPr>
            <a:r>
              <a:rPr sz="1350" b="1" i="0">
                <a:solidFill>
                  <a:srgbClr val="1A2B4C"/>
                </a:solidFill>
                <a:latin typeface="Times New Roman"/>
              </a:rPr>
              <a:t>Mountain-forced uplift explains local maxima</a:t>
            </a:r>
          </a:p>
        </p:txBody>
      </p:sp>
      <p:sp>
        <p:nvSpPr>
          <p:cNvPr id="38" name="TextBox 37"/>
          <p:cNvSpPr txBox="1"/>
          <p:nvPr/>
        </p:nvSpPr>
        <p:spPr>
          <a:xfrm>
            <a:off x="1924050" y="9248775"/>
            <a:ext cx="3387774" cy="200025"/>
          </a:xfrm>
          <a:prstGeom prst="rect">
            <a:avLst/>
          </a:prstGeom>
          <a:noFill/>
        </p:spPr>
        <p:txBody>
          <a:bodyPr wrap="square" lIns="0" rIns="0" tIns="0" bIns="0" anchor="ctr">
            <a:spAutoFit/>
          </a:bodyPr>
          <a:lstStyle/>
          <a:p>
            <a:pPr algn="l">
              <a:lnSpc>
                <a:spcPct val="120000"/>
              </a:lnSpc>
            </a:pPr>
            <a:r>
              <a:rPr sz="1120" b="0" i="1">
                <a:solidFill>
                  <a:srgbClr val="5B6E94"/>
                </a:solidFill>
                <a:latin typeface="Times New Roman"/>
              </a:rPr>
              <a:t>Murree (~1,800 mm) vs. Sibi (~110 mm).</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00" cy="685800"/>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791950" y="1009650"/>
            <a:ext cx="5372100" cy="38100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Image: Mean annual rainfall isohyet map of Pakistan with city rainfalls labeled — Murree 1,800 mm, Lahore 628 mm, Quetta 100 mm, Nokkundi 40 mm.</a:t>
            </a:r>
          </a:p>
        </p:txBody>
      </p:sp>
      <p:sp>
        <p:nvSpPr>
          <p:cNvPr id="5" name="TextBox 4"/>
          <p:cNvSpPr txBox="1"/>
          <p:nvPr/>
        </p:nvSpPr>
        <p:spPr>
          <a:xfrm>
            <a:off x="1123950" y="190500"/>
            <a:ext cx="11468100" cy="209550"/>
          </a:xfrm>
          <a:prstGeom prst="rect">
            <a:avLst/>
          </a:prstGeom>
          <a:noFill/>
        </p:spPr>
        <p:txBody>
          <a:bodyPr wrap="square" lIns="0" rIns="0" tIns="0" bIns="0" anchor="ctr">
            <a:spAutoFit/>
          </a:bodyPr>
          <a:lstStyle/>
          <a:p>
            <a:pPr algn="l">
              <a:lnSpc>
                <a:spcPct val="120000"/>
              </a:lnSpc>
            </a:pPr>
            <a:r>
              <a:rPr sz="1200" b="0" i="0">
                <a:solidFill>
                  <a:srgbClr val="FFFFFF"/>
                </a:solidFill>
                <a:latin typeface="Times New Roman"/>
              </a:rPr>
              <a:t>11 · Detail A · the spatial distribution of rainfall</a:t>
            </a:r>
          </a:p>
        </p:txBody>
      </p:sp>
      <p:sp>
        <p:nvSpPr>
          <p:cNvPr id="6" name="TextBox 5"/>
          <p:cNvSpPr txBox="1"/>
          <p:nvPr/>
        </p:nvSpPr>
        <p:spPr>
          <a:xfrm>
            <a:off x="16173450" y="190500"/>
            <a:ext cx="1181100" cy="323850"/>
          </a:xfrm>
          <a:prstGeom prst="rect">
            <a:avLst/>
          </a:prstGeom>
          <a:noFill/>
        </p:spPr>
        <p:txBody>
          <a:bodyPr wrap="square" lIns="0" rIns="0" tIns="0" bIns="0" anchor="ctr">
            <a:spAutoFit/>
          </a:bodyPr>
          <a:lstStyle/>
          <a:p>
            <a:pPr algn="r">
              <a:lnSpc>
                <a:spcPct val="120000"/>
              </a:lnSpc>
            </a:pPr>
            <a:r>
              <a:rPr sz="1050" b="0" i="1">
                <a:solidFill>
                  <a:srgbClr val="C81D25"/>
                </a:solidFill>
                <a:latin typeface="Times New Roman"/>
              </a:rPr>
              <a:t>11 / 22</a:t>
            </a:r>
          </a:p>
        </p:txBody>
      </p:sp>
      <p:sp>
        <p:nvSpPr>
          <p:cNvPr id="7" name="TextBox 6"/>
          <p:cNvSpPr txBox="1"/>
          <p:nvPr/>
        </p:nvSpPr>
        <p:spPr>
          <a:xfrm>
            <a:off x="1123950" y="1009650"/>
            <a:ext cx="7658100" cy="41910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Detail A</a:t>
            </a:r>
          </a:p>
        </p:txBody>
      </p:sp>
      <p:sp>
        <p:nvSpPr>
          <p:cNvPr id="8" name="TextBox 7"/>
          <p:cNvSpPr txBox="1"/>
          <p:nvPr/>
        </p:nvSpPr>
        <p:spPr>
          <a:xfrm>
            <a:off x="1123950" y="1600200"/>
            <a:ext cx="16040100" cy="1128414"/>
          </a:xfrm>
          <a:prstGeom prst="rect">
            <a:avLst/>
          </a:prstGeom>
          <a:noFill/>
        </p:spPr>
        <p:txBody>
          <a:bodyPr wrap="square" lIns="0" rIns="0" tIns="0" bIns="0" anchor="t">
            <a:spAutoFit/>
          </a:bodyPr>
          <a:lstStyle/>
          <a:p>
            <a:pPr algn="l">
              <a:lnSpc>
                <a:spcPct val="106000"/>
              </a:lnSpc>
            </a:pPr>
            <a:r>
              <a:rPr sz="4050" b="1" i="0">
                <a:solidFill>
                  <a:srgbClr val="1A2B4C"/>
                </a:solidFill>
                <a:latin typeface="Times New Roman"/>
              </a:rPr>
              <a:t> Pakistan’s rainfall distribution, from </a:t>
            </a:r>
            <a:r>
              <a:rPr sz="4050" b="1" i="0">
                <a:solidFill>
                  <a:srgbClr val="C81D25"/>
                </a:solidFill>
                <a:latin typeface="Times New Roman"/>
              </a:rPr>
              <a:t>1,800 mm Murree</a:t>
            </a:r>
            <a:r>
              <a:rPr sz="4050" b="1" i="0">
                <a:solidFill>
                  <a:srgbClr val="1A2B4C"/>
                </a:solidFill>
                <a:latin typeface="Times New Roman"/>
              </a:rPr>
              <a:t> to </a:t>
            </a:r>
            <a:r>
              <a:rPr sz="4050" b="1" i="0">
                <a:solidFill>
                  <a:srgbClr val="B8862B"/>
                </a:solidFill>
                <a:latin typeface="Times New Roman"/>
              </a:rPr>
              <a:t>100 mm Nokkundi</a:t>
            </a:r>
            <a:r>
              <a:rPr sz="4050" b="1" i="0">
                <a:solidFill>
                  <a:srgbClr val="1A2B4C"/>
                </a:solidFill>
                <a:latin typeface="Times New Roman"/>
              </a:rPr>
              <a:t>. </a:t>
            </a:r>
          </a:p>
        </p:txBody>
      </p:sp>
      <p:sp>
        <p:nvSpPr>
          <p:cNvPr id="9" name="Rectangle 8"/>
          <p:cNvSpPr/>
          <p:nvPr/>
        </p:nvSpPr>
        <p:spPr>
          <a:xfrm>
            <a:off x="1143000" y="3714750"/>
            <a:ext cx="10287000" cy="9525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43000" y="3714750"/>
            <a:ext cx="57150" cy="952500"/>
          </a:xfrm>
          <a:prstGeom prst="rect">
            <a:avLst/>
          </a:prstGeom>
          <a:solidFill>
            <a:srgbClr val="1F5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90650" y="3867150"/>
            <a:ext cx="9848850" cy="190500"/>
          </a:xfrm>
          <a:prstGeom prst="rect">
            <a:avLst/>
          </a:prstGeom>
          <a:noFill/>
        </p:spPr>
        <p:txBody>
          <a:bodyPr wrap="square" lIns="0" rIns="0" tIns="0" bIns="0" anchor="ctr">
            <a:spAutoFit/>
          </a:bodyPr>
          <a:lstStyle/>
          <a:p>
            <a:pPr algn="l">
              <a:lnSpc>
                <a:spcPct val="120000"/>
              </a:lnSpc>
            </a:pPr>
            <a:r>
              <a:rPr sz="980" b="0" i="0" spc="136">
                <a:solidFill>
                  <a:srgbClr val="1F5A7E"/>
                </a:solidFill>
                <a:latin typeface="Times New Roman"/>
              </a:rPr>
              <a:t>HIGH-RAINFALL NORTH · &gt;1,000 MM</a:t>
            </a:r>
          </a:p>
        </p:txBody>
      </p:sp>
      <p:sp>
        <p:nvSpPr>
          <p:cNvPr id="12" name="TextBox 11"/>
          <p:cNvSpPr txBox="1"/>
          <p:nvPr/>
        </p:nvSpPr>
        <p:spPr>
          <a:xfrm>
            <a:off x="1390650" y="4076700"/>
            <a:ext cx="9848850" cy="238125"/>
          </a:xfrm>
          <a:prstGeom prst="rect">
            <a:avLst/>
          </a:prstGeom>
          <a:noFill/>
        </p:spPr>
        <p:txBody>
          <a:bodyPr wrap="square" lIns="0" rIns="0" tIns="0" bIns="0" anchor="ctr">
            <a:spAutoFit/>
          </a:bodyPr>
          <a:lstStyle/>
          <a:p>
            <a:pPr algn="l">
              <a:lnSpc>
                <a:spcPct val="120000"/>
              </a:lnSpc>
            </a:pPr>
            <a:r>
              <a:rPr sz="1350" b="0" i="0">
                <a:solidFill>
                  <a:srgbClr val="1A2B4C"/>
                </a:solidFill>
                <a:latin typeface="Times New Roman"/>
              </a:rPr>
              <a:t>Murree, Muzaffarabad, Abbottabad, parts of Swat and Mansehra</a:t>
            </a:r>
          </a:p>
        </p:txBody>
      </p:sp>
      <p:sp>
        <p:nvSpPr>
          <p:cNvPr id="13" name="TextBox 12"/>
          <p:cNvSpPr txBox="1"/>
          <p:nvPr/>
        </p:nvSpPr>
        <p:spPr>
          <a:xfrm>
            <a:off x="1390650" y="4314825"/>
            <a:ext cx="9848850" cy="200025"/>
          </a:xfrm>
          <a:prstGeom prst="rect">
            <a:avLst/>
          </a:prstGeom>
          <a:noFill/>
        </p:spPr>
        <p:txBody>
          <a:bodyPr wrap="square" lIns="0" rIns="0" tIns="0" bIns="0" anchor="ctr">
            <a:spAutoFit/>
          </a:bodyPr>
          <a:lstStyle/>
          <a:p>
            <a:pPr algn="l">
              <a:lnSpc>
                <a:spcPct val="120000"/>
              </a:lnSpc>
            </a:pPr>
            <a:r>
              <a:rPr sz="1120" b="0" i="1">
                <a:solidFill>
                  <a:srgbClr val="5B6E94"/>
                </a:solidFill>
                <a:latin typeface="Times New Roman"/>
              </a:rPr>
              <a:t>Driver: orographic uplift against Pir Panjal and Siwalik ranges during SW monsoon.</a:t>
            </a:r>
          </a:p>
        </p:txBody>
      </p:sp>
      <p:sp>
        <p:nvSpPr>
          <p:cNvPr id="14" name="Rectangle 13"/>
          <p:cNvSpPr/>
          <p:nvPr/>
        </p:nvSpPr>
        <p:spPr>
          <a:xfrm>
            <a:off x="1143000" y="4800600"/>
            <a:ext cx="10287000" cy="9525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1143000" y="4800600"/>
            <a:ext cx="57150" cy="952500"/>
          </a:xfrm>
          <a:prstGeom prst="rect">
            <a:avLst/>
          </a:prstGeom>
          <a:solidFill>
            <a:srgbClr val="1F5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390650" y="4953000"/>
            <a:ext cx="9848850" cy="190500"/>
          </a:xfrm>
          <a:prstGeom prst="rect">
            <a:avLst/>
          </a:prstGeom>
          <a:noFill/>
        </p:spPr>
        <p:txBody>
          <a:bodyPr wrap="square" lIns="0" rIns="0" tIns="0" bIns="0" anchor="ctr">
            <a:spAutoFit/>
          </a:bodyPr>
          <a:lstStyle/>
          <a:p>
            <a:pPr algn="l">
              <a:lnSpc>
                <a:spcPct val="120000"/>
              </a:lnSpc>
            </a:pPr>
            <a:r>
              <a:rPr sz="980" b="0" i="0" spc="136">
                <a:solidFill>
                  <a:srgbClr val="1F5A7E"/>
                </a:solidFill>
                <a:latin typeface="Times New Roman"/>
              </a:rPr>
              <a:t>MODERATE-RAINFALL PLAINS · 300–700 MM</a:t>
            </a:r>
          </a:p>
        </p:txBody>
      </p:sp>
      <p:sp>
        <p:nvSpPr>
          <p:cNvPr id="17" name="TextBox 16"/>
          <p:cNvSpPr txBox="1"/>
          <p:nvPr/>
        </p:nvSpPr>
        <p:spPr>
          <a:xfrm>
            <a:off x="1390650" y="5162550"/>
            <a:ext cx="9848850" cy="238125"/>
          </a:xfrm>
          <a:prstGeom prst="rect">
            <a:avLst/>
          </a:prstGeom>
          <a:noFill/>
        </p:spPr>
        <p:txBody>
          <a:bodyPr wrap="square" lIns="0" rIns="0" tIns="0" bIns="0" anchor="ctr">
            <a:spAutoFit/>
          </a:bodyPr>
          <a:lstStyle/>
          <a:p>
            <a:pPr algn="l">
              <a:lnSpc>
                <a:spcPct val="120000"/>
              </a:lnSpc>
            </a:pPr>
            <a:r>
              <a:rPr sz="1350" b="0" i="0">
                <a:solidFill>
                  <a:srgbClr val="1A2B4C"/>
                </a:solidFill>
                <a:latin typeface="Times New Roman"/>
              </a:rPr>
              <a:t>Lahore (~628 mm), Faisalabad (~430 mm), Multan (~187 mm), Sukkur &amp; Larkana</a:t>
            </a:r>
          </a:p>
        </p:txBody>
      </p:sp>
      <p:sp>
        <p:nvSpPr>
          <p:cNvPr id="18" name="TextBox 17"/>
          <p:cNvSpPr txBox="1"/>
          <p:nvPr/>
        </p:nvSpPr>
        <p:spPr>
          <a:xfrm>
            <a:off x="1390650" y="5400675"/>
            <a:ext cx="9848850" cy="200025"/>
          </a:xfrm>
          <a:prstGeom prst="rect">
            <a:avLst/>
          </a:prstGeom>
          <a:noFill/>
        </p:spPr>
        <p:txBody>
          <a:bodyPr wrap="square" lIns="0" rIns="0" tIns="0" bIns="0" anchor="ctr">
            <a:spAutoFit/>
          </a:bodyPr>
          <a:lstStyle/>
          <a:p>
            <a:pPr algn="l">
              <a:lnSpc>
                <a:spcPct val="120000"/>
              </a:lnSpc>
            </a:pPr>
            <a:r>
              <a:rPr sz="1120" b="0" i="1">
                <a:solidFill>
                  <a:srgbClr val="5B6E94"/>
                </a:solidFill>
                <a:latin typeface="Times New Roman"/>
              </a:rPr>
              <a:t>Driver: monsoon low-pressure cells tracking NW from the Bay of Bengal.</a:t>
            </a:r>
          </a:p>
        </p:txBody>
      </p:sp>
      <p:sp>
        <p:nvSpPr>
          <p:cNvPr id="19" name="Rectangle 18"/>
          <p:cNvSpPr/>
          <p:nvPr/>
        </p:nvSpPr>
        <p:spPr>
          <a:xfrm>
            <a:off x="1143000" y="5886450"/>
            <a:ext cx="10287000" cy="9525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1143000" y="5886450"/>
            <a:ext cx="57150" cy="952500"/>
          </a:xfrm>
          <a:prstGeom prst="rect">
            <a:avLst/>
          </a:prstGeom>
          <a:solidFill>
            <a:srgbClr val="1F5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390650" y="6038850"/>
            <a:ext cx="9848850" cy="190500"/>
          </a:xfrm>
          <a:prstGeom prst="rect">
            <a:avLst/>
          </a:prstGeom>
          <a:noFill/>
        </p:spPr>
        <p:txBody>
          <a:bodyPr wrap="square" lIns="0" rIns="0" tIns="0" bIns="0" anchor="ctr">
            <a:spAutoFit/>
          </a:bodyPr>
          <a:lstStyle/>
          <a:p>
            <a:pPr algn="l">
              <a:lnSpc>
                <a:spcPct val="120000"/>
              </a:lnSpc>
            </a:pPr>
            <a:r>
              <a:rPr sz="980" b="0" i="0" spc="136">
                <a:solidFill>
                  <a:srgbClr val="1F5A7E"/>
                </a:solidFill>
                <a:latin typeface="Times New Roman"/>
              </a:rPr>
              <a:t>SEMI-ARID CENTRAL · 100–300 MM</a:t>
            </a:r>
          </a:p>
        </p:txBody>
      </p:sp>
      <p:sp>
        <p:nvSpPr>
          <p:cNvPr id="22" name="TextBox 21"/>
          <p:cNvSpPr txBox="1"/>
          <p:nvPr/>
        </p:nvSpPr>
        <p:spPr>
          <a:xfrm>
            <a:off x="1390650" y="6248400"/>
            <a:ext cx="9848850" cy="238125"/>
          </a:xfrm>
          <a:prstGeom prst="rect">
            <a:avLst/>
          </a:prstGeom>
          <a:noFill/>
        </p:spPr>
        <p:txBody>
          <a:bodyPr wrap="square" lIns="0" rIns="0" tIns="0" bIns="0" anchor="ctr">
            <a:spAutoFit/>
          </a:bodyPr>
          <a:lstStyle/>
          <a:p>
            <a:pPr algn="l">
              <a:lnSpc>
                <a:spcPct val="120000"/>
              </a:lnSpc>
            </a:pPr>
            <a:r>
              <a:rPr sz="1350" b="0" i="0">
                <a:solidFill>
                  <a:srgbClr val="1A2B4C"/>
                </a:solidFill>
                <a:latin typeface="Times New Roman"/>
              </a:rPr>
              <a:t>Sibi (~110 mm), D.I. Khan, Sargodha, parts of southern Punjab</a:t>
            </a:r>
          </a:p>
        </p:txBody>
      </p:sp>
      <p:sp>
        <p:nvSpPr>
          <p:cNvPr id="23" name="TextBox 22"/>
          <p:cNvSpPr txBox="1"/>
          <p:nvPr/>
        </p:nvSpPr>
        <p:spPr>
          <a:xfrm>
            <a:off x="1390650" y="6486525"/>
            <a:ext cx="9848850" cy="200025"/>
          </a:xfrm>
          <a:prstGeom prst="rect">
            <a:avLst/>
          </a:prstGeom>
          <a:noFill/>
        </p:spPr>
        <p:txBody>
          <a:bodyPr wrap="square" lIns="0" rIns="0" tIns="0" bIns="0" anchor="ctr">
            <a:spAutoFit/>
          </a:bodyPr>
          <a:lstStyle/>
          <a:p>
            <a:pPr algn="l">
              <a:lnSpc>
                <a:spcPct val="120000"/>
              </a:lnSpc>
            </a:pPr>
            <a:r>
              <a:rPr sz="1120" b="0" i="1">
                <a:solidFill>
                  <a:srgbClr val="5B6E94"/>
                </a:solidFill>
                <a:latin typeface="Times New Roman"/>
              </a:rPr>
              <a:t>Driver: rainshadow effect of the Sulaiman–Kirthar wall on the monsoon inflow.</a:t>
            </a:r>
          </a:p>
        </p:txBody>
      </p:sp>
      <p:sp>
        <p:nvSpPr>
          <p:cNvPr id="24" name="Rectangle 23"/>
          <p:cNvSpPr/>
          <p:nvPr/>
        </p:nvSpPr>
        <p:spPr>
          <a:xfrm>
            <a:off x="1143000" y="6972300"/>
            <a:ext cx="10287000" cy="9525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1143000" y="6972300"/>
            <a:ext cx="57150" cy="952500"/>
          </a:xfrm>
          <a:prstGeom prst="rect">
            <a:avLst/>
          </a:prstGeom>
          <a:solidFill>
            <a:srgbClr val="B88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1390650" y="7124700"/>
            <a:ext cx="9848850" cy="190500"/>
          </a:xfrm>
          <a:prstGeom prst="rect">
            <a:avLst/>
          </a:prstGeom>
          <a:noFill/>
        </p:spPr>
        <p:txBody>
          <a:bodyPr wrap="square" lIns="0" rIns="0" tIns="0" bIns="0" anchor="ctr">
            <a:spAutoFit/>
          </a:bodyPr>
          <a:lstStyle/>
          <a:p>
            <a:pPr algn="l">
              <a:lnSpc>
                <a:spcPct val="120000"/>
              </a:lnSpc>
            </a:pPr>
            <a:r>
              <a:rPr sz="980" b="0" i="0" spc="136">
                <a:solidFill>
                  <a:srgbClr val="B8862B"/>
                </a:solidFill>
                <a:latin typeface="Times New Roman"/>
              </a:rPr>
              <a:t>HYPER-ARID WEST · &lt;100 MM</a:t>
            </a:r>
          </a:p>
        </p:txBody>
      </p:sp>
      <p:sp>
        <p:nvSpPr>
          <p:cNvPr id="27" name="TextBox 26"/>
          <p:cNvSpPr txBox="1"/>
          <p:nvPr/>
        </p:nvSpPr>
        <p:spPr>
          <a:xfrm>
            <a:off x="1390650" y="7334250"/>
            <a:ext cx="9848850" cy="238125"/>
          </a:xfrm>
          <a:prstGeom prst="rect">
            <a:avLst/>
          </a:prstGeom>
          <a:noFill/>
        </p:spPr>
        <p:txBody>
          <a:bodyPr wrap="square" lIns="0" rIns="0" tIns="0" bIns="0" anchor="ctr">
            <a:spAutoFit/>
          </a:bodyPr>
          <a:lstStyle/>
          <a:p>
            <a:pPr algn="l">
              <a:lnSpc>
                <a:spcPct val="120000"/>
              </a:lnSpc>
            </a:pPr>
            <a:r>
              <a:rPr sz="1350" b="0" i="0">
                <a:solidFill>
                  <a:srgbClr val="1A2B4C"/>
                </a:solidFill>
                <a:latin typeface="Times New Roman"/>
              </a:rPr>
              <a:t>Quetta (~100 mm), Nokkundi, Dalbandin, Kharan</a:t>
            </a:r>
          </a:p>
        </p:txBody>
      </p:sp>
      <p:sp>
        <p:nvSpPr>
          <p:cNvPr id="28" name="TextBox 27"/>
          <p:cNvSpPr txBox="1"/>
          <p:nvPr/>
        </p:nvSpPr>
        <p:spPr>
          <a:xfrm>
            <a:off x="1390650" y="7572375"/>
            <a:ext cx="9848850" cy="200025"/>
          </a:xfrm>
          <a:prstGeom prst="rect">
            <a:avLst/>
          </a:prstGeom>
          <a:noFill/>
        </p:spPr>
        <p:txBody>
          <a:bodyPr wrap="square" lIns="0" rIns="0" tIns="0" bIns="0" anchor="ctr">
            <a:spAutoFit/>
          </a:bodyPr>
          <a:lstStyle/>
          <a:p>
            <a:pPr algn="l">
              <a:lnSpc>
                <a:spcPct val="120000"/>
              </a:lnSpc>
            </a:pPr>
            <a:r>
              <a:rPr sz="1120" b="0" i="1">
                <a:solidFill>
                  <a:srgbClr val="5B6E94"/>
                </a:solidFill>
                <a:latin typeface="Times New Roman"/>
              </a:rPr>
              <a:t>Driver: position on the leeward side of both monsoon and most westerly disturbances.</a:t>
            </a:r>
          </a:p>
        </p:txBody>
      </p:sp>
      <p:sp>
        <p:nvSpPr>
          <p:cNvPr id="29" name="Rectangle 28"/>
          <p:cNvSpPr/>
          <p:nvPr/>
        </p:nvSpPr>
        <p:spPr>
          <a:xfrm>
            <a:off x="1143000" y="8058150"/>
            <a:ext cx="10287000" cy="9525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43000" y="8058150"/>
            <a:ext cx="57150" cy="952500"/>
          </a:xfrm>
          <a:prstGeom prst="rect">
            <a:avLst/>
          </a:prstGeom>
          <a:solidFill>
            <a:srgbClr val="6E8B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390650" y="8210550"/>
            <a:ext cx="9848850" cy="190500"/>
          </a:xfrm>
          <a:prstGeom prst="rect">
            <a:avLst/>
          </a:prstGeom>
          <a:noFill/>
        </p:spPr>
        <p:txBody>
          <a:bodyPr wrap="square" lIns="0" rIns="0" tIns="0" bIns="0" anchor="ctr">
            <a:spAutoFit/>
          </a:bodyPr>
          <a:lstStyle/>
          <a:p>
            <a:pPr algn="l">
              <a:lnSpc>
                <a:spcPct val="120000"/>
              </a:lnSpc>
            </a:pPr>
            <a:r>
              <a:rPr sz="980" b="0" i="0" spc="136">
                <a:solidFill>
                  <a:srgbClr val="6E8B6F"/>
                </a:solidFill>
                <a:latin typeface="Times New Roman"/>
              </a:rPr>
              <a:t>NORTHERN HIGHLAND FRINGE · 400–1,500 MM</a:t>
            </a:r>
          </a:p>
        </p:txBody>
      </p:sp>
      <p:sp>
        <p:nvSpPr>
          <p:cNvPr id="32" name="TextBox 31"/>
          <p:cNvSpPr txBox="1"/>
          <p:nvPr/>
        </p:nvSpPr>
        <p:spPr>
          <a:xfrm>
            <a:off x="1390650" y="8420100"/>
            <a:ext cx="9848850" cy="238125"/>
          </a:xfrm>
          <a:prstGeom prst="rect">
            <a:avLst/>
          </a:prstGeom>
          <a:noFill/>
        </p:spPr>
        <p:txBody>
          <a:bodyPr wrap="square" lIns="0" rIns="0" tIns="0" bIns="0" anchor="ctr">
            <a:spAutoFit/>
          </a:bodyPr>
          <a:lstStyle/>
          <a:p>
            <a:pPr algn="l">
              <a:lnSpc>
                <a:spcPct val="120000"/>
              </a:lnSpc>
            </a:pPr>
            <a:r>
              <a:rPr sz="1350" b="0" i="0">
                <a:solidFill>
                  <a:srgbClr val="1A2B4C"/>
                </a:solidFill>
                <a:latin typeface="Times New Roman"/>
              </a:rPr>
              <a:t>Gilgit, Skardu, Chitral, Astor</a:t>
            </a:r>
          </a:p>
        </p:txBody>
      </p:sp>
      <p:sp>
        <p:nvSpPr>
          <p:cNvPr id="33" name="TextBox 32"/>
          <p:cNvSpPr txBox="1"/>
          <p:nvPr/>
        </p:nvSpPr>
        <p:spPr>
          <a:xfrm>
            <a:off x="1390650" y="8658225"/>
            <a:ext cx="9848850" cy="200025"/>
          </a:xfrm>
          <a:prstGeom prst="rect">
            <a:avLst/>
          </a:prstGeom>
          <a:noFill/>
        </p:spPr>
        <p:txBody>
          <a:bodyPr wrap="square" lIns="0" rIns="0" tIns="0" bIns="0" anchor="ctr">
            <a:spAutoFit/>
          </a:bodyPr>
          <a:lstStyle/>
          <a:p>
            <a:pPr algn="l">
              <a:lnSpc>
                <a:spcPct val="120000"/>
              </a:lnSpc>
            </a:pPr>
            <a:r>
              <a:rPr sz="1120" b="0" i="1">
                <a:solidFill>
                  <a:srgbClr val="5B6E94"/>
                </a:solidFill>
                <a:latin typeface="Times New Roman"/>
              </a:rPr>
              <a:t>Driver: winter westerlies + summer monsoon fringe + snowmelt recharge.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00" cy="685800"/>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3950" y="190500"/>
            <a:ext cx="11468100" cy="209550"/>
          </a:xfrm>
          <a:prstGeom prst="rect">
            <a:avLst/>
          </a:prstGeom>
          <a:noFill/>
        </p:spPr>
        <p:txBody>
          <a:bodyPr wrap="square" lIns="0" rIns="0" tIns="0" bIns="0" anchor="ctr">
            <a:spAutoFit/>
          </a:bodyPr>
          <a:lstStyle/>
          <a:p>
            <a:pPr algn="l">
              <a:lnSpc>
                <a:spcPct val="120000"/>
              </a:lnSpc>
            </a:pPr>
            <a:r>
              <a:rPr sz="1200" b="0" i="0">
                <a:solidFill>
                  <a:srgbClr val="FFFFFF"/>
                </a:solidFill>
                <a:latin typeface="Times New Roman"/>
              </a:rPr>
              <a:t>12 · Detail B · mechanism — how the rain gets here</a:t>
            </a:r>
          </a:p>
        </p:txBody>
      </p:sp>
      <p:sp>
        <p:nvSpPr>
          <p:cNvPr id="5" name="TextBox 4"/>
          <p:cNvSpPr txBox="1"/>
          <p:nvPr/>
        </p:nvSpPr>
        <p:spPr>
          <a:xfrm>
            <a:off x="16173450" y="190500"/>
            <a:ext cx="1181100" cy="323850"/>
          </a:xfrm>
          <a:prstGeom prst="rect">
            <a:avLst/>
          </a:prstGeom>
          <a:noFill/>
        </p:spPr>
        <p:txBody>
          <a:bodyPr wrap="square" lIns="0" rIns="0" tIns="0" bIns="0" anchor="ctr">
            <a:spAutoFit/>
          </a:bodyPr>
          <a:lstStyle/>
          <a:p>
            <a:pPr algn="r">
              <a:lnSpc>
                <a:spcPct val="120000"/>
              </a:lnSpc>
            </a:pPr>
            <a:r>
              <a:rPr sz="1050" b="0" i="1">
                <a:solidFill>
                  <a:srgbClr val="C81D25"/>
                </a:solidFill>
                <a:latin typeface="Times New Roman"/>
              </a:rPr>
              <a:t>12 / 22</a:t>
            </a:r>
          </a:p>
        </p:txBody>
      </p:sp>
      <p:sp>
        <p:nvSpPr>
          <p:cNvPr id="6" name="TextBox 5"/>
          <p:cNvSpPr txBox="1"/>
          <p:nvPr/>
        </p:nvSpPr>
        <p:spPr>
          <a:xfrm>
            <a:off x="1123950" y="1009650"/>
            <a:ext cx="7658100" cy="41910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Detail B</a:t>
            </a:r>
          </a:p>
        </p:txBody>
      </p:sp>
      <p:sp>
        <p:nvSpPr>
          <p:cNvPr id="7" name="TextBox 6"/>
          <p:cNvSpPr txBox="1"/>
          <p:nvPr/>
        </p:nvSpPr>
        <p:spPr>
          <a:xfrm>
            <a:off x="1123950" y="1600200"/>
            <a:ext cx="16040100" cy="567928"/>
          </a:xfrm>
          <a:prstGeom prst="rect">
            <a:avLst/>
          </a:prstGeom>
          <a:noFill/>
        </p:spPr>
        <p:txBody>
          <a:bodyPr wrap="square" lIns="0" rIns="0" tIns="0" bIns="0" anchor="ctr">
            <a:spAutoFit/>
          </a:bodyPr>
          <a:lstStyle/>
          <a:p>
            <a:pPr algn="l">
              <a:lnSpc>
                <a:spcPct val="107000"/>
              </a:lnSpc>
            </a:pPr>
            <a:r>
              <a:rPr sz="3900" b="1" i="0">
                <a:solidFill>
                  <a:srgbClr val="1A2B4C"/>
                </a:solidFill>
                <a:latin typeface="Times New Roman"/>
              </a:rPr>
              <a:t> Three synoptic-scale systems, working in </a:t>
            </a:r>
            <a:r>
              <a:rPr sz="3900" b="1" i="0">
                <a:solidFill>
                  <a:srgbClr val="C81D25"/>
                </a:solidFill>
                <a:latin typeface="Times New Roman"/>
              </a:rPr>
              <a:t>different seasons</a:t>
            </a:r>
            <a:r>
              <a:rPr sz="3900" b="1" i="0">
                <a:solidFill>
                  <a:srgbClr val="1A2B4C"/>
                </a:solidFill>
                <a:latin typeface="Times New Roman"/>
              </a:rPr>
              <a:t>. </a:t>
            </a:r>
          </a:p>
        </p:txBody>
      </p:sp>
      <p:sp>
        <p:nvSpPr>
          <p:cNvPr id="8" name="Rectangle 7"/>
          <p:cNvSpPr/>
          <p:nvPr/>
        </p:nvSpPr>
        <p:spPr>
          <a:xfrm>
            <a:off x="1143000" y="3238500"/>
            <a:ext cx="5219700" cy="6286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43000" y="3238500"/>
            <a:ext cx="5219700" cy="95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353175" y="3238500"/>
            <a:ext cx="9525" cy="6286500"/>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43000" y="9515475"/>
            <a:ext cx="5219700" cy="95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43000" y="3238500"/>
            <a:ext cx="9525" cy="6286500"/>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381125" y="3457575"/>
            <a:ext cx="4743450" cy="190500"/>
          </a:xfrm>
          <a:prstGeom prst="rect">
            <a:avLst/>
          </a:prstGeom>
          <a:noFill/>
        </p:spPr>
        <p:txBody>
          <a:bodyPr wrap="square" lIns="0" rIns="0" tIns="0" bIns="0" anchor="ctr">
            <a:spAutoFit/>
          </a:bodyPr>
          <a:lstStyle/>
          <a:p>
            <a:pPr algn="l">
              <a:lnSpc>
                <a:spcPct val="120000"/>
              </a:lnSpc>
            </a:pPr>
            <a:r>
              <a:rPr sz="980" b="0" i="0" spc="136">
                <a:solidFill>
                  <a:srgbClr val="5B6E94"/>
                </a:solidFill>
                <a:latin typeface="Times New Roman"/>
              </a:rPr>
              <a:t>SYSTEM 1</a:t>
            </a:r>
          </a:p>
        </p:txBody>
      </p:sp>
      <p:sp>
        <p:nvSpPr>
          <p:cNvPr id="14" name="TextBox 13"/>
          <p:cNvSpPr txBox="1"/>
          <p:nvPr/>
        </p:nvSpPr>
        <p:spPr>
          <a:xfrm>
            <a:off x="1381125" y="3667125"/>
            <a:ext cx="4743450" cy="295275"/>
          </a:xfrm>
          <a:prstGeom prst="rect">
            <a:avLst/>
          </a:prstGeom>
          <a:noFill/>
        </p:spPr>
        <p:txBody>
          <a:bodyPr wrap="square" lIns="0" rIns="0" tIns="0" bIns="0" anchor="ctr">
            <a:spAutoFit/>
          </a:bodyPr>
          <a:lstStyle/>
          <a:p>
            <a:pPr algn="l">
              <a:lnSpc>
                <a:spcPct val="120000"/>
              </a:lnSpc>
            </a:pPr>
            <a:r>
              <a:rPr sz="1800" b="1" i="0">
                <a:solidFill>
                  <a:srgbClr val="1A2B4C"/>
                </a:solidFill>
                <a:latin typeface="Times New Roman"/>
              </a:rPr>
              <a:t>SW Monsoon</a:t>
            </a:r>
          </a:p>
        </p:txBody>
      </p:sp>
      <p:sp>
        <p:nvSpPr>
          <p:cNvPr id="15" name="TextBox 14"/>
          <p:cNvSpPr txBox="1"/>
          <p:nvPr/>
        </p:nvSpPr>
        <p:spPr>
          <a:xfrm>
            <a:off x="1381125" y="3943350"/>
            <a:ext cx="4743450" cy="190500"/>
          </a:xfrm>
          <a:prstGeom prst="rect">
            <a:avLst/>
          </a:prstGeom>
          <a:noFill/>
        </p:spPr>
        <p:txBody>
          <a:bodyPr wrap="square" lIns="0" rIns="0" tIns="0" bIns="0" anchor="ctr">
            <a:spAutoFit/>
          </a:bodyPr>
          <a:lstStyle/>
          <a:p>
            <a:pPr algn="l">
              <a:lnSpc>
                <a:spcPct val="120000"/>
              </a:lnSpc>
            </a:pPr>
            <a:r>
              <a:rPr sz="1050" b="0" i="1">
                <a:solidFill>
                  <a:srgbClr val="5B6E94"/>
                </a:solidFill>
                <a:latin typeface="Times New Roman"/>
              </a:rPr>
              <a:t>Jul–Sep · heaviest single contributor</a:t>
            </a:r>
          </a:p>
        </p:txBody>
      </p:sp>
      <p:sp>
        <p:nvSpPr>
          <p:cNvPr id="16" name="TextBox 15"/>
          <p:cNvSpPr txBox="1"/>
          <p:nvPr/>
        </p:nvSpPr>
        <p:spPr>
          <a:xfrm>
            <a:off x="1552575" y="4229100"/>
            <a:ext cx="4572000" cy="259556"/>
          </a:xfrm>
          <a:prstGeom prst="rect">
            <a:avLst/>
          </a:prstGeom>
          <a:noFill/>
        </p:spPr>
        <p:txBody>
          <a:bodyPr wrap="square" lIns="0" rIns="0" tIns="0" bIns="0" anchor="ctr">
            <a:spAutoFit/>
          </a:bodyPr>
          <a:lstStyle/>
          <a:p>
            <a:pPr algn="l">
              <a:lnSpc>
                <a:spcPct val="155000"/>
              </a:lnSpc>
            </a:pPr>
            <a:r>
              <a:rPr sz="1120" b="0" i="0">
                <a:solidFill>
                  <a:srgbClr val="1A2B4C"/>
                </a:solidFill>
                <a:latin typeface="Times New Roman"/>
              </a:rPr>
              <a:t>• </a:t>
            </a:r>
            <a:r>
              <a:rPr sz="1120" b="0" i="0">
                <a:solidFill>
                  <a:srgbClr val="1A2B4C"/>
                </a:solidFill>
                <a:latin typeface="Times New Roman"/>
              </a:rPr>
              <a:t>Cross-equatorial flow from the southern Indian Ocean</a:t>
            </a:r>
          </a:p>
        </p:txBody>
      </p:sp>
      <p:sp>
        <p:nvSpPr>
          <p:cNvPr id="17" name="TextBox 16"/>
          <p:cNvSpPr txBox="1"/>
          <p:nvPr/>
        </p:nvSpPr>
        <p:spPr>
          <a:xfrm>
            <a:off x="1552575" y="4450556"/>
            <a:ext cx="4572000" cy="259556"/>
          </a:xfrm>
          <a:prstGeom prst="rect">
            <a:avLst/>
          </a:prstGeom>
          <a:noFill/>
        </p:spPr>
        <p:txBody>
          <a:bodyPr wrap="square" lIns="0" rIns="0" tIns="0" bIns="0" anchor="ctr">
            <a:spAutoFit/>
          </a:bodyPr>
          <a:lstStyle/>
          <a:p>
            <a:pPr algn="l">
              <a:lnSpc>
                <a:spcPct val="155000"/>
              </a:lnSpc>
            </a:pPr>
            <a:r>
              <a:rPr sz="1120" b="0" i="0">
                <a:solidFill>
                  <a:srgbClr val="1A2B4C"/>
                </a:solidFill>
                <a:latin typeface="Times New Roman"/>
              </a:rPr>
              <a:t>• </a:t>
            </a:r>
            <a:r>
              <a:rPr sz="1120" b="0" i="0">
                <a:solidFill>
                  <a:srgbClr val="1A2B4C"/>
                </a:solidFill>
                <a:latin typeface="Times New Roman"/>
              </a:rPr>
              <a:t>Strengthened by the South Asian heat low over Sindh/Rajasthan</a:t>
            </a:r>
          </a:p>
        </p:txBody>
      </p:sp>
      <p:sp>
        <p:nvSpPr>
          <p:cNvPr id="18" name="TextBox 17"/>
          <p:cNvSpPr txBox="1"/>
          <p:nvPr/>
        </p:nvSpPr>
        <p:spPr>
          <a:xfrm>
            <a:off x="1552575" y="4672012"/>
            <a:ext cx="4572000" cy="259556"/>
          </a:xfrm>
          <a:prstGeom prst="rect">
            <a:avLst/>
          </a:prstGeom>
          <a:noFill/>
        </p:spPr>
        <p:txBody>
          <a:bodyPr wrap="square" lIns="0" rIns="0" tIns="0" bIns="0" anchor="ctr">
            <a:spAutoFit/>
          </a:bodyPr>
          <a:lstStyle/>
          <a:p>
            <a:pPr algn="l">
              <a:lnSpc>
                <a:spcPct val="155000"/>
              </a:lnSpc>
            </a:pPr>
            <a:r>
              <a:rPr sz="1120" b="0" i="0">
                <a:solidFill>
                  <a:srgbClr val="1A2B4C"/>
                </a:solidFill>
                <a:latin typeface="Times New Roman"/>
              </a:rPr>
              <a:t>• </a:t>
            </a:r>
            <a:r>
              <a:rPr sz="1120" b="0" i="0">
                <a:solidFill>
                  <a:srgbClr val="1A2B4C"/>
                </a:solidFill>
                <a:latin typeface="Times New Roman"/>
              </a:rPr>
              <a:t>Bay-of-Bengal depressions track NW into Punjab &amp; KPK</a:t>
            </a:r>
          </a:p>
        </p:txBody>
      </p:sp>
      <p:sp>
        <p:nvSpPr>
          <p:cNvPr id="19" name="TextBox 18"/>
          <p:cNvSpPr txBox="1"/>
          <p:nvPr/>
        </p:nvSpPr>
        <p:spPr>
          <a:xfrm>
            <a:off x="1552575" y="4893468"/>
            <a:ext cx="4572000" cy="481012"/>
          </a:xfrm>
          <a:prstGeom prst="rect">
            <a:avLst/>
          </a:prstGeom>
          <a:noFill/>
        </p:spPr>
        <p:txBody>
          <a:bodyPr wrap="square" lIns="0" rIns="0" tIns="0" bIns="0" anchor="t">
            <a:spAutoFit/>
          </a:bodyPr>
          <a:lstStyle/>
          <a:p>
            <a:pPr algn="l">
              <a:lnSpc>
                <a:spcPct val="155000"/>
              </a:lnSpc>
            </a:pPr>
            <a:r>
              <a:rPr sz="1120" b="0" i="0">
                <a:solidFill>
                  <a:srgbClr val="1A2B4C"/>
                </a:solidFill>
                <a:latin typeface="Times New Roman"/>
              </a:rPr>
              <a:t>• </a:t>
            </a:r>
            <a:r>
              <a:rPr sz="1120" b="0" i="0">
                <a:solidFill>
                  <a:srgbClr val="1A2B4C"/>
                </a:solidFill>
                <a:latin typeface="Times New Roman"/>
              </a:rPr>
              <a:t>Forced ascent on the Siwaliks, Pir Panjal &amp; Hindu Kush produces extreme localised rainfall</a:t>
            </a:r>
          </a:p>
        </p:txBody>
      </p:sp>
      <p:sp>
        <p:nvSpPr>
          <p:cNvPr id="20" name="TextBox 19"/>
          <p:cNvSpPr txBox="1"/>
          <p:nvPr/>
        </p:nvSpPr>
        <p:spPr>
          <a:xfrm>
            <a:off x="1381125" y="5469731"/>
            <a:ext cx="4743450" cy="190500"/>
          </a:xfrm>
          <a:prstGeom prst="rect">
            <a:avLst/>
          </a:prstGeom>
          <a:noFill/>
        </p:spPr>
        <p:txBody>
          <a:bodyPr wrap="square" lIns="0" rIns="0" tIns="0" bIns="0" anchor="ctr">
            <a:spAutoFit/>
          </a:bodyPr>
          <a:lstStyle/>
          <a:p>
            <a:pPr algn="l">
              <a:lnSpc>
                <a:spcPct val="120000"/>
              </a:lnSpc>
            </a:pPr>
            <a:r>
              <a:rPr sz="980" b="0" i="1">
                <a:solidFill>
                  <a:srgbClr val="5B6E94"/>
                </a:solidFill>
                <a:latin typeface="Times New Roman"/>
              </a:rPr>
              <a:t>National share: ~60–75% of annual total.</a:t>
            </a:r>
          </a:p>
        </p:txBody>
      </p:sp>
      <p:sp>
        <p:nvSpPr>
          <p:cNvPr id="21" name="Rectangle 20"/>
          <p:cNvSpPr/>
          <p:nvPr/>
        </p:nvSpPr>
        <p:spPr>
          <a:xfrm>
            <a:off x="6534150" y="3238500"/>
            <a:ext cx="5219700" cy="6286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34150" y="3238500"/>
            <a:ext cx="5219700" cy="95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744325" y="3238500"/>
            <a:ext cx="9525" cy="6286500"/>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534150" y="9515475"/>
            <a:ext cx="5219700" cy="95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34150" y="3238500"/>
            <a:ext cx="9525" cy="6286500"/>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72275" y="3457575"/>
            <a:ext cx="4743450" cy="190500"/>
          </a:xfrm>
          <a:prstGeom prst="rect">
            <a:avLst/>
          </a:prstGeom>
          <a:noFill/>
        </p:spPr>
        <p:txBody>
          <a:bodyPr wrap="square" lIns="0" rIns="0" tIns="0" bIns="0" anchor="ctr">
            <a:spAutoFit/>
          </a:bodyPr>
          <a:lstStyle/>
          <a:p>
            <a:pPr algn="l">
              <a:lnSpc>
                <a:spcPct val="120000"/>
              </a:lnSpc>
            </a:pPr>
            <a:r>
              <a:rPr sz="980" b="0" i="0" spc="136">
                <a:solidFill>
                  <a:srgbClr val="5B6E94"/>
                </a:solidFill>
                <a:latin typeface="Times New Roman"/>
              </a:rPr>
              <a:t>SYSTEM 2</a:t>
            </a:r>
          </a:p>
        </p:txBody>
      </p:sp>
      <p:sp>
        <p:nvSpPr>
          <p:cNvPr id="27" name="TextBox 26"/>
          <p:cNvSpPr txBox="1"/>
          <p:nvPr/>
        </p:nvSpPr>
        <p:spPr>
          <a:xfrm>
            <a:off x="6772275" y="3667125"/>
            <a:ext cx="4743450" cy="295275"/>
          </a:xfrm>
          <a:prstGeom prst="rect">
            <a:avLst/>
          </a:prstGeom>
          <a:noFill/>
        </p:spPr>
        <p:txBody>
          <a:bodyPr wrap="square" lIns="0" rIns="0" tIns="0" bIns="0" anchor="ctr">
            <a:spAutoFit/>
          </a:bodyPr>
          <a:lstStyle/>
          <a:p>
            <a:pPr algn="l">
              <a:lnSpc>
                <a:spcPct val="120000"/>
              </a:lnSpc>
            </a:pPr>
            <a:r>
              <a:rPr sz="1800" b="1" i="0">
                <a:solidFill>
                  <a:srgbClr val="1A2B4C"/>
                </a:solidFill>
                <a:latin typeface="Times New Roman"/>
              </a:rPr>
              <a:t>Westerly disturbances</a:t>
            </a:r>
          </a:p>
        </p:txBody>
      </p:sp>
      <p:sp>
        <p:nvSpPr>
          <p:cNvPr id="28" name="TextBox 27"/>
          <p:cNvSpPr txBox="1"/>
          <p:nvPr/>
        </p:nvSpPr>
        <p:spPr>
          <a:xfrm>
            <a:off x="6772275" y="3943350"/>
            <a:ext cx="4743450" cy="190500"/>
          </a:xfrm>
          <a:prstGeom prst="rect">
            <a:avLst/>
          </a:prstGeom>
          <a:noFill/>
        </p:spPr>
        <p:txBody>
          <a:bodyPr wrap="square" lIns="0" rIns="0" tIns="0" bIns="0" anchor="ctr">
            <a:spAutoFit/>
          </a:bodyPr>
          <a:lstStyle/>
          <a:p>
            <a:pPr algn="l">
              <a:lnSpc>
                <a:spcPct val="120000"/>
              </a:lnSpc>
            </a:pPr>
            <a:r>
              <a:rPr sz="1050" b="0" i="1">
                <a:solidFill>
                  <a:srgbClr val="5B6E94"/>
                </a:solidFill>
                <a:latin typeface="Times New Roman"/>
              </a:rPr>
              <a:t>Dec–Mar · cryospheric feed</a:t>
            </a:r>
          </a:p>
        </p:txBody>
      </p:sp>
      <p:sp>
        <p:nvSpPr>
          <p:cNvPr id="29" name="TextBox 28"/>
          <p:cNvSpPr txBox="1"/>
          <p:nvPr/>
        </p:nvSpPr>
        <p:spPr>
          <a:xfrm>
            <a:off x="6943725" y="4229100"/>
            <a:ext cx="4572000" cy="259556"/>
          </a:xfrm>
          <a:prstGeom prst="rect">
            <a:avLst/>
          </a:prstGeom>
          <a:noFill/>
        </p:spPr>
        <p:txBody>
          <a:bodyPr wrap="square" lIns="0" rIns="0" tIns="0" bIns="0" anchor="ctr">
            <a:spAutoFit/>
          </a:bodyPr>
          <a:lstStyle/>
          <a:p>
            <a:pPr algn="l">
              <a:lnSpc>
                <a:spcPct val="155000"/>
              </a:lnSpc>
            </a:pPr>
            <a:r>
              <a:rPr sz="1120" b="0" i="0">
                <a:solidFill>
                  <a:srgbClr val="1A2B4C"/>
                </a:solidFill>
                <a:latin typeface="Times New Roman"/>
              </a:rPr>
              <a:t>• </a:t>
            </a:r>
            <a:r>
              <a:rPr sz="1120" b="0" i="0">
                <a:solidFill>
                  <a:srgbClr val="1A2B4C"/>
                </a:solidFill>
                <a:latin typeface="Times New Roman"/>
              </a:rPr>
              <a:t>Upper-level troughs in the subtropical westerly jet</a:t>
            </a:r>
          </a:p>
        </p:txBody>
      </p:sp>
      <p:sp>
        <p:nvSpPr>
          <p:cNvPr id="30" name="TextBox 29"/>
          <p:cNvSpPr txBox="1"/>
          <p:nvPr/>
        </p:nvSpPr>
        <p:spPr>
          <a:xfrm>
            <a:off x="6943725" y="4450556"/>
            <a:ext cx="4572000" cy="259556"/>
          </a:xfrm>
          <a:prstGeom prst="rect">
            <a:avLst/>
          </a:prstGeom>
          <a:noFill/>
        </p:spPr>
        <p:txBody>
          <a:bodyPr wrap="square" lIns="0" rIns="0" tIns="0" bIns="0" anchor="ctr">
            <a:spAutoFit/>
          </a:bodyPr>
          <a:lstStyle/>
          <a:p>
            <a:pPr algn="l">
              <a:lnSpc>
                <a:spcPct val="155000"/>
              </a:lnSpc>
            </a:pPr>
            <a:r>
              <a:rPr sz="1120" b="0" i="0">
                <a:solidFill>
                  <a:srgbClr val="1A2B4C"/>
                </a:solidFill>
                <a:latin typeface="Times New Roman"/>
              </a:rPr>
              <a:t>• </a:t>
            </a:r>
            <a:r>
              <a:rPr sz="1120" b="0" i="0">
                <a:solidFill>
                  <a:srgbClr val="1A2B4C"/>
                </a:solidFill>
                <a:latin typeface="Times New Roman"/>
              </a:rPr>
              <a:t>Originate over the Mediterranean / Caspian basin</a:t>
            </a:r>
          </a:p>
        </p:txBody>
      </p:sp>
      <p:sp>
        <p:nvSpPr>
          <p:cNvPr id="31" name="TextBox 30"/>
          <p:cNvSpPr txBox="1"/>
          <p:nvPr/>
        </p:nvSpPr>
        <p:spPr>
          <a:xfrm>
            <a:off x="6943725" y="4672012"/>
            <a:ext cx="4572000" cy="259556"/>
          </a:xfrm>
          <a:prstGeom prst="rect">
            <a:avLst/>
          </a:prstGeom>
          <a:noFill/>
        </p:spPr>
        <p:txBody>
          <a:bodyPr wrap="square" lIns="0" rIns="0" tIns="0" bIns="0" anchor="ctr">
            <a:spAutoFit/>
          </a:bodyPr>
          <a:lstStyle/>
          <a:p>
            <a:pPr algn="l">
              <a:lnSpc>
                <a:spcPct val="155000"/>
              </a:lnSpc>
            </a:pPr>
            <a:r>
              <a:rPr sz="1120" b="0" i="0">
                <a:solidFill>
                  <a:srgbClr val="1A2B4C"/>
                </a:solidFill>
                <a:latin typeface="Times New Roman"/>
              </a:rPr>
              <a:t>• </a:t>
            </a:r>
            <a:r>
              <a:rPr sz="1120" b="0" i="0">
                <a:solidFill>
                  <a:srgbClr val="1A2B4C"/>
                </a:solidFill>
                <a:latin typeface="Times New Roman"/>
              </a:rPr>
              <a:t>Cross Iran, Afghanistan, and into NW Pakistan</a:t>
            </a:r>
          </a:p>
        </p:txBody>
      </p:sp>
      <p:sp>
        <p:nvSpPr>
          <p:cNvPr id="32" name="TextBox 31"/>
          <p:cNvSpPr txBox="1"/>
          <p:nvPr/>
        </p:nvSpPr>
        <p:spPr>
          <a:xfrm>
            <a:off x="6943725" y="4893468"/>
            <a:ext cx="4572000" cy="259556"/>
          </a:xfrm>
          <a:prstGeom prst="rect">
            <a:avLst/>
          </a:prstGeom>
          <a:noFill/>
        </p:spPr>
        <p:txBody>
          <a:bodyPr wrap="square" lIns="0" rIns="0" tIns="0" bIns="0" anchor="ctr">
            <a:spAutoFit/>
          </a:bodyPr>
          <a:lstStyle/>
          <a:p>
            <a:pPr algn="l">
              <a:lnSpc>
                <a:spcPct val="155000"/>
              </a:lnSpc>
            </a:pPr>
            <a:r>
              <a:rPr sz="1120" b="0" i="0">
                <a:solidFill>
                  <a:srgbClr val="1A2B4C"/>
                </a:solidFill>
                <a:latin typeface="Times New Roman"/>
              </a:rPr>
              <a:t>• </a:t>
            </a:r>
            <a:r>
              <a:rPr sz="1120" b="0" i="0">
                <a:solidFill>
                  <a:srgbClr val="1A2B4C"/>
                </a:solidFill>
                <a:latin typeface="Times New Roman"/>
              </a:rPr>
              <a:t>Critical for snow accumulation on the Karakoram and Hindu Kush</a:t>
            </a:r>
          </a:p>
        </p:txBody>
      </p:sp>
      <p:sp>
        <p:nvSpPr>
          <p:cNvPr id="33" name="TextBox 32"/>
          <p:cNvSpPr txBox="1"/>
          <p:nvPr/>
        </p:nvSpPr>
        <p:spPr>
          <a:xfrm>
            <a:off x="6772275" y="5248275"/>
            <a:ext cx="4743450" cy="190500"/>
          </a:xfrm>
          <a:prstGeom prst="rect">
            <a:avLst/>
          </a:prstGeom>
          <a:noFill/>
        </p:spPr>
        <p:txBody>
          <a:bodyPr wrap="square" lIns="0" rIns="0" tIns="0" bIns="0" anchor="ctr">
            <a:spAutoFit/>
          </a:bodyPr>
          <a:lstStyle/>
          <a:p>
            <a:pPr algn="l">
              <a:lnSpc>
                <a:spcPct val="120000"/>
              </a:lnSpc>
            </a:pPr>
            <a:r>
              <a:rPr sz="980" b="0" i="1">
                <a:solidFill>
                  <a:srgbClr val="5B6E94"/>
                </a:solidFill>
                <a:latin typeface="Times New Roman"/>
              </a:rPr>
              <a:t>NWFP / KPK winter-spring share: ~30–40%.</a:t>
            </a:r>
          </a:p>
        </p:txBody>
      </p:sp>
      <p:sp>
        <p:nvSpPr>
          <p:cNvPr id="34" name="Rectangle 33"/>
          <p:cNvSpPr/>
          <p:nvPr/>
        </p:nvSpPr>
        <p:spPr>
          <a:xfrm>
            <a:off x="11925300" y="3238500"/>
            <a:ext cx="5219700" cy="6286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925300" y="3238500"/>
            <a:ext cx="5219700" cy="95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7135475" y="3238500"/>
            <a:ext cx="9525" cy="6286500"/>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1925300" y="9515475"/>
            <a:ext cx="5219700" cy="95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1925300" y="3238500"/>
            <a:ext cx="9525" cy="6286500"/>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2163425" y="3457575"/>
            <a:ext cx="4743450" cy="190500"/>
          </a:xfrm>
          <a:prstGeom prst="rect">
            <a:avLst/>
          </a:prstGeom>
          <a:noFill/>
        </p:spPr>
        <p:txBody>
          <a:bodyPr wrap="square" lIns="0" rIns="0" tIns="0" bIns="0" anchor="ctr">
            <a:spAutoFit/>
          </a:bodyPr>
          <a:lstStyle/>
          <a:p>
            <a:pPr algn="l">
              <a:lnSpc>
                <a:spcPct val="120000"/>
              </a:lnSpc>
            </a:pPr>
            <a:r>
              <a:rPr sz="980" b="0" i="0" spc="136">
                <a:solidFill>
                  <a:srgbClr val="5B6E94"/>
                </a:solidFill>
                <a:latin typeface="Times New Roman"/>
              </a:rPr>
              <a:t>SYSTEM 3</a:t>
            </a:r>
          </a:p>
        </p:txBody>
      </p:sp>
      <p:sp>
        <p:nvSpPr>
          <p:cNvPr id="40" name="TextBox 39"/>
          <p:cNvSpPr txBox="1"/>
          <p:nvPr/>
        </p:nvSpPr>
        <p:spPr>
          <a:xfrm>
            <a:off x="12163425" y="3667125"/>
            <a:ext cx="4743450" cy="295275"/>
          </a:xfrm>
          <a:prstGeom prst="rect">
            <a:avLst/>
          </a:prstGeom>
          <a:noFill/>
        </p:spPr>
        <p:txBody>
          <a:bodyPr wrap="square" lIns="0" rIns="0" tIns="0" bIns="0" anchor="ctr">
            <a:spAutoFit/>
          </a:bodyPr>
          <a:lstStyle/>
          <a:p>
            <a:pPr algn="l">
              <a:lnSpc>
                <a:spcPct val="120000"/>
              </a:lnSpc>
            </a:pPr>
            <a:r>
              <a:rPr sz="1800" b="1" i="0">
                <a:solidFill>
                  <a:srgbClr val="1A2B4C"/>
                </a:solidFill>
                <a:latin typeface="Times New Roman"/>
              </a:rPr>
              <a:t>Tropical cyclones</a:t>
            </a:r>
          </a:p>
        </p:txBody>
      </p:sp>
      <p:sp>
        <p:nvSpPr>
          <p:cNvPr id="41" name="TextBox 40"/>
          <p:cNvSpPr txBox="1"/>
          <p:nvPr/>
        </p:nvSpPr>
        <p:spPr>
          <a:xfrm>
            <a:off x="12163425" y="3943350"/>
            <a:ext cx="4743450" cy="190500"/>
          </a:xfrm>
          <a:prstGeom prst="rect">
            <a:avLst/>
          </a:prstGeom>
          <a:noFill/>
        </p:spPr>
        <p:txBody>
          <a:bodyPr wrap="square" lIns="0" rIns="0" tIns="0" bIns="0" anchor="ctr">
            <a:spAutoFit/>
          </a:bodyPr>
          <a:lstStyle/>
          <a:p>
            <a:pPr algn="l">
              <a:lnSpc>
                <a:spcPct val="120000"/>
              </a:lnSpc>
            </a:pPr>
            <a:r>
              <a:rPr sz="1050" b="0" i="1">
                <a:solidFill>
                  <a:srgbClr val="5B6E94"/>
                </a:solidFill>
                <a:latin typeface="Times New Roman"/>
              </a:rPr>
              <a:t>May–Jun &amp; Oct–Nov</a:t>
            </a:r>
          </a:p>
        </p:txBody>
      </p:sp>
      <p:sp>
        <p:nvSpPr>
          <p:cNvPr id="42" name="TextBox 41"/>
          <p:cNvSpPr txBox="1"/>
          <p:nvPr/>
        </p:nvSpPr>
        <p:spPr>
          <a:xfrm>
            <a:off x="12334875" y="4229100"/>
            <a:ext cx="4572000" cy="259556"/>
          </a:xfrm>
          <a:prstGeom prst="rect">
            <a:avLst/>
          </a:prstGeom>
          <a:noFill/>
        </p:spPr>
        <p:txBody>
          <a:bodyPr wrap="square" lIns="0" rIns="0" tIns="0" bIns="0" anchor="ctr">
            <a:spAutoFit/>
          </a:bodyPr>
          <a:lstStyle/>
          <a:p>
            <a:pPr algn="l">
              <a:lnSpc>
                <a:spcPct val="155000"/>
              </a:lnSpc>
            </a:pPr>
            <a:r>
              <a:rPr sz="1120" b="0" i="0">
                <a:solidFill>
                  <a:srgbClr val="1A2B4C"/>
                </a:solidFill>
                <a:latin typeface="Times New Roman"/>
              </a:rPr>
              <a:t>• </a:t>
            </a:r>
            <a:r>
              <a:rPr sz="1120" b="0" i="0">
                <a:solidFill>
                  <a:srgbClr val="1A2B4C"/>
                </a:solidFill>
                <a:latin typeface="Times New Roman"/>
              </a:rPr>
              <a:t>Develop over the warm Arabian Sea</a:t>
            </a:r>
          </a:p>
        </p:txBody>
      </p:sp>
      <p:sp>
        <p:nvSpPr>
          <p:cNvPr id="43" name="TextBox 42"/>
          <p:cNvSpPr txBox="1"/>
          <p:nvPr/>
        </p:nvSpPr>
        <p:spPr>
          <a:xfrm>
            <a:off x="12334875" y="4450556"/>
            <a:ext cx="4572000" cy="259556"/>
          </a:xfrm>
          <a:prstGeom prst="rect">
            <a:avLst/>
          </a:prstGeom>
          <a:noFill/>
        </p:spPr>
        <p:txBody>
          <a:bodyPr wrap="square" lIns="0" rIns="0" tIns="0" bIns="0" anchor="ctr">
            <a:spAutoFit/>
          </a:bodyPr>
          <a:lstStyle/>
          <a:p>
            <a:pPr algn="l">
              <a:lnSpc>
                <a:spcPct val="155000"/>
              </a:lnSpc>
            </a:pPr>
            <a:r>
              <a:rPr sz="1120" b="0" i="0">
                <a:solidFill>
                  <a:srgbClr val="1A2B4C"/>
                </a:solidFill>
                <a:latin typeface="Times New Roman"/>
              </a:rPr>
              <a:t>• </a:t>
            </a:r>
            <a:r>
              <a:rPr sz="1120" b="0" i="0">
                <a:solidFill>
                  <a:srgbClr val="1A2B4C"/>
                </a:solidFill>
                <a:latin typeface="Times New Roman"/>
              </a:rPr>
              <a:t>Mostly track into Gujarat, but coastal Sindh &amp; Makran face direct exposure</a:t>
            </a:r>
          </a:p>
        </p:txBody>
      </p:sp>
      <p:sp>
        <p:nvSpPr>
          <p:cNvPr id="44" name="TextBox 43"/>
          <p:cNvSpPr txBox="1"/>
          <p:nvPr/>
        </p:nvSpPr>
        <p:spPr>
          <a:xfrm>
            <a:off x="12334875" y="4672012"/>
            <a:ext cx="4572000" cy="259556"/>
          </a:xfrm>
          <a:prstGeom prst="rect">
            <a:avLst/>
          </a:prstGeom>
          <a:noFill/>
        </p:spPr>
        <p:txBody>
          <a:bodyPr wrap="square" lIns="0" rIns="0" tIns="0" bIns="0" anchor="ctr">
            <a:spAutoFit/>
          </a:bodyPr>
          <a:lstStyle/>
          <a:p>
            <a:pPr algn="l">
              <a:lnSpc>
                <a:spcPct val="155000"/>
              </a:lnSpc>
            </a:pPr>
            <a:r>
              <a:rPr sz="1120" b="0" i="0">
                <a:solidFill>
                  <a:srgbClr val="1A2B4C"/>
                </a:solidFill>
                <a:latin typeface="Times New Roman"/>
              </a:rPr>
              <a:t>• </a:t>
            </a:r>
            <a:r>
              <a:rPr sz="1120" b="0" i="0">
                <a:solidFill>
                  <a:srgbClr val="1A2B4C"/>
                </a:solidFill>
                <a:latin typeface="Times New Roman"/>
              </a:rPr>
              <a:t>Storm surge &amp; heavy rain a major hazard in Thatta, Badin, Lasbela</a:t>
            </a:r>
          </a:p>
        </p:txBody>
      </p:sp>
      <p:sp>
        <p:nvSpPr>
          <p:cNvPr id="45" name="TextBox 44"/>
          <p:cNvSpPr txBox="1"/>
          <p:nvPr/>
        </p:nvSpPr>
        <p:spPr>
          <a:xfrm>
            <a:off x="12334875" y="4893468"/>
            <a:ext cx="4572000" cy="259556"/>
          </a:xfrm>
          <a:prstGeom prst="rect">
            <a:avLst/>
          </a:prstGeom>
          <a:noFill/>
        </p:spPr>
        <p:txBody>
          <a:bodyPr wrap="square" lIns="0" rIns="0" tIns="0" bIns="0" anchor="ctr">
            <a:spAutoFit/>
          </a:bodyPr>
          <a:lstStyle/>
          <a:p>
            <a:pPr algn="l">
              <a:lnSpc>
                <a:spcPct val="155000"/>
              </a:lnSpc>
            </a:pPr>
            <a:r>
              <a:rPr sz="1120" b="0" i="0">
                <a:solidFill>
                  <a:srgbClr val="1A2B4C"/>
                </a:solidFill>
                <a:latin typeface="Times New Roman"/>
              </a:rPr>
              <a:t>• </a:t>
            </a:r>
            <a:r>
              <a:rPr sz="1120" b="0" i="0">
                <a:solidFill>
                  <a:srgbClr val="1A2B4C"/>
                </a:solidFill>
                <a:latin typeface="Times New Roman"/>
              </a:rPr>
              <a:t>Average 1–2 cyclones per year, with active 2019–2023 season</a:t>
            </a:r>
          </a:p>
        </p:txBody>
      </p:sp>
      <p:sp>
        <p:nvSpPr>
          <p:cNvPr id="46" name="TextBox 45"/>
          <p:cNvSpPr txBox="1"/>
          <p:nvPr/>
        </p:nvSpPr>
        <p:spPr>
          <a:xfrm>
            <a:off x="12163425" y="5248275"/>
            <a:ext cx="4743450" cy="190500"/>
          </a:xfrm>
          <a:prstGeom prst="rect">
            <a:avLst/>
          </a:prstGeom>
          <a:noFill/>
        </p:spPr>
        <p:txBody>
          <a:bodyPr wrap="square" lIns="0" rIns="0" tIns="0" bIns="0" anchor="ctr">
            <a:spAutoFit/>
          </a:bodyPr>
          <a:lstStyle/>
          <a:p>
            <a:pPr algn="l">
              <a:lnSpc>
                <a:spcPct val="120000"/>
              </a:lnSpc>
            </a:pPr>
            <a:r>
              <a:rPr sz="980" b="0" i="1">
                <a:solidFill>
                  <a:srgbClr val="5B6E94"/>
                </a:solidFill>
                <a:latin typeface="Times New Roman"/>
              </a:rPr>
              <a:t>National share: small, but locally catastrophic.</a:t>
            </a:r>
          </a:p>
        </p:txBody>
      </p:sp>
      <p:sp>
        <p:nvSpPr>
          <p:cNvPr id="47" name="TextBox 46"/>
          <p:cNvSpPr txBox="1"/>
          <p:nvPr/>
        </p:nvSpPr>
        <p:spPr>
          <a:xfrm>
            <a:off x="1123950" y="9601200"/>
            <a:ext cx="16040100" cy="323850"/>
          </a:xfrm>
          <a:prstGeom prst="rect">
            <a:avLst/>
          </a:prstGeom>
          <a:noFill/>
        </p:spPr>
        <p:txBody>
          <a:bodyPr wrap="square" lIns="0" rIns="0" tIns="0" bIns="0" anchor="ctr">
            <a:spAutoFit/>
          </a:bodyPr>
          <a:lstStyle/>
          <a:p>
            <a:pPr algn="l">
              <a:lnSpc>
                <a:spcPct val="120000"/>
              </a:lnSpc>
            </a:pPr>
            <a:r>
              <a:rPr sz="1200" b="0" i="0">
                <a:solidFill>
                  <a:srgbClr val="000000"/>
                </a:solidFill>
                <a:latin typeface="Times New Roman"/>
              </a:rPr>
              <a:t>Source: PMD Pakistan Climate Report, PMD national rainfall normals 1991–2020, AR5 / AR6 regional projections.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00" cy="685800"/>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791950" y="1009650"/>
            <a:ext cx="5372100" cy="38100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Image: Aerial view of the Lower Bari Doab Canal headworks at Khanki, or equivalent canal engineering on the Indus; or schematic of Indus Basin Irrigation System.</a:t>
            </a:r>
          </a:p>
        </p:txBody>
      </p:sp>
      <p:sp>
        <p:nvSpPr>
          <p:cNvPr id="5" name="TextBox 4"/>
          <p:cNvSpPr txBox="1"/>
          <p:nvPr/>
        </p:nvSpPr>
        <p:spPr>
          <a:xfrm>
            <a:off x="1123950" y="190500"/>
            <a:ext cx="11468100" cy="209550"/>
          </a:xfrm>
          <a:prstGeom prst="rect">
            <a:avLst/>
          </a:prstGeom>
          <a:noFill/>
        </p:spPr>
        <p:txBody>
          <a:bodyPr wrap="square" lIns="0" rIns="0" tIns="0" bIns="0" anchor="ctr">
            <a:spAutoFit/>
          </a:bodyPr>
          <a:lstStyle/>
          <a:p>
            <a:pPr algn="l">
              <a:lnSpc>
                <a:spcPct val="120000"/>
              </a:lnSpc>
            </a:pPr>
            <a:r>
              <a:rPr sz="1200" b="0" i="0">
                <a:solidFill>
                  <a:srgbClr val="FFFFFF"/>
                </a:solidFill>
                <a:latin typeface="Times New Roman"/>
              </a:rPr>
              <a:t>13 · Irrigation system · the world’s largest contiguous irrigation network</a:t>
            </a:r>
          </a:p>
        </p:txBody>
      </p:sp>
      <p:sp>
        <p:nvSpPr>
          <p:cNvPr id="6" name="TextBox 5"/>
          <p:cNvSpPr txBox="1"/>
          <p:nvPr/>
        </p:nvSpPr>
        <p:spPr>
          <a:xfrm>
            <a:off x="16173450" y="190500"/>
            <a:ext cx="1181100" cy="323850"/>
          </a:xfrm>
          <a:prstGeom prst="rect">
            <a:avLst/>
          </a:prstGeom>
          <a:noFill/>
        </p:spPr>
        <p:txBody>
          <a:bodyPr wrap="square" lIns="0" rIns="0" tIns="0" bIns="0" anchor="ctr">
            <a:spAutoFit/>
          </a:bodyPr>
          <a:lstStyle/>
          <a:p>
            <a:pPr algn="r">
              <a:lnSpc>
                <a:spcPct val="120000"/>
              </a:lnSpc>
            </a:pPr>
            <a:r>
              <a:rPr sz="1050" b="0" i="1">
                <a:solidFill>
                  <a:srgbClr val="C81D25"/>
                </a:solidFill>
                <a:latin typeface="Times New Roman"/>
              </a:rPr>
              <a:t>13 / 22</a:t>
            </a:r>
          </a:p>
        </p:txBody>
      </p:sp>
      <p:sp>
        <p:nvSpPr>
          <p:cNvPr id="7" name="TextBox 6"/>
          <p:cNvSpPr txBox="1"/>
          <p:nvPr/>
        </p:nvSpPr>
        <p:spPr>
          <a:xfrm>
            <a:off x="1123950" y="1009650"/>
            <a:ext cx="7658100" cy="41910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Cluster 4 · Hydraulic engineering</a:t>
            </a:r>
          </a:p>
        </p:txBody>
      </p:sp>
      <p:sp>
        <p:nvSpPr>
          <p:cNvPr id="8" name="TextBox 7"/>
          <p:cNvSpPr txBox="1"/>
          <p:nvPr/>
        </p:nvSpPr>
        <p:spPr>
          <a:xfrm>
            <a:off x="1123950" y="1600200"/>
            <a:ext cx="16040100" cy="1168896"/>
          </a:xfrm>
          <a:prstGeom prst="rect">
            <a:avLst/>
          </a:prstGeom>
          <a:noFill/>
        </p:spPr>
        <p:txBody>
          <a:bodyPr wrap="square" lIns="0" rIns="0" tIns="0" bIns="0" anchor="t">
            <a:spAutoFit/>
          </a:bodyPr>
          <a:lstStyle/>
          <a:p>
            <a:pPr algn="l">
              <a:lnSpc>
                <a:spcPct val="106000"/>
              </a:lnSpc>
            </a:pPr>
            <a:r>
              <a:rPr sz="4200" b="1" i="0">
                <a:solidFill>
                  <a:srgbClr val="1A2B4C"/>
                </a:solidFill>
                <a:latin typeface="Times New Roman"/>
              </a:rPr>
              <a:t> Where rainfall is unreliable, </a:t>
            </a:r>
            <a:r>
              <a:rPr sz="4200" b="1" i="0">
                <a:solidFill>
                  <a:srgbClr val="C81D25"/>
                </a:solidFill>
                <a:latin typeface="Times New Roman"/>
              </a:rPr>
              <a:t>engineered water</a:t>
            </a:r>
            <a:r>
              <a:rPr sz="4200" b="1" i="0">
                <a:solidFill>
                  <a:srgbClr val="1A2B4C"/>
                </a:solidFill>
                <a:latin typeface="Times New Roman"/>
              </a:rPr>
              <a:t> re-creates an agricultural climate. </a:t>
            </a:r>
          </a:p>
        </p:txBody>
      </p:sp>
      <p:sp>
        <p:nvSpPr>
          <p:cNvPr id="9" name="TextBox 8"/>
          <p:cNvSpPr txBox="1"/>
          <p:nvPr/>
        </p:nvSpPr>
        <p:spPr>
          <a:xfrm>
            <a:off x="1123950" y="3371850"/>
            <a:ext cx="10325100" cy="38100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Pakistan’s irrigation system is the largest contiguous network on Earth: roughly </a:t>
            </a:r>
            <a:r>
              <a:rPr sz="1200" b="1" i="0">
                <a:solidFill>
                  <a:srgbClr val="000000"/>
                </a:solidFill>
                <a:latin typeface="Times New Roman"/>
              </a:rPr>
              <a:t>83,000 km of canals</a:t>
            </a:r>
            <a:r>
              <a:rPr sz="1200" b="0" i="0">
                <a:solidFill>
                  <a:srgbClr val="000000"/>
                </a:solidFill>
                <a:latin typeface="Times New Roman"/>
              </a:rPr>
              <a:t>, more than 1.6 million tubewells, and two of the world’s largest earth-fill dams (Tarbela, Mangla). It is the </a:t>
            </a:r>
            <a:r>
              <a:rPr sz="1200" b="0" i="1">
                <a:solidFill>
                  <a:srgbClr val="000000"/>
                </a:solidFill>
                <a:latin typeface="Times New Roman"/>
              </a:rPr>
              <a:t>engineered replacement</a:t>
            </a:r>
            <a:r>
              <a:rPr sz="1200" b="0" i="0">
                <a:solidFill>
                  <a:srgbClr val="000000"/>
                </a:solidFill>
                <a:latin typeface="Times New Roman"/>
              </a:rPr>
              <a:t> for the rain that geography denies.</a:t>
            </a:r>
          </a:p>
        </p:txBody>
      </p:sp>
      <p:sp>
        <p:nvSpPr>
          <p:cNvPr id="10" name="Rectangle 9"/>
          <p:cNvSpPr/>
          <p:nvPr/>
        </p:nvSpPr>
        <p:spPr>
          <a:xfrm>
            <a:off x="1143000" y="4381500"/>
            <a:ext cx="5057775" cy="1531143"/>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43000" y="4381500"/>
            <a:ext cx="57150" cy="1531143"/>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09700" y="4552950"/>
            <a:ext cx="4581525" cy="190500"/>
          </a:xfrm>
          <a:prstGeom prst="rect">
            <a:avLst/>
          </a:prstGeom>
          <a:noFill/>
        </p:spPr>
        <p:txBody>
          <a:bodyPr wrap="square" lIns="0" rIns="0" tIns="0" bIns="0" anchor="ctr">
            <a:spAutoFit/>
          </a:bodyPr>
          <a:lstStyle/>
          <a:p>
            <a:pPr algn="l">
              <a:lnSpc>
                <a:spcPct val="120000"/>
              </a:lnSpc>
            </a:pPr>
            <a:r>
              <a:rPr sz="980" b="0" i="0" spc="136">
                <a:solidFill>
                  <a:srgbClr val="C81D25"/>
                </a:solidFill>
                <a:latin typeface="Times New Roman"/>
              </a:rPr>
              <a:t>SCALE</a:t>
            </a:r>
          </a:p>
        </p:txBody>
      </p:sp>
      <p:sp>
        <p:nvSpPr>
          <p:cNvPr id="13" name="TextBox 12"/>
          <p:cNvSpPr txBox="1"/>
          <p:nvPr/>
        </p:nvSpPr>
        <p:spPr>
          <a:xfrm>
            <a:off x="1409700" y="4762500"/>
            <a:ext cx="4581525" cy="257175"/>
          </a:xfrm>
          <a:prstGeom prst="rect">
            <a:avLst/>
          </a:prstGeom>
          <a:noFill/>
        </p:spPr>
        <p:txBody>
          <a:bodyPr wrap="square" lIns="0" rIns="0" tIns="0" bIns="0" anchor="ctr">
            <a:spAutoFit/>
          </a:bodyPr>
          <a:lstStyle/>
          <a:p>
            <a:pPr algn="l">
              <a:lnSpc>
                <a:spcPct val="120000"/>
              </a:lnSpc>
            </a:pPr>
            <a:r>
              <a:rPr sz="1500" b="1" i="0">
                <a:solidFill>
                  <a:srgbClr val="1A2B4C"/>
                </a:solidFill>
                <a:latin typeface="Times New Roman"/>
              </a:rPr>
              <a:t>~14.5 million hectares irrigated</a:t>
            </a:r>
          </a:p>
        </p:txBody>
      </p:sp>
      <p:sp>
        <p:nvSpPr>
          <p:cNvPr id="14" name="TextBox 13"/>
          <p:cNvSpPr txBox="1"/>
          <p:nvPr/>
        </p:nvSpPr>
        <p:spPr>
          <a:xfrm>
            <a:off x="1409700" y="5038725"/>
            <a:ext cx="4581525" cy="702468"/>
          </a:xfrm>
          <a:prstGeom prst="rect">
            <a:avLst/>
          </a:prstGeom>
          <a:noFill/>
        </p:spPr>
        <p:txBody>
          <a:bodyPr wrap="square" lIns="0" rIns="0" tIns="0" bIns="0" anchor="t">
            <a:spAutoFit/>
          </a:bodyPr>
          <a:lstStyle/>
          <a:p>
            <a:pPr algn="l">
              <a:lnSpc>
                <a:spcPct val="155000"/>
              </a:lnSpc>
            </a:pPr>
            <a:r>
              <a:rPr sz="1120" b="0" i="0">
                <a:solidFill>
                  <a:srgbClr val="1A2B4C"/>
                </a:solidFill>
                <a:latin typeface="Times New Roman"/>
              </a:rPr>
              <a:t>More than 80% of Pakistan’s agricultural output depends on irrigation. Rain-fed farming covers only ~18% of cultivated area, mostly in NWFP and northern Punjab.</a:t>
            </a:r>
          </a:p>
        </p:txBody>
      </p:sp>
      <p:sp>
        <p:nvSpPr>
          <p:cNvPr id="15" name="Rectangle 14"/>
          <p:cNvSpPr/>
          <p:nvPr/>
        </p:nvSpPr>
        <p:spPr>
          <a:xfrm>
            <a:off x="6372225" y="4381500"/>
            <a:ext cx="5057775" cy="1531143"/>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6372225" y="4381500"/>
            <a:ext cx="57150" cy="1531143"/>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638925" y="4552950"/>
            <a:ext cx="4581525" cy="190500"/>
          </a:xfrm>
          <a:prstGeom prst="rect">
            <a:avLst/>
          </a:prstGeom>
          <a:noFill/>
        </p:spPr>
        <p:txBody>
          <a:bodyPr wrap="square" lIns="0" rIns="0" tIns="0" bIns="0" anchor="ctr">
            <a:spAutoFit/>
          </a:bodyPr>
          <a:lstStyle/>
          <a:p>
            <a:pPr algn="l">
              <a:lnSpc>
                <a:spcPct val="120000"/>
              </a:lnSpc>
            </a:pPr>
            <a:r>
              <a:rPr sz="980" b="0" i="0" spc="136">
                <a:solidFill>
                  <a:srgbClr val="C81D25"/>
                </a:solidFill>
                <a:latin typeface="Times New Roman"/>
              </a:rPr>
              <a:t>CANAL LENGTH</a:t>
            </a:r>
          </a:p>
        </p:txBody>
      </p:sp>
      <p:sp>
        <p:nvSpPr>
          <p:cNvPr id="18" name="TextBox 17"/>
          <p:cNvSpPr txBox="1"/>
          <p:nvPr/>
        </p:nvSpPr>
        <p:spPr>
          <a:xfrm>
            <a:off x="6638925" y="4762500"/>
            <a:ext cx="4581525" cy="257175"/>
          </a:xfrm>
          <a:prstGeom prst="rect">
            <a:avLst/>
          </a:prstGeom>
          <a:noFill/>
        </p:spPr>
        <p:txBody>
          <a:bodyPr wrap="square" lIns="0" rIns="0" tIns="0" bIns="0" anchor="ctr">
            <a:spAutoFit/>
          </a:bodyPr>
          <a:lstStyle/>
          <a:p>
            <a:pPr algn="l">
              <a:lnSpc>
                <a:spcPct val="120000"/>
              </a:lnSpc>
            </a:pPr>
            <a:r>
              <a:rPr sz="1500" b="1" i="0">
                <a:solidFill>
                  <a:srgbClr val="1A2B4C"/>
                </a:solidFill>
                <a:latin typeface="Times New Roman"/>
              </a:rPr>
              <a:t>~83,000 km of main canals</a:t>
            </a:r>
          </a:p>
        </p:txBody>
      </p:sp>
      <p:sp>
        <p:nvSpPr>
          <p:cNvPr id="19" name="TextBox 18"/>
          <p:cNvSpPr txBox="1"/>
          <p:nvPr/>
        </p:nvSpPr>
        <p:spPr>
          <a:xfrm>
            <a:off x="6638925" y="5038725"/>
            <a:ext cx="4581525" cy="481012"/>
          </a:xfrm>
          <a:prstGeom prst="rect">
            <a:avLst/>
          </a:prstGeom>
          <a:noFill/>
        </p:spPr>
        <p:txBody>
          <a:bodyPr wrap="square" lIns="0" rIns="0" tIns="0" bIns="0" anchor="t">
            <a:spAutoFit/>
          </a:bodyPr>
          <a:lstStyle/>
          <a:p>
            <a:pPr algn="l">
              <a:lnSpc>
                <a:spcPct val="155000"/>
              </a:lnSpc>
            </a:pPr>
            <a:r>
              <a:rPr sz="1120" b="0" i="0">
                <a:solidFill>
                  <a:srgbClr val="1A2B4C"/>
                </a:solidFill>
                <a:latin typeface="Times New Roman"/>
              </a:rPr>
              <a:t>British-built 19th-century system extended under the Indus Waters Treaty (1960): Lower Bari Doab, Lower Chenab, Lower Jhelum are flagship canals.</a:t>
            </a:r>
          </a:p>
        </p:txBody>
      </p:sp>
      <p:sp>
        <p:nvSpPr>
          <p:cNvPr id="20" name="Rectangle 19"/>
          <p:cNvSpPr/>
          <p:nvPr/>
        </p:nvSpPr>
        <p:spPr>
          <a:xfrm>
            <a:off x="1143000" y="6084093"/>
            <a:ext cx="5057775" cy="1309687"/>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43000" y="6084093"/>
            <a:ext cx="57150" cy="1309687"/>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409700" y="6255543"/>
            <a:ext cx="4581525" cy="190500"/>
          </a:xfrm>
          <a:prstGeom prst="rect">
            <a:avLst/>
          </a:prstGeom>
          <a:noFill/>
        </p:spPr>
        <p:txBody>
          <a:bodyPr wrap="square" lIns="0" rIns="0" tIns="0" bIns="0" anchor="ctr">
            <a:spAutoFit/>
          </a:bodyPr>
          <a:lstStyle/>
          <a:p>
            <a:pPr algn="l">
              <a:lnSpc>
                <a:spcPct val="120000"/>
              </a:lnSpc>
            </a:pPr>
            <a:r>
              <a:rPr sz="980" b="0" i="0" spc="136">
                <a:solidFill>
                  <a:srgbClr val="C81D25"/>
                </a:solidFill>
                <a:latin typeface="Times New Roman"/>
              </a:rPr>
              <a:t>TUBEWELLS</a:t>
            </a:r>
          </a:p>
        </p:txBody>
      </p:sp>
      <p:sp>
        <p:nvSpPr>
          <p:cNvPr id="23" name="TextBox 22"/>
          <p:cNvSpPr txBox="1"/>
          <p:nvPr/>
        </p:nvSpPr>
        <p:spPr>
          <a:xfrm>
            <a:off x="1409700" y="6465093"/>
            <a:ext cx="4581525" cy="257175"/>
          </a:xfrm>
          <a:prstGeom prst="rect">
            <a:avLst/>
          </a:prstGeom>
          <a:noFill/>
        </p:spPr>
        <p:txBody>
          <a:bodyPr wrap="square" lIns="0" rIns="0" tIns="0" bIns="0" anchor="ctr">
            <a:spAutoFit/>
          </a:bodyPr>
          <a:lstStyle/>
          <a:p>
            <a:pPr algn="l">
              <a:lnSpc>
                <a:spcPct val="120000"/>
              </a:lnSpc>
            </a:pPr>
            <a:r>
              <a:rPr sz="1500" b="1" i="0">
                <a:solidFill>
                  <a:srgbClr val="1A2B4C"/>
                </a:solidFill>
                <a:latin typeface="Times New Roman"/>
              </a:rPr>
              <a:t>~1.6 million operational</a:t>
            </a:r>
          </a:p>
        </p:txBody>
      </p:sp>
      <p:sp>
        <p:nvSpPr>
          <p:cNvPr id="24" name="TextBox 23"/>
          <p:cNvSpPr txBox="1"/>
          <p:nvPr/>
        </p:nvSpPr>
        <p:spPr>
          <a:xfrm>
            <a:off x="1409700" y="6741318"/>
            <a:ext cx="4581525" cy="481012"/>
          </a:xfrm>
          <a:prstGeom prst="rect">
            <a:avLst/>
          </a:prstGeom>
          <a:noFill/>
        </p:spPr>
        <p:txBody>
          <a:bodyPr wrap="square" lIns="0" rIns="0" tIns="0" bIns="0" anchor="t">
            <a:spAutoFit/>
          </a:bodyPr>
          <a:lstStyle/>
          <a:p>
            <a:pPr algn="l">
              <a:lnSpc>
                <a:spcPct val="155000"/>
              </a:lnSpc>
            </a:pPr>
            <a:r>
              <a:rPr sz="1120" b="0" i="0">
                <a:solidFill>
                  <a:srgbClr val="1A2B4C"/>
                </a:solidFill>
                <a:latin typeface="Times New Roman"/>
              </a:rPr>
              <a:t>Private tubewells dominate; many run on subsidised diesel or grid electricity. Groundwater now accounts for nearly half of all irrigation withdrawals.</a:t>
            </a:r>
          </a:p>
        </p:txBody>
      </p:sp>
      <p:sp>
        <p:nvSpPr>
          <p:cNvPr id="25" name="Rectangle 24"/>
          <p:cNvSpPr/>
          <p:nvPr/>
        </p:nvSpPr>
        <p:spPr>
          <a:xfrm>
            <a:off x="6372225" y="6084093"/>
            <a:ext cx="5057775" cy="1309687"/>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6372225" y="6084093"/>
            <a:ext cx="57150" cy="1309687"/>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638925" y="6255543"/>
            <a:ext cx="4581525" cy="190500"/>
          </a:xfrm>
          <a:prstGeom prst="rect">
            <a:avLst/>
          </a:prstGeom>
          <a:noFill/>
        </p:spPr>
        <p:txBody>
          <a:bodyPr wrap="square" lIns="0" rIns="0" tIns="0" bIns="0" anchor="ctr">
            <a:spAutoFit/>
          </a:bodyPr>
          <a:lstStyle/>
          <a:p>
            <a:pPr algn="l">
              <a:lnSpc>
                <a:spcPct val="120000"/>
              </a:lnSpc>
            </a:pPr>
            <a:r>
              <a:rPr sz="980" b="0" i="0" spc="136">
                <a:solidFill>
                  <a:srgbClr val="C81D25"/>
                </a:solidFill>
                <a:latin typeface="Times New Roman"/>
              </a:rPr>
              <a:t>DAMS</a:t>
            </a:r>
          </a:p>
        </p:txBody>
      </p:sp>
      <p:sp>
        <p:nvSpPr>
          <p:cNvPr id="28" name="TextBox 27"/>
          <p:cNvSpPr txBox="1"/>
          <p:nvPr/>
        </p:nvSpPr>
        <p:spPr>
          <a:xfrm>
            <a:off x="6638925" y="6465093"/>
            <a:ext cx="4581525" cy="257175"/>
          </a:xfrm>
          <a:prstGeom prst="rect">
            <a:avLst/>
          </a:prstGeom>
          <a:noFill/>
        </p:spPr>
        <p:txBody>
          <a:bodyPr wrap="square" lIns="0" rIns="0" tIns="0" bIns="0" anchor="ctr">
            <a:spAutoFit/>
          </a:bodyPr>
          <a:lstStyle/>
          <a:p>
            <a:pPr algn="l">
              <a:lnSpc>
                <a:spcPct val="120000"/>
              </a:lnSpc>
            </a:pPr>
            <a:r>
              <a:rPr sz="1500" b="1" i="0">
                <a:solidFill>
                  <a:srgbClr val="1A2B4C"/>
                </a:solidFill>
                <a:latin typeface="Times New Roman"/>
              </a:rPr>
              <a:t>Tarbela, Mangla — large storage</a:t>
            </a:r>
          </a:p>
        </p:txBody>
      </p:sp>
      <p:sp>
        <p:nvSpPr>
          <p:cNvPr id="29" name="TextBox 28"/>
          <p:cNvSpPr txBox="1"/>
          <p:nvPr/>
        </p:nvSpPr>
        <p:spPr>
          <a:xfrm>
            <a:off x="6638925" y="6741318"/>
            <a:ext cx="4581525" cy="481012"/>
          </a:xfrm>
          <a:prstGeom prst="rect">
            <a:avLst/>
          </a:prstGeom>
          <a:noFill/>
        </p:spPr>
        <p:txBody>
          <a:bodyPr wrap="square" lIns="0" rIns="0" tIns="0" bIns="0" anchor="t">
            <a:spAutoFit/>
          </a:bodyPr>
          <a:lstStyle/>
          <a:p>
            <a:pPr algn="l">
              <a:lnSpc>
                <a:spcPct val="155000"/>
              </a:lnSpc>
            </a:pPr>
            <a:r>
              <a:rPr sz="1120" b="0" i="0">
                <a:solidFill>
                  <a:srgbClr val="1A2B4C"/>
                </a:solidFill>
                <a:latin typeface="Times New Roman"/>
              </a:rPr>
              <a:t>Tarbela (14.3 km³), Mangla (9.3 km³). Diamer-Bhasha under construction; Kalabagh is the proposed but contested third storage project.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00" cy="685800"/>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3950" y="190500"/>
            <a:ext cx="11468100" cy="209550"/>
          </a:xfrm>
          <a:prstGeom prst="rect">
            <a:avLst/>
          </a:prstGeom>
          <a:noFill/>
        </p:spPr>
        <p:txBody>
          <a:bodyPr wrap="square" lIns="0" rIns="0" tIns="0" bIns="0" anchor="ctr">
            <a:spAutoFit/>
          </a:bodyPr>
          <a:lstStyle/>
          <a:p>
            <a:pPr algn="l">
              <a:lnSpc>
                <a:spcPct val="120000"/>
              </a:lnSpc>
            </a:pPr>
            <a:r>
              <a:rPr sz="1200" b="0" i="0">
                <a:solidFill>
                  <a:srgbClr val="FFFFFF"/>
                </a:solidFill>
                <a:latin typeface="Times New Roman"/>
              </a:rPr>
              <a:t>14 · Detail A · the Indus Basin Irrigation System (IBIS)</a:t>
            </a:r>
          </a:p>
        </p:txBody>
      </p:sp>
      <p:sp>
        <p:nvSpPr>
          <p:cNvPr id="5" name="TextBox 4"/>
          <p:cNvSpPr txBox="1"/>
          <p:nvPr/>
        </p:nvSpPr>
        <p:spPr>
          <a:xfrm>
            <a:off x="16173450" y="190500"/>
            <a:ext cx="1181100" cy="323850"/>
          </a:xfrm>
          <a:prstGeom prst="rect">
            <a:avLst/>
          </a:prstGeom>
          <a:noFill/>
        </p:spPr>
        <p:txBody>
          <a:bodyPr wrap="square" lIns="0" rIns="0" tIns="0" bIns="0" anchor="ctr">
            <a:spAutoFit/>
          </a:bodyPr>
          <a:lstStyle/>
          <a:p>
            <a:pPr algn="r">
              <a:lnSpc>
                <a:spcPct val="120000"/>
              </a:lnSpc>
            </a:pPr>
            <a:r>
              <a:rPr sz="1050" b="0" i="1">
                <a:solidFill>
                  <a:srgbClr val="C81D25"/>
                </a:solidFill>
                <a:latin typeface="Times New Roman"/>
              </a:rPr>
              <a:t>14 / 22</a:t>
            </a:r>
          </a:p>
        </p:txBody>
      </p:sp>
      <p:sp>
        <p:nvSpPr>
          <p:cNvPr id="6" name="TextBox 5"/>
          <p:cNvSpPr txBox="1"/>
          <p:nvPr/>
        </p:nvSpPr>
        <p:spPr>
          <a:xfrm>
            <a:off x="1123950" y="1009650"/>
            <a:ext cx="7658100" cy="41910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Detail A</a:t>
            </a:r>
          </a:p>
        </p:txBody>
      </p:sp>
      <p:sp>
        <p:nvSpPr>
          <p:cNvPr id="7" name="TextBox 6"/>
          <p:cNvSpPr txBox="1"/>
          <p:nvPr/>
        </p:nvSpPr>
        <p:spPr>
          <a:xfrm>
            <a:off x="1123950" y="1600200"/>
            <a:ext cx="16040100" cy="588317"/>
          </a:xfrm>
          <a:prstGeom prst="rect">
            <a:avLst/>
          </a:prstGeom>
          <a:noFill/>
        </p:spPr>
        <p:txBody>
          <a:bodyPr wrap="square" lIns="0" rIns="0" tIns="0" bIns="0" anchor="ctr">
            <a:spAutoFit/>
          </a:bodyPr>
          <a:lstStyle/>
          <a:p>
            <a:pPr algn="l">
              <a:lnSpc>
                <a:spcPct val="107000"/>
              </a:lnSpc>
            </a:pPr>
            <a:r>
              <a:rPr sz="4050" b="1" i="0">
                <a:solidFill>
                  <a:srgbClr val="1A2B4C"/>
                </a:solidFill>
                <a:latin typeface="Times New Roman"/>
              </a:rPr>
              <a:t> Built under </a:t>
            </a:r>
            <a:r>
              <a:rPr sz="4050" b="1" i="0">
                <a:solidFill>
                  <a:srgbClr val="C81D25"/>
                </a:solidFill>
                <a:latin typeface="Times New Roman"/>
              </a:rPr>
              <a:t>colonial gravity</a:t>
            </a:r>
            <a:r>
              <a:rPr sz="4050" b="1" i="0">
                <a:solidFill>
                  <a:srgbClr val="1A2B4C"/>
                </a:solidFill>
                <a:latin typeface="Times New Roman"/>
              </a:rPr>
              <a:t>, transformed by the Indus Waters Treaty. </a:t>
            </a:r>
          </a:p>
        </p:txBody>
      </p:sp>
      <p:sp>
        <p:nvSpPr>
          <p:cNvPr id="8" name="TextBox 7"/>
          <p:cNvSpPr txBox="1"/>
          <p:nvPr/>
        </p:nvSpPr>
        <p:spPr>
          <a:xfrm>
            <a:off x="1123950" y="3371850"/>
            <a:ext cx="10325100" cy="38100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The IBIS dates to the 1859 Lower Bari Doab Canal. After partition in 1947, the headworks of the upper Indus were lost to India; the 1960 Indus Waters Treaty — brokered by the World Bank — re-engineered the system over 20 years to redirect western-river flows (Jhelum, Chenab, Indus) to former eastern-river canals.</a:t>
            </a:r>
          </a:p>
        </p:txBody>
      </p:sp>
      <p:sp>
        <p:nvSpPr>
          <p:cNvPr id="9" name="Rectangle 8"/>
          <p:cNvSpPr/>
          <p:nvPr/>
        </p:nvSpPr>
        <p:spPr>
          <a:xfrm>
            <a:off x="1143000" y="4381500"/>
            <a:ext cx="5219700" cy="4953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43000" y="4381500"/>
            <a:ext cx="5219700" cy="95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353175" y="4381500"/>
            <a:ext cx="9525" cy="4953000"/>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43000" y="9324975"/>
            <a:ext cx="5219700" cy="95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43000" y="4381500"/>
            <a:ext cx="57150" cy="4953000"/>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90650" y="4581525"/>
            <a:ext cx="4772025" cy="190500"/>
          </a:xfrm>
          <a:prstGeom prst="rect">
            <a:avLst/>
          </a:prstGeom>
          <a:noFill/>
        </p:spPr>
        <p:txBody>
          <a:bodyPr wrap="square" lIns="0" rIns="0" tIns="0" bIns="0" anchor="ctr">
            <a:spAutoFit/>
          </a:bodyPr>
          <a:lstStyle/>
          <a:p>
            <a:pPr algn="l">
              <a:lnSpc>
                <a:spcPct val="120000"/>
              </a:lnSpc>
            </a:pPr>
            <a:r>
              <a:rPr sz="980" b="0" i="0" spc="136">
                <a:solidFill>
                  <a:srgbClr val="5B6E94"/>
                </a:solidFill>
                <a:latin typeface="Times New Roman"/>
              </a:rPr>
              <a:t>CANAL COLONIES (BRITISH ERA)</a:t>
            </a:r>
          </a:p>
        </p:txBody>
      </p:sp>
      <p:sp>
        <p:nvSpPr>
          <p:cNvPr id="15" name="TextBox 14"/>
          <p:cNvSpPr txBox="1"/>
          <p:nvPr/>
        </p:nvSpPr>
        <p:spPr>
          <a:xfrm>
            <a:off x="1390650" y="4791075"/>
            <a:ext cx="4772025" cy="285750"/>
          </a:xfrm>
          <a:prstGeom prst="rect">
            <a:avLst/>
          </a:prstGeom>
          <a:noFill/>
        </p:spPr>
        <p:txBody>
          <a:bodyPr wrap="square" lIns="0" rIns="0" tIns="0" bIns="0" anchor="ctr">
            <a:spAutoFit/>
          </a:bodyPr>
          <a:lstStyle/>
          <a:p>
            <a:pPr algn="l">
              <a:lnSpc>
                <a:spcPct val="120000"/>
              </a:lnSpc>
            </a:pPr>
            <a:r>
              <a:rPr sz="1650" b="1" i="0">
                <a:solidFill>
                  <a:srgbClr val="1A2B4C"/>
                </a:solidFill>
                <a:latin typeface="Times New Roman"/>
              </a:rPr>
              <a:t>Reclaimed the doabs</a:t>
            </a:r>
          </a:p>
        </p:txBody>
      </p:sp>
      <p:sp>
        <p:nvSpPr>
          <p:cNvPr id="16" name="TextBox 15"/>
          <p:cNvSpPr txBox="1"/>
          <p:nvPr/>
        </p:nvSpPr>
        <p:spPr>
          <a:xfrm>
            <a:off x="1562100" y="5153025"/>
            <a:ext cx="4600575"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0" i="0">
                <a:solidFill>
                  <a:srgbClr val="1A2B4C"/>
                </a:solidFill>
                <a:latin typeface="Times New Roman"/>
              </a:rPr>
              <a:t>Lower Bari Doab (Khanki) — 1859</a:t>
            </a:r>
          </a:p>
        </p:txBody>
      </p:sp>
      <p:sp>
        <p:nvSpPr>
          <p:cNvPr id="17" name="TextBox 16"/>
          <p:cNvSpPr txBox="1"/>
          <p:nvPr/>
        </p:nvSpPr>
        <p:spPr>
          <a:xfrm>
            <a:off x="1562100" y="5381625"/>
            <a:ext cx="4600575"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0" i="0">
                <a:solidFill>
                  <a:srgbClr val="1A2B4C"/>
                </a:solidFill>
                <a:latin typeface="Times New Roman"/>
              </a:rPr>
              <a:t>Lower Chenab (Khanki) — 1892</a:t>
            </a:r>
          </a:p>
        </p:txBody>
      </p:sp>
      <p:sp>
        <p:nvSpPr>
          <p:cNvPr id="18" name="TextBox 17"/>
          <p:cNvSpPr txBox="1"/>
          <p:nvPr/>
        </p:nvSpPr>
        <p:spPr>
          <a:xfrm>
            <a:off x="1562100" y="5610225"/>
            <a:ext cx="4600575"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0" i="0">
                <a:solidFill>
                  <a:srgbClr val="1A2B4C"/>
                </a:solidFill>
                <a:latin typeface="Times New Roman"/>
              </a:rPr>
              <a:t>Lower Jhelum — 1901</a:t>
            </a:r>
          </a:p>
        </p:txBody>
      </p:sp>
      <p:sp>
        <p:nvSpPr>
          <p:cNvPr id="19" name="TextBox 18"/>
          <p:cNvSpPr txBox="1"/>
          <p:nvPr/>
        </p:nvSpPr>
        <p:spPr>
          <a:xfrm>
            <a:off x="1562100" y="5838825"/>
            <a:ext cx="4600575"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0" i="0">
                <a:solidFill>
                  <a:srgbClr val="1A2B4C"/>
                </a:solidFill>
                <a:latin typeface="Times New Roman"/>
              </a:rPr>
              <a:t>Upper Sirhindia &amp; Sidhnai — early 20th c.</a:t>
            </a:r>
          </a:p>
        </p:txBody>
      </p:sp>
      <p:sp>
        <p:nvSpPr>
          <p:cNvPr id="20" name="TextBox 19"/>
          <p:cNvSpPr txBox="1"/>
          <p:nvPr/>
        </p:nvSpPr>
        <p:spPr>
          <a:xfrm>
            <a:off x="1562100" y="6067425"/>
            <a:ext cx="4600575"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0" i="0">
                <a:solidFill>
                  <a:srgbClr val="1A2B4C"/>
                </a:solidFill>
                <a:latin typeface="Times New Roman"/>
              </a:rPr>
              <a:t>These turned the doabs into Pakistan’s cotton–wheat belt</a:t>
            </a:r>
          </a:p>
        </p:txBody>
      </p:sp>
      <p:sp>
        <p:nvSpPr>
          <p:cNvPr id="21" name="Rectangle 20"/>
          <p:cNvSpPr/>
          <p:nvPr/>
        </p:nvSpPr>
        <p:spPr>
          <a:xfrm>
            <a:off x="6534150" y="4381500"/>
            <a:ext cx="5219700" cy="4953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534150" y="4381500"/>
            <a:ext cx="5219700" cy="95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11744325" y="4381500"/>
            <a:ext cx="9525" cy="4953000"/>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534150" y="9324975"/>
            <a:ext cx="5219700" cy="95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6534150" y="4381500"/>
            <a:ext cx="57150" cy="4953000"/>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781800" y="4581525"/>
            <a:ext cx="4772025" cy="190500"/>
          </a:xfrm>
          <a:prstGeom prst="rect">
            <a:avLst/>
          </a:prstGeom>
          <a:noFill/>
        </p:spPr>
        <p:txBody>
          <a:bodyPr wrap="square" lIns="0" rIns="0" tIns="0" bIns="0" anchor="ctr">
            <a:spAutoFit/>
          </a:bodyPr>
          <a:lstStyle/>
          <a:p>
            <a:pPr algn="l">
              <a:lnSpc>
                <a:spcPct val="120000"/>
              </a:lnSpc>
            </a:pPr>
            <a:r>
              <a:rPr sz="980" b="0" i="0" spc="136">
                <a:solidFill>
                  <a:srgbClr val="5B6E94"/>
                </a:solidFill>
                <a:latin typeface="Times New Roman"/>
              </a:rPr>
              <a:t>INDUS WATERS TREATY (1960)</a:t>
            </a:r>
          </a:p>
        </p:txBody>
      </p:sp>
      <p:sp>
        <p:nvSpPr>
          <p:cNvPr id="27" name="TextBox 26"/>
          <p:cNvSpPr txBox="1"/>
          <p:nvPr/>
        </p:nvSpPr>
        <p:spPr>
          <a:xfrm>
            <a:off x="6781800" y="4791075"/>
            <a:ext cx="4772025" cy="285750"/>
          </a:xfrm>
          <a:prstGeom prst="rect">
            <a:avLst/>
          </a:prstGeom>
          <a:noFill/>
        </p:spPr>
        <p:txBody>
          <a:bodyPr wrap="square" lIns="0" rIns="0" tIns="0" bIns="0" anchor="ctr">
            <a:spAutoFit/>
          </a:bodyPr>
          <a:lstStyle/>
          <a:p>
            <a:pPr algn="l">
              <a:lnSpc>
                <a:spcPct val="120000"/>
              </a:lnSpc>
            </a:pPr>
            <a:r>
              <a:rPr sz="1650" b="1" i="0">
                <a:solidFill>
                  <a:srgbClr val="1A2B4C"/>
                </a:solidFill>
                <a:latin typeface="Times New Roman"/>
              </a:rPr>
              <a:t>Funded by the World Bank</a:t>
            </a:r>
          </a:p>
        </p:txBody>
      </p:sp>
      <p:sp>
        <p:nvSpPr>
          <p:cNvPr id="28" name="TextBox 27"/>
          <p:cNvSpPr txBox="1"/>
          <p:nvPr/>
        </p:nvSpPr>
        <p:spPr>
          <a:xfrm>
            <a:off x="6953250" y="5153025"/>
            <a:ext cx="4600575"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0" i="0">
                <a:solidFill>
                  <a:srgbClr val="1A2B4C"/>
                </a:solidFill>
                <a:latin typeface="Times New Roman"/>
              </a:rPr>
              <a:t>India: Ravi, Beas, Sutlej (eastern rivers)</a:t>
            </a:r>
          </a:p>
        </p:txBody>
      </p:sp>
      <p:sp>
        <p:nvSpPr>
          <p:cNvPr id="29" name="TextBox 28"/>
          <p:cNvSpPr txBox="1"/>
          <p:nvPr/>
        </p:nvSpPr>
        <p:spPr>
          <a:xfrm>
            <a:off x="6953250" y="5381625"/>
            <a:ext cx="4600575"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0" i="0">
                <a:solidFill>
                  <a:srgbClr val="1A2B4C"/>
                </a:solidFill>
                <a:latin typeface="Times New Roman"/>
              </a:rPr>
              <a:t>Pakistan: Indus, Jhelum, Chenab (western rivers)</a:t>
            </a:r>
          </a:p>
        </p:txBody>
      </p:sp>
      <p:sp>
        <p:nvSpPr>
          <p:cNvPr id="30" name="TextBox 29"/>
          <p:cNvSpPr txBox="1"/>
          <p:nvPr/>
        </p:nvSpPr>
        <p:spPr>
          <a:xfrm>
            <a:off x="6953250" y="5610225"/>
            <a:ext cx="4600575" cy="495300"/>
          </a:xfrm>
          <a:prstGeom prst="rect">
            <a:avLst/>
          </a:prstGeom>
          <a:noFill/>
        </p:spPr>
        <p:txBody>
          <a:bodyPr wrap="square" lIns="0" rIns="0" tIns="0" bIns="0" anchor="t">
            <a:spAutoFit/>
          </a:bodyPr>
          <a:lstStyle/>
          <a:p>
            <a:pPr algn="l">
              <a:lnSpc>
                <a:spcPct val="160000"/>
              </a:lnSpc>
            </a:pPr>
            <a:r>
              <a:rPr sz="1120" b="0" i="0">
                <a:solidFill>
                  <a:srgbClr val="1A2B4C"/>
                </a:solidFill>
                <a:latin typeface="Times New Roman"/>
              </a:rPr>
              <a:t>• </a:t>
            </a:r>
            <a:r>
              <a:rPr sz="1120" b="0" i="0">
                <a:solidFill>
                  <a:srgbClr val="1A2B4C"/>
                </a:solidFill>
                <a:latin typeface="Times New Roman"/>
              </a:rPr>
              <a:t>$1.7 billion replacement works: Mangla Dam, Tarbela Dam, eight inter-river link canals</a:t>
            </a:r>
          </a:p>
        </p:txBody>
      </p:sp>
      <p:sp>
        <p:nvSpPr>
          <p:cNvPr id="31" name="TextBox 30"/>
          <p:cNvSpPr txBox="1"/>
          <p:nvPr/>
        </p:nvSpPr>
        <p:spPr>
          <a:xfrm>
            <a:off x="6953250" y="6067425"/>
            <a:ext cx="4600575"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0" i="0">
                <a:solidFill>
                  <a:srgbClr val="1A2B4C"/>
                </a:solidFill>
                <a:latin typeface="Times New Roman"/>
              </a:rPr>
              <a:t>Completed in 1975 — the largest hydraulic programme in the 20th century</a:t>
            </a:r>
          </a:p>
        </p:txBody>
      </p:sp>
      <p:sp>
        <p:nvSpPr>
          <p:cNvPr id="32" name="Rectangle 31"/>
          <p:cNvSpPr/>
          <p:nvPr/>
        </p:nvSpPr>
        <p:spPr>
          <a:xfrm>
            <a:off x="11925300" y="4381500"/>
            <a:ext cx="5219700" cy="4953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1925300" y="4381500"/>
            <a:ext cx="5219700" cy="95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17135475" y="4381500"/>
            <a:ext cx="9525" cy="4953000"/>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11925300" y="9324975"/>
            <a:ext cx="5219700" cy="95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11925300" y="4381500"/>
            <a:ext cx="57150" cy="4953000"/>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2172950" y="4581525"/>
            <a:ext cx="4772025" cy="190500"/>
          </a:xfrm>
          <a:prstGeom prst="rect">
            <a:avLst/>
          </a:prstGeom>
          <a:noFill/>
        </p:spPr>
        <p:txBody>
          <a:bodyPr wrap="square" lIns="0" rIns="0" tIns="0" bIns="0" anchor="ctr">
            <a:spAutoFit/>
          </a:bodyPr>
          <a:lstStyle/>
          <a:p>
            <a:pPr algn="l">
              <a:lnSpc>
                <a:spcPct val="120000"/>
              </a:lnSpc>
            </a:pPr>
            <a:r>
              <a:rPr sz="980" b="0" i="0" spc="136">
                <a:solidFill>
                  <a:srgbClr val="5B6E94"/>
                </a:solidFill>
                <a:latin typeface="Times New Roman"/>
              </a:rPr>
              <a:t>MODERN EXTENSIONS (1975–2026)</a:t>
            </a:r>
          </a:p>
        </p:txBody>
      </p:sp>
      <p:sp>
        <p:nvSpPr>
          <p:cNvPr id="38" name="TextBox 37"/>
          <p:cNvSpPr txBox="1"/>
          <p:nvPr/>
        </p:nvSpPr>
        <p:spPr>
          <a:xfrm>
            <a:off x="12172950" y="4791075"/>
            <a:ext cx="4772025" cy="285750"/>
          </a:xfrm>
          <a:prstGeom prst="rect">
            <a:avLst/>
          </a:prstGeom>
          <a:noFill/>
        </p:spPr>
        <p:txBody>
          <a:bodyPr wrap="square" lIns="0" rIns="0" tIns="0" bIns="0" anchor="ctr">
            <a:spAutoFit/>
          </a:bodyPr>
          <a:lstStyle/>
          <a:p>
            <a:pPr algn="l">
              <a:lnSpc>
                <a:spcPct val="120000"/>
              </a:lnSpc>
            </a:pPr>
            <a:r>
              <a:rPr sz="1650" b="1" i="0">
                <a:solidFill>
                  <a:srgbClr val="1A2B4C"/>
                </a:solidFill>
                <a:latin typeface="Times New Roman"/>
              </a:rPr>
              <a:t>Greater Thal, Indus Right Bank</a:t>
            </a:r>
          </a:p>
        </p:txBody>
      </p:sp>
      <p:sp>
        <p:nvSpPr>
          <p:cNvPr id="39" name="TextBox 38"/>
          <p:cNvSpPr txBox="1"/>
          <p:nvPr/>
        </p:nvSpPr>
        <p:spPr>
          <a:xfrm>
            <a:off x="12344400" y="5153025"/>
            <a:ext cx="4600575"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0" i="0">
                <a:solidFill>
                  <a:srgbClr val="1A2B4C"/>
                </a:solidFill>
                <a:latin typeface="Times New Roman"/>
              </a:rPr>
              <a:t>Greater Thal Canal (1981) opened the Dera Ghazi Khan doab</a:t>
            </a:r>
          </a:p>
        </p:txBody>
      </p:sp>
      <p:sp>
        <p:nvSpPr>
          <p:cNvPr id="40" name="TextBox 39"/>
          <p:cNvSpPr txBox="1"/>
          <p:nvPr/>
        </p:nvSpPr>
        <p:spPr>
          <a:xfrm>
            <a:off x="12344400" y="5381625"/>
            <a:ext cx="4600575"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0" i="0">
                <a:solidFill>
                  <a:srgbClr val="1A2B4C"/>
                </a:solidFill>
                <a:latin typeface="Times New Roman"/>
              </a:rPr>
              <a:t>Kachhi Canal extension (2017) in Balochistan</a:t>
            </a:r>
          </a:p>
        </p:txBody>
      </p:sp>
      <p:sp>
        <p:nvSpPr>
          <p:cNvPr id="41" name="TextBox 40"/>
          <p:cNvSpPr txBox="1"/>
          <p:nvPr/>
        </p:nvSpPr>
        <p:spPr>
          <a:xfrm>
            <a:off x="12344400" y="5610225"/>
            <a:ext cx="4600575"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0" i="0">
                <a:solidFill>
                  <a:srgbClr val="1A2B4C"/>
                </a:solidFill>
                <a:latin typeface="Times New Roman"/>
              </a:rPr>
              <a:t>Diamer-Bhasha Dam under construction</a:t>
            </a:r>
          </a:p>
        </p:txBody>
      </p:sp>
      <p:sp>
        <p:nvSpPr>
          <p:cNvPr id="42" name="TextBox 41"/>
          <p:cNvSpPr txBox="1"/>
          <p:nvPr/>
        </p:nvSpPr>
        <p:spPr>
          <a:xfrm>
            <a:off x="12344400" y="5838825"/>
            <a:ext cx="4600575"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0" i="0">
                <a:solidFill>
                  <a:srgbClr val="1A2B4C"/>
                </a:solidFill>
                <a:latin typeface="Times New Roman"/>
              </a:rPr>
              <a:t>Moho-Jalwana, Rainee canals extend Sindh coverage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00" cy="685800"/>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791950" y="1009650"/>
            <a:ext cx="5372100" cy="55245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Image: Schematic of the Indus Basin Irrigation System — Tarbela &amp; Mangla reservoirs, link canals (Jhelum–Chenab, Chenab–Ravi), trimmu/sidhnai barrages, into Nara–Panjnad tail.</a:t>
            </a:r>
          </a:p>
        </p:txBody>
      </p:sp>
      <p:sp>
        <p:nvSpPr>
          <p:cNvPr id="5" name="TextBox 4"/>
          <p:cNvSpPr txBox="1"/>
          <p:nvPr/>
        </p:nvSpPr>
        <p:spPr>
          <a:xfrm>
            <a:off x="1123950" y="190500"/>
            <a:ext cx="11468100" cy="209550"/>
          </a:xfrm>
          <a:prstGeom prst="rect">
            <a:avLst/>
          </a:prstGeom>
          <a:noFill/>
        </p:spPr>
        <p:txBody>
          <a:bodyPr wrap="square" lIns="0" rIns="0" tIns="0" bIns="0" anchor="ctr">
            <a:spAutoFit/>
          </a:bodyPr>
          <a:lstStyle/>
          <a:p>
            <a:pPr algn="l">
              <a:lnSpc>
                <a:spcPct val="120000"/>
              </a:lnSpc>
            </a:pPr>
            <a:r>
              <a:rPr sz="1200" b="0" i="0">
                <a:solidFill>
                  <a:srgbClr val="FFFFFF"/>
                </a:solidFill>
                <a:latin typeface="Times New Roman"/>
              </a:rPr>
              <a:t>15 · Detail B · distribution network — canals, watercourses, tubewells</a:t>
            </a:r>
          </a:p>
        </p:txBody>
      </p:sp>
      <p:sp>
        <p:nvSpPr>
          <p:cNvPr id="6" name="TextBox 5"/>
          <p:cNvSpPr txBox="1"/>
          <p:nvPr/>
        </p:nvSpPr>
        <p:spPr>
          <a:xfrm>
            <a:off x="16173450" y="190500"/>
            <a:ext cx="1181100" cy="323850"/>
          </a:xfrm>
          <a:prstGeom prst="rect">
            <a:avLst/>
          </a:prstGeom>
          <a:noFill/>
        </p:spPr>
        <p:txBody>
          <a:bodyPr wrap="square" lIns="0" rIns="0" tIns="0" bIns="0" anchor="ctr">
            <a:spAutoFit/>
          </a:bodyPr>
          <a:lstStyle/>
          <a:p>
            <a:pPr algn="r">
              <a:lnSpc>
                <a:spcPct val="120000"/>
              </a:lnSpc>
            </a:pPr>
            <a:r>
              <a:rPr sz="1050" b="0" i="1">
                <a:solidFill>
                  <a:srgbClr val="C81D25"/>
                </a:solidFill>
                <a:latin typeface="Times New Roman"/>
              </a:rPr>
              <a:t>15 / 22</a:t>
            </a:r>
          </a:p>
        </p:txBody>
      </p:sp>
      <p:sp>
        <p:nvSpPr>
          <p:cNvPr id="7" name="TextBox 6"/>
          <p:cNvSpPr txBox="1"/>
          <p:nvPr/>
        </p:nvSpPr>
        <p:spPr>
          <a:xfrm>
            <a:off x="1123950" y="1009650"/>
            <a:ext cx="7658100" cy="41910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Detail B</a:t>
            </a:r>
          </a:p>
        </p:txBody>
      </p:sp>
      <p:sp>
        <p:nvSpPr>
          <p:cNvPr id="8" name="TextBox 7"/>
          <p:cNvSpPr txBox="1"/>
          <p:nvPr/>
        </p:nvSpPr>
        <p:spPr>
          <a:xfrm>
            <a:off x="1123950" y="1600200"/>
            <a:ext cx="16040100" cy="567928"/>
          </a:xfrm>
          <a:prstGeom prst="rect">
            <a:avLst/>
          </a:prstGeom>
          <a:noFill/>
        </p:spPr>
        <p:txBody>
          <a:bodyPr wrap="square" lIns="0" rIns="0" tIns="0" bIns="0" anchor="ctr">
            <a:spAutoFit/>
          </a:bodyPr>
          <a:lstStyle/>
          <a:p>
            <a:pPr algn="l">
              <a:lnSpc>
                <a:spcPct val="107000"/>
              </a:lnSpc>
            </a:pPr>
            <a:r>
              <a:rPr sz="3900" b="1" i="0">
                <a:solidFill>
                  <a:srgbClr val="1A2B4C"/>
                </a:solidFill>
                <a:latin typeface="Times New Roman"/>
              </a:rPr>
              <a:t> Three-tier hierarchy: </a:t>
            </a:r>
            <a:r>
              <a:rPr sz="3900" b="1" i="0">
                <a:solidFill>
                  <a:srgbClr val="C81D25"/>
                </a:solidFill>
                <a:latin typeface="Times New Roman"/>
              </a:rPr>
              <a:t>main canal → distributary → watercourse</a:t>
            </a:r>
            <a:r>
              <a:rPr sz="3900" b="1" i="0">
                <a:solidFill>
                  <a:srgbClr val="1A2B4C"/>
                </a:solidFill>
                <a:latin typeface="Times New Roman"/>
              </a:rPr>
              <a:t>. </a:t>
            </a:r>
          </a:p>
        </p:txBody>
      </p:sp>
      <p:sp>
        <p:nvSpPr>
          <p:cNvPr id="9" name="TextBox 8"/>
          <p:cNvSpPr txBox="1"/>
          <p:nvPr/>
        </p:nvSpPr>
        <p:spPr>
          <a:xfrm>
            <a:off x="1123950" y="3752850"/>
            <a:ext cx="10325100" cy="38100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Water flows by gravity (former colonial canals designed around slope) and pump (modern tubewells) through a pyramid of channels. At the base of the pyramid sits the farmer’s </a:t>
            </a:r>
            <a:r>
              <a:rPr sz="1200" b="0" i="1">
                <a:solidFill>
                  <a:srgbClr val="000000"/>
                </a:solidFill>
                <a:latin typeface="Times New Roman"/>
              </a:rPr>
              <a:t>watercourse</a:t>
            </a:r>
            <a:r>
              <a:rPr sz="1200" b="0" i="0">
                <a:solidFill>
                  <a:srgbClr val="000000"/>
                </a:solidFill>
                <a:latin typeface="Times New Roman"/>
              </a:rPr>
              <a:t> — the small earthen ditch that connects the system to the field.</a:t>
            </a:r>
          </a:p>
        </p:txBody>
      </p:sp>
      <p:sp>
        <p:nvSpPr>
          <p:cNvPr id="10" name="Rectangle 9"/>
          <p:cNvSpPr/>
          <p:nvPr/>
        </p:nvSpPr>
        <p:spPr>
          <a:xfrm>
            <a:off x="1143000" y="4667250"/>
            <a:ext cx="10287000" cy="9525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43000" y="4667250"/>
            <a:ext cx="57150" cy="952500"/>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390650" y="4819650"/>
            <a:ext cx="9848850" cy="190500"/>
          </a:xfrm>
          <a:prstGeom prst="rect">
            <a:avLst/>
          </a:prstGeom>
          <a:noFill/>
        </p:spPr>
        <p:txBody>
          <a:bodyPr wrap="square" lIns="0" rIns="0" tIns="0" bIns="0" anchor="ctr">
            <a:spAutoFit/>
          </a:bodyPr>
          <a:lstStyle/>
          <a:p>
            <a:pPr algn="l">
              <a:lnSpc>
                <a:spcPct val="120000"/>
              </a:lnSpc>
            </a:pPr>
            <a:r>
              <a:rPr sz="980" b="0" i="0" spc="136">
                <a:solidFill>
                  <a:srgbClr val="C81D25"/>
                </a:solidFill>
                <a:latin typeface="Times New Roman"/>
              </a:rPr>
              <a:t>MAIN CANALS</a:t>
            </a:r>
          </a:p>
        </p:txBody>
      </p:sp>
      <p:sp>
        <p:nvSpPr>
          <p:cNvPr id="13" name="TextBox 12"/>
          <p:cNvSpPr txBox="1"/>
          <p:nvPr/>
        </p:nvSpPr>
        <p:spPr>
          <a:xfrm>
            <a:off x="1390650" y="5029200"/>
            <a:ext cx="9848850" cy="238125"/>
          </a:xfrm>
          <a:prstGeom prst="rect">
            <a:avLst/>
          </a:prstGeom>
          <a:noFill/>
        </p:spPr>
        <p:txBody>
          <a:bodyPr wrap="square" lIns="0" rIns="0" tIns="0" bIns="0" anchor="ctr">
            <a:spAutoFit/>
          </a:bodyPr>
          <a:lstStyle/>
          <a:p>
            <a:pPr algn="l">
              <a:lnSpc>
                <a:spcPct val="120000"/>
              </a:lnSpc>
            </a:pPr>
            <a:r>
              <a:rPr sz="1350" b="1" i="0">
                <a:solidFill>
                  <a:srgbClr val="1A2B4C"/>
                </a:solidFill>
                <a:latin typeface="Times New Roman"/>
              </a:rPr>
              <a:t>Trunk lines: Upper Bari Doab, Lower Chenab, Lower Jhelum, Sidhnai, Nara, Panjnad</a:t>
            </a:r>
          </a:p>
        </p:txBody>
      </p:sp>
      <p:sp>
        <p:nvSpPr>
          <p:cNvPr id="14" name="TextBox 13"/>
          <p:cNvSpPr txBox="1"/>
          <p:nvPr/>
        </p:nvSpPr>
        <p:spPr>
          <a:xfrm>
            <a:off x="1390650" y="5267325"/>
            <a:ext cx="9848850" cy="200025"/>
          </a:xfrm>
          <a:prstGeom prst="rect">
            <a:avLst/>
          </a:prstGeom>
          <a:noFill/>
        </p:spPr>
        <p:txBody>
          <a:bodyPr wrap="square" lIns="0" rIns="0" tIns="0" bIns="0" anchor="ctr">
            <a:spAutoFit/>
          </a:bodyPr>
          <a:lstStyle/>
          <a:p>
            <a:pPr algn="l">
              <a:lnSpc>
                <a:spcPct val="120000"/>
              </a:lnSpc>
            </a:pPr>
            <a:r>
              <a:rPr sz="1120" b="0" i="0">
                <a:solidFill>
                  <a:srgbClr val="5B6E94"/>
                </a:solidFill>
                <a:latin typeface="Times New Roman"/>
              </a:rPr>
              <a:t>Capacity from 200 to &gt;500 m³/sec; rim-stations regulated by WAPDA.</a:t>
            </a:r>
          </a:p>
        </p:txBody>
      </p:sp>
      <p:sp>
        <p:nvSpPr>
          <p:cNvPr id="15" name="Rectangle 14"/>
          <p:cNvSpPr/>
          <p:nvPr/>
        </p:nvSpPr>
        <p:spPr>
          <a:xfrm>
            <a:off x="1143000" y="5753100"/>
            <a:ext cx="10287000" cy="9525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143000" y="5753100"/>
            <a:ext cx="57150" cy="952500"/>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90650" y="5905500"/>
            <a:ext cx="9848850" cy="190500"/>
          </a:xfrm>
          <a:prstGeom prst="rect">
            <a:avLst/>
          </a:prstGeom>
          <a:noFill/>
        </p:spPr>
        <p:txBody>
          <a:bodyPr wrap="square" lIns="0" rIns="0" tIns="0" bIns="0" anchor="ctr">
            <a:spAutoFit/>
          </a:bodyPr>
          <a:lstStyle/>
          <a:p>
            <a:pPr algn="l">
              <a:lnSpc>
                <a:spcPct val="120000"/>
              </a:lnSpc>
            </a:pPr>
            <a:r>
              <a:rPr sz="980" b="0" i="0" spc="136">
                <a:solidFill>
                  <a:srgbClr val="C81D25"/>
                </a:solidFill>
                <a:latin typeface="Times New Roman"/>
              </a:rPr>
              <a:t>DISTRIBUTARIES &amp; MINORS</a:t>
            </a:r>
          </a:p>
        </p:txBody>
      </p:sp>
      <p:sp>
        <p:nvSpPr>
          <p:cNvPr id="18" name="TextBox 17"/>
          <p:cNvSpPr txBox="1"/>
          <p:nvPr/>
        </p:nvSpPr>
        <p:spPr>
          <a:xfrm>
            <a:off x="1390650" y="6115050"/>
            <a:ext cx="9848850" cy="238125"/>
          </a:xfrm>
          <a:prstGeom prst="rect">
            <a:avLst/>
          </a:prstGeom>
          <a:noFill/>
        </p:spPr>
        <p:txBody>
          <a:bodyPr wrap="square" lIns="0" rIns="0" tIns="0" bIns="0" anchor="ctr">
            <a:spAutoFit/>
          </a:bodyPr>
          <a:lstStyle/>
          <a:p>
            <a:pPr algn="l">
              <a:lnSpc>
                <a:spcPct val="120000"/>
              </a:lnSpc>
            </a:pPr>
            <a:r>
              <a:rPr sz="1350" b="1" i="0">
                <a:solidFill>
                  <a:srgbClr val="1A2B4C"/>
                </a:solidFill>
                <a:latin typeface="Times New Roman"/>
              </a:rPr>
              <a:t>~6,000 distributaries branching to ~135,000 watercourses</a:t>
            </a:r>
          </a:p>
        </p:txBody>
      </p:sp>
      <p:sp>
        <p:nvSpPr>
          <p:cNvPr id="19" name="TextBox 18"/>
          <p:cNvSpPr txBox="1"/>
          <p:nvPr/>
        </p:nvSpPr>
        <p:spPr>
          <a:xfrm>
            <a:off x="1390650" y="6353175"/>
            <a:ext cx="9848850" cy="200025"/>
          </a:xfrm>
          <a:prstGeom prst="rect">
            <a:avLst/>
          </a:prstGeom>
          <a:noFill/>
        </p:spPr>
        <p:txBody>
          <a:bodyPr wrap="square" lIns="0" rIns="0" tIns="0" bIns="0" anchor="ctr">
            <a:spAutoFit/>
          </a:bodyPr>
          <a:lstStyle/>
          <a:p>
            <a:pPr algn="l">
              <a:lnSpc>
                <a:spcPct val="120000"/>
              </a:lnSpc>
            </a:pPr>
            <a:r>
              <a:rPr sz="1120" b="0" i="0">
                <a:solidFill>
                  <a:srgbClr val="5B6E94"/>
                </a:solidFill>
                <a:latin typeface="Times New Roman"/>
              </a:rPr>
              <a:t>Maintained by provincial Irrigation Departments (Punjab, Sindh, KPK, Balochistan).</a:t>
            </a:r>
          </a:p>
        </p:txBody>
      </p:sp>
      <p:sp>
        <p:nvSpPr>
          <p:cNvPr id="20" name="Rectangle 19"/>
          <p:cNvSpPr/>
          <p:nvPr/>
        </p:nvSpPr>
        <p:spPr>
          <a:xfrm>
            <a:off x="1143000" y="6838950"/>
            <a:ext cx="10287000" cy="9525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1143000" y="6838950"/>
            <a:ext cx="57150" cy="952500"/>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390650" y="6991350"/>
            <a:ext cx="9848850" cy="190500"/>
          </a:xfrm>
          <a:prstGeom prst="rect">
            <a:avLst/>
          </a:prstGeom>
          <a:noFill/>
        </p:spPr>
        <p:txBody>
          <a:bodyPr wrap="square" lIns="0" rIns="0" tIns="0" bIns="0" anchor="ctr">
            <a:spAutoFit/>
          </a:bodyPr>
          <a:lstStyle/>
          <a:p>
            <a:pPr algn="l">
              <a:lnSpc>
                <a:spcPct val="120000"/>
              </a:lnSpc>
            </a:pPr>
            <a:r>
              <a:rPr sz="980" b="0" i="0" spc="136">
                <a:solidFill>
                  <a:srgbClr val="C81D25"/>
                </a:solidFill>
                <a:latin typeface="Times New Roman"/>
              </a:rPr>
              <a:t>TUBEWELLS</a:t>
            </a:r>
          </a:p>
        </p:txBody>
      </p:sp>
      <p:sp>
        <p:nvSpPr>
          <p:cNvPr id="23" name="TextBox 22"/>
          <p:cNvSpPr txBox="1"/>
          <p:nvPr/>
        </p:nvSpPr>
        <p:spPr>
          <a:xfrm>
            <a:off x="1390650" y="7200900"/>
            <a:ext cx="9848850" cy="238125"/>
          </a:xfrm>
          <a:prstGeom prst="rect">
            <a:avLst/>
          </a:prstGeom>
          <a:noFill/>
        </p:spPr>
        <p:txBody>
          <a:bodyPr wrap="square" lIns="0" rIns="0" tIns="0" bIns="0" anchor="ctr">
            <a:spAutoFit/>
          </a:bodyPr>
          <a:lstStyle/>
          <a:p>
            <a:pPr algn="l">
              <a:lnSpc>
                <a:spcPct val="120000"/>
              </a:lnSpc>
            </a:pPr>
            <a:r>
              <a:rPr sz="1350" b="1" i="0">
                <a:solidFill>
                  <a:srgbClr val="1A2B4C"/>
                </a:solidFill>
                <a:latin typeface="Times New Roman"/>
              </a:rPr>
              <a:t>Private submersible pumps fill the groundwater gap</a:t>
            </a:r>
          </a:p>
        </p:txBody>
      </p:sp>
      <p:sp>
        <p:nvSpPr>
          <p:cNvPr id="24" name="TextBox 23"/>
          <p:cNvSpPr txBox="1"/>
          <p:nvPr/>
        </p:nvSpPr>
        <p:spPr>
          <a:xfrm>
            <a:off x="1390650" y="7439025"/>
            <a:ext cx="9848850" cy="200025"/>
          </a:xfrm>
          <a:prstGeom prst="rect">
            <a:avLst/>
          </a:prstGeom>
          <a:noFill/>
        </p:spPr>
        <p:txBody>
          <a:bodyPr wrap="square" lIns="0" rIns="0" tIns="0" bIns="0" anchor="ctr">
            <a:spAutoFit/>
          </a:bodyPr>
          <a:lstStyle/>
          <a:p>
            <a:pPr algn="l">
              <a:lnSpc>
                <a:spcPct val="120000"/>
              </a:lnSpc>
            </a:pPr>
            <a:r>
              <a:rPr sz="1120" b="0" i="0">
                <a:solidFill>
                  <a:srgbClr val="5B6E94"/>
                </a:solidFill>
                <a:latin typeface="Times New Roman"/>
              </a:rPr>
              <a:t>By 2020, groundwater withdrawal ~50% of total irrigation supply; much is saline.</a:t>
            </a:r>
          </a:p>
        </p:txBody>
      </p:sp>
      <p:sp>
        <p:nvSpPr>
          <p:cNvPr id="25" name="Rectangle 24"/>
          <p:cNvSpPr/>
          <p:nvPr/>
        </p:nvSpPr>
        <p:spPr>
          <a:xfrm>
            <a:off x="1143000" y="7924800"/>
            <a:ext cx="10287000" cy="9525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1143000" y="7924800"/>
            <a:ext cx="57150" cy="952500"/>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1390650" y="8077200"/>
            <a:ext cx="9848850" cy="190500"/>
          </a:xfrm>
          <a:prstGeom prst="rect">
            <a:avLst/>
          </a:prstGeom>
          <a:noFill/>
        </p:spPr>
        <p:txBody>
          <a:bodyPr wrap="square" lIns="0" rIns="0" tIns="0" bIns="0" anchor="ctr">
            <a:spAutoFit/>
          </a:bodyPr>
          <a:lstStyle/>
          <a:p>
            <a:pPr algn="l">
              <a:lnSpc>
                <a:spcPct val="120000"/>
              </a:lnSpc>
            </a:pPr>
            <a:r>
              <a:rPr sz="980" b="0" i="0" spc="136">
                <a:solidFill>
                  <a:srgbClr val="C81D25"/>
                </a:solidFill>
                <a:latin typeface="Times New Roman"/>
              </a:rPr>
              <a:t>REFORM AND MANAGEMENT TRANSFER</a:t>
            </a:r>
          </a:p>
        </p:txBody>
      </p:sp>
      <p:sp>
        <p:nvSpPr>
          <p:cNvPr id="28" name="TextBox 27"/>
          <p:cNvSpPr txBox="1"/>
          <p:nvPr/>
        </p:nvSpPr>
        <p:spPr>
          <a:xfrm>
            <a:off x="1390650" y="8286750"/>
            <a:ext cx="9848850" cy="238125"/>
          </a:xfrm>
          <a:prstGeom prst="rect">
            <a:avLst/>
          </a:prstGeom>
          <a:noFill/>
        </p:spPr>
        <p:txBody>
          <a:bodyPr wrap="square" lIns="0" rIns="0" tIns="0" bIns="0" anchor="ctr">
            <a:spAutoFit/>
          </a:bodyPr>
          <a:lstStyle/>
          <a:p>
            <a:pPr algn="l">
              <a:lnSpc>
                <a:spcPct val="120000"/>
              </a:lnSpc>
            </a:pPr>
            <a:r>
              <a:rPr sz="1350" b="1" i="0">
                <a:solidFill>
                  <a:srgbClr val="1A2B4C"/>
                </a:solidFill>
                <a:latin typeface="Times New Roman"/>
              </a:rPr>
              <a:t>Area Water Boards (Sindh), Farmer Organisations (Punjab)</a:t>
            </a:r>
          </a:p>
        </p:txBody>
      </p:sp>
      <p:sp>
        <p:nvSpPr>
          <p:cNvPr id="29" name="TextBox 28"/>
          <p:cNvSpPr txBox="1"/>
          <p:nvPr/>
        </p:nvSpPr>
        <p:spPr>
          <a:xfrm>
            <a:off x="1390650" y="8524875"/>
            <a:ext cx="9848850" cy="200025"/>
          </a:xfrm>
          <a:prstGeom prst="rect">
            <a:avLst/>
          </a:prstGeom>
          <a:noFill/>
        </p:spPr>
        <p:txBody>
          <a:bodyPr wrap="square" lIns="0" rIns="0" tIns="0" bIns="0" anchor="ctr">
            <a:spAutoFit/>
          </a:bodyPr>
          <a:lstStyle/>
          <a:p>
            <a:pPr algn="l">
              <a:lnSpc>
                <a:spcPct val="120000"/>
              </a:lnSpc>
            </a:pPr>
            <a:r>
              <a:rPr sz="1120" b="0" i="0">
                <a:solidFill>
                  <a:srgbClr val="5B6E94"/>
                </a:solidFill>
                <a:latin typeface="Times New Roman"/>
              </a:rPr>
              <a:t>1994–2000 reforms devolved irrigation management to farmer organisations — an on-going institutional shift.</a:t>
            </a:r>
          </a:p>
        </p:txBody>
      </p:sp>
      <p:sp>
        <p:nvSpPr>
          <p:cNvPr id="30" name="Rectangle 29"/>
          <p:cNvSpPr/>
          <p:nvPr/>
        </p:nvSpPr>
        <p:spPr>
          <a:xfrm>
            <a:off x="11811000" y="6172200"/>
            <a:ext cx="5334000" cy="1994445"/>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2039600" y="6381750"/>
            <a:ext cx="4876800" cy="190500"/>
          </a:xfrm>
          <a:prstGeom prst="rect">
            <a:avLst/>
          </a:prstGeom>
          <a:noFill/>
        </p:spPr>
        <p:txBody>
          <a:bodyPr wrap="square" lIns="0" rIns="0" tIns="0" bIns="0" anchor="ctr">
            <a:spAutoFit/>
          </a:bodyPr>
          <a:lstStyle/>
          <a:p>
            <a:pPr algn="l">
              <a:lnSpc>
                <a:spcPct val="120000"/>
              </a:lnSpc>
            </a:pPr>
            <a:r>
              <a:rPr sz="980" b="0" i="1" spc="136">
                <a:solidFill>
                  <a:srgbClr val="FFFFFF"/>
                </a:solidFill>
                <a:latin typeface="Times New Roman"/>
              </a:rPr>
              <a:t>Headline statistic</a:t>
            </a:r>
          </a:p>
        </p:txBody>
      </p:sp>
      <p:sp>
        <p:nvSpPr>
          <p:cNvPr id="32" name="TextBox 31"/>
          <p:cNvSpPr txBox="1"/>
          <p:nvPr/>
        </p:nvSpPr>
        <p:spPr>
          <a:xfrm>
            <a:off x="12039600" y="6629400"/>
            <a:ext cx="4876800" cy="561975"/>
          </a:xfrm>
          <a:prstGeom prst="rect">
            <a:avLst/>
          </a:prstGeom>
          <a:noFill/>
        </p:spPr>
        <p:txBody>
          <a:bodyPr wrap="square" lIns="0" rIns="0" tIns="0" bIns="0" anchor="ctr">
            <a:spAutoFit/>
          </a:bodyPr>
          <a:lstStyle/>
          <a:p>
            <a:pPr algn="l">
              <a:lnSpc>
                <a:spcPct val="120000"/>
              </a:lnSpc>
            </a:pPr>
            <a:r>
              <a:rPr sz="3600" b="1" i="0">
                <a:solidFill>
                  <a:srgbClr val="FFFFFF"/>
                </a:solidFill>
                <a:latin typeface="Times New Roman"/>
              </a:rPr>
              <a:t>3,000 mm</a:t>
            </a:r>
          </a:p>
        </p:txBody>
      </p:sp>
      <p:sp>
        <p:nvSpPr>
          <p:cNvPr id="33" name="TextBox 32"/>
          <p:cNvSpPr txBox="1"/>
          <p:nvPr/>
        </p:nvSpPr>
        <p:spPr>
          <a:xfrm>
            <a:off x="12039600" y="7210425"/>
            <a:ext cx="4876800" cy="746670"/>
          </a:xfrm>
          <a:prstGeom prst="rect">
            <a:avLst/>
          </a:prstGeom>
          <a:noFill/>
        </p:spPr>
        <p:txBody>
          <a:bodyPr wrap="square" lIns="0" rIns="0" tIns="0" bIns="0" anchor="t">
            <a:spAutoFit/>
          </a:bodyPr>
          <a:lstStyle/>
          <a:p>
            <a:pPr algn="l">
              <a:lnSpc>
                <a:spcPct val="155000"/>
              </a:lnSpc>
            </a:pPr>
            <a:r>
              <a:rPr sz="1200" b="0" i="0">
                <a:solidFill>
                  <a:srgbClr val="FFFFFF"/>
                </a:solidFill>
                <a:latin typeface="Times New Roman"/>
              </a:rPr>
              <a:t>Highest annual irrigation-depth (water applied per hectare) in the lower Indus delta — a figure that signals both water abundance </a:t>
            </a:r>
            <a:r>
              <a:rPr sz="1200" b="0" i="1">
                <a:solidFill>
                  <a:srgbClr val="FFFFFF"/>
                </a:solidFill>
                <a:latin typeface="Times New Roman"/>
              </a:rPr>
              <a:t>and</a:t>
            </a:r>
            <a:r>
              <a:rPr sz="1200" b="0" i="0">
                <a:solidFill>
                  <a:srgbClr val="FFFFFF"/>
                </a:solidFill>
                <a:latin typeface="Times New Roman"/>
              </a:rPr>
              <a:t> salinity risk (FAO/WAPDA).</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00" cy="685800"/>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791950" y="1009650"/>
            <a:ext cx="5372100" cy="38100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Image: Side-by-side maps — (left) water-table depth 2020, (right) root-zone salinity map 2020 — showing the puzzling divergence.</a:t>
            </a:r>
          </a:p>
        </p:txBody>
      </p:sp>
      <p:sp>
        <p:nvSpPr>
          <p:cNvPr id="5" name="TextBox 4"/>
          <p:cNvSpPr txBox="1"/>
          <p:nvPr/>
        </p:nvSpPr>
        <p:spPr>
          <a:xfrm>
            <a:off x="1123950" y="190500"/>
            <a:ext cx="11468100" cy="209550"/>
          </a:xfrm>
          <a:prstGeom prst="rect">
            <a:avLst/>
          </a:prstGeom>
          <a:noFill/>
        </p:spPr>
        <p:txBody>
          <a:bodyPr wrap="square" lIns="0" rIns="0" tIns="0" bIns="0" anchor="ctr">
            <a:spAutoFit/>
          </a:bodyPr>
          <a:lstStyle/>
          <a:p>
            <a:pPr algn="l">
              <a:lnSpc>
                <a:spcPct val="120000"/>
              </a:lnSpc>
            </a:pPr>
            <a:r>
              <a:rPr sz="1200" b="0" i="0">
                <a:solidFill>
                  <a:srgbClr val="FFFFFF"/>
                </a:solidFill>
                <a:latin typeface="Times New Roman"/>
              </a:rPr>
              <a:t>16 · Controversy · waterlogging, salinity, and the storage crisis</a:t>
            </a:r>
          </a:p>
        </p:txBody>
      </p:sp>
      <p:sp>
        <p:nvSpPr>
          <p:cNvPr id="6" name="TextBox 5"/>
          <p:cNvSpPr txBox="1"/>
          <p:nvPr/>
        </p:nvSpPr>
        <p:spPr>
          <a:xfrm>
            <a:off x="16173450" y="190500"/>
            <a:ext cx="1181100" cy="323850"/>
          </a:xfrm>
          <a:prstGeom prst="rect">
            <a:avLst/>
          </a:prstGeom>
          <a:noFill/>
        </p:spPr>
        <p:txBody>
          <a:bodyPr wrap="square" lIns="0" rIns="0" tIns="0" bIns="0" anchor="ctr">
            <a:spAutoFit/>
          </a:bodyPr>
          <a:lstStyle/>
          <a:p>
            <a:pPr algn="r">
              <a:lnSpc>
                <a:spcPct val="120000"/>
              </a:lnSpc>
            </a:pPr>
            <a:r>
              <a:rPr sz="1050" b="0" i="1">
                <a:solidFill>
                  <a:srgbClr val="C81D25"/>
                </a:solidFill>
                <a:latin typeface="Times New Roman"/>
              </a:rPr>
              <a:t>16 / 22</a:t>
            </a:r>
          </a:p>
        </p:txBody>
      </p:sp>
      <p:sp>
        <p:nvSpPr>
          <p:cNvPr id="7" name="TextBox 6"/>
          <p:cNvSpPr txBox="1"/>
          <p:nvPr/>
        </p:nvSpPr>
        <p:spPr>
          <a:xfrm>
            <a:off x="1123950" y="1009650"/>
            <a:ext cx="7658100" cy="419100"/>
          </a:xfrm>
          <a:prstGeom prst="rect">
            <a:avLst/>
          </a:prstGeom>
          <a:noFill/>
        </p:spPr>
        <p:txBody>
          <a:bodyPr wrap="square" lIns="0" rIns="0" tIns="0" bIns="0" anchor="t">
            <a:spAutoFit/>
          </a:bodyPr>
          <a:lstStyle/>
          <a:p>
            <a:pPr algn="l">
              <a:lnSpc>
                <a:spcPct val="120000"/>
              </a:lnSpc>
            </a:pPr>
            <a:r>
              <a:rPr sz="1200" b="0" i="0">
                <a:solidFill>
                  <a:srgbClr val="C81D25"/>
                </a:solidFill>
                <a:latin typeface="Times New Roman"/>
              </a:rPr>
              <a:t>Controversy · diverging evidence</a:t>
            </a:r>
          </a:p>
        </p:txBody>
      </p:sp>
      <p:sp>
        <p:nvSpPr>
          <p:cNvPr id="8" name="Rectangle 7"/>
          <p:cNvSpPr/>
          <p:nvPr/>
        </p:nvSpPr>
        <p:spPr>
          <a:xfrm>
            <a:off x="1143000" y="1019175"/>
            <a:ext cx="2060376" cy="1809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43000" y="1019175"/>
            <a:ext cx="2060376" cy="9525"/>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193851" y="1019175"/>
            <a:ext cx="9525" cy="180975"/>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43000" y="1190625"/>
            <a:ext cx="2060376" cy="9525"/>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43000" y="1019175"/>
            <a:ext cx="9525" cy="180975"/>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23950" y="1600200"/>
            <a:ext cx="16040100" cy="1138535"/>
          </a:xfrm>
          <a:prstGeom prst="rect">
            <a:avLst/>
          </a:prstGeom>
          <a:noFill/>
        </p:spPr>
        <p:txBody>
          <a:bodyPr wrap="square" lIns="0" rIns="0" tIns="0" bIns="0" anchor="t">
            <a:spAutoFit/>
          </a:bodyPr>
          <a:lstStyle/>
          <a:p>
            <a:pPr algn="l">
              <a:lnSpc>
                <a:spcPct val="107000"/>
              </a:lnSpc>
            </a:pPr>
            <a:r>
              <a:rPr sz="4050" b="1" i="0">
                <a:solidFill>
                  <a:srgbClr val="1A2B4C"/>
                </a:solidFill>
                <a:latin typeface="Times New Roman"/>
              </a:rPr>
              <a:t> The same canals that </a:t>
            </a:r>
            <a:r>
              <a:rPr sz="4050" b="1" i="0">
                <a:solidFill>
                  <a:srgbClr val="C81D25"/>
                </a:solidFill>
                <a:latin typeface="Times New Roman"/>
              </a:rPr>
              <a:t>created the green revolution</a:t>
            </a:r>
            <a:r>
              <a:rPr sz="4050" b="1" i="0">
                <a:solidFill>
                  <a:srgbClr val="1A2B4C"/>
                </a:solidFill>
                <a:latin typeface="Times New Roman"/>
              </a:rPr>
              <a:t> created a slow-onset land crisis. </a:t>
            </a:r>
          </a:p>
        </p:txBody>
      </p:sp>
      <p:sp>
        <p:nvSpPr>
          <p:cNvPr id="14" name="TextBox 13"/>
          <p:cNvSpPr txBox="1"/>
          <p:nvPr/>
        </p:nvSpPr>
        <p:spPr>
          <a:xfrm>
            <a:off x="1123950" y="3371850"/>
            <a:ext cx="10325100" cy="38100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A classic divergent-evidence slide: official WAPDA figures say waterlogging is on the decline; provincial Department-of-Agriculture figures say salinity is on the increase. Both are correct — they describe </a:t>
            </a:r>
            <a:r>
              <a:rPr sz="1200" b="1" i="0">
                <a:solidFill>
                  <a:srgbClr val="000000"/>
                </a:solidFill>
                <a:latin typeface="Times New Roman"/>
              </a:rPr>
              <a:t>different processes</a:t>
            </a:r>
            <a:r>
              <a:rPr sz="1200" b="0" i="0">
                <a:solidFill>
                  <a:srgbClr val="000000"/>
                </a:solidFill>
                <a:latin typeface="Times New Roman"/>
              </a:rPr>
              <a:t>.</a:t>
            </a:r>
          </a:p>
        </p:txBody>
      </p:sp>
      <p:sp>
        <p:nvSpPr>
          <p:cNvPr id="15" name="Rectangle 14"/>
          <p:cNvSpPr/>
          <p:nvPr/>
        </p:nvSpPr>
        <p:spPr>
          <a:xfrm>
            <a:off x="1143000" y="4286250"/>
            <a:ext cx="5057775" cy="23431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143000" y="4286250"/>
            <a:ext cx="5057775" cy="95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91250" y="4286250"/>
            <a:ext cx="9525" cy="2343150"/>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143000" y="6619875"/>
            <a:ext cx="5057775" cy="95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1143000" y="4286250"/>
            <a:ext cx="57150" cy="2343150"/>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90650" y="4486275"/>
            <a:ext cx="4610100" cy="190500"/>
          </a:xfrm>
          <a:prstGeom prst="rect">
            <a:avLst/>
          </a:prstGeom>
          <a:noFill/>
        </p:spPr>
        <p:txBody>
          <a:bodyPr wrap="square" lIns="0" rIns="0" tIns="0" bIns="0" anchor="ctr">
            <a:spAutoFit/>
          </a:bodyPr>
          <a:lstStyle/>
          <a:p>
            <a:pPr algn="l">
              <a:lnSpc>
                <a:spcPct val="120000"/>
              </a:lnSpc>
            </a:pPr>
            <a:r>
              <a:rPr sz="980" b="0" i="0" spc="136">
                <a:solidFill>
                  <a:srgbClr val="5B6E94"/>
                </a:solidFill>
                <a:latin typeface="Times New Roman"/>
              </a:rPr>
              <a:t>GROUP 01 · INDEPENDENT</a:t>
            </a:r>
          </a:p>
        </p:txBody>
      </p:sp>
      <p:sp>
        <p:nvSpPr>
          <p:cNvPr id="21" name="TextBox 20"/>
          <p:cNvSpPr txBox="1"/>
          <p:nvPr/>
        </p:nvSpPr>
        <p:spPr>
          <a:xfrm>
            <a:off x="1390650" y="4695825"/>
            <a:ext cx="4610100" cy="285750"/>
          </a:xfrm>
          <a:prstGeom prst="rect">
            <a:avLst/>
          </a:prstGeom>
          <a:noFill/>
        </p:spPr>
        <p:txBody>
          <a:bodyPr wrap="square" lIns="0" rIns="0" tIns="0" bIns="0" anchor="ctr">
            <a:spAutoFit/>
          </a:bodyPr>
          <a:lstStyle/>
          <a:p>
            <a:pPr algn="l">
              <a:lnSpc>
                <a:spcPct val="120000"/>
              </a:lnSpc>
            </a:pPr>
            <a:r>
              <a:rPr sz="1650" b="1" i="0">
                <a:solidFill>
                  <a:srgbClr val="1A2B4C"/>
                </a:solidFill>
                <a:latin typeface="Times New Roman"/>
              </a:rPr>
              <a:t>WAPDA / SCARP Programme</a:t>
            </a:r>
          </a:p>
        </p:txBody>
      </p:sp>
      <p:sp>
        <p:nvSpPr>
          <p:cNvPr id="22" name="TextBox 21"/>
          <p:cNvSpPr txBox="1"/>
          <p:nvPr/>
        </p:nvSpPr>
        <p:spPr>
          <a:xfrm>
            <a:off x="1390650" y="4962525"/>
            <a:ext cx="4610100" cy="190500"/>
          </a:xfrm>
          <a:prstGeom prst="rect">
            <a:avLst/>
          </a:prstGeom>
          <a:noFill/>
        </p:spPr>
        <p:txBody>
          <a:bodyPr wrap="square" lIns="0" rIns="0" tIns="0" bIns="0" anchor="ctr">
            <a:spAutoFit/>
          </a:bodyPr>
          <a:lstStyle/>
          <a:p>
            <a:pPr algn="l">
              <a:lnSpc>
                <a:spcPct val="120000"/>
              </a:lnSpc>
            </a:pPr>
            <a:r>
              <a:rPr sz="1050" b="0" i="1">
                <a:solidFill>
                  <a:srgbClr val="5B6E94"/>
                </a:solidFill>
                <a:latin typeface="Times New Roman"/>
              </a:rPr>
              <a:t>Salinity Control &amp; Reclamation Projects</a:t>
            </a:r>
          </a:p>
        </p:txBody>
      </p:sp>
      <p:sp>
        <p:nvSpPr>
          <p:cNvPr id="23" name="TextBox 22"/>
          <p:cNvSpPr txBox="1"/>
          <p:nvPr/>
        </p:nvSpPr>
        <p:spPr>
          <a:xfrm>
            <a:off x="1562100" y="5248275"/>
            <a:ext cx="4438650"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1" i="0">
                <a:solidFill>
                  <a:srgbClr val="1A2B4C"/>
                </a:solidFill>
                <a:latin typeface="Times New Roman"/>
              </a:rPr>
              <a:t>Claim.</a:t>
            </a:r>
            <a:r>
              <a:rPr sz="1120" b="0" i="0">
                <a:solidFill>
                  <a:srgbClr val="1A2B4C"/>
                </a:solidFill>
                <a:latin typeface="Times New Roman"/>
              </a:rPr>
              <a:t> Waterlogged area fell from 2.1 Mha (1978) to ~0.9 Mha (2020)</a:t>
            </a:r>
          </a:p>
        </p:txBody>
      </p:sp>
      <p:sp>
        <p:nvSpPr>
          <p:cNvPr id="24" name="TextBox 23"/>
          <p:cNvSpPr txBox="1"/>
          <p:nvPr/>
        </p:nvSpPr>
        <p:spPr>
          <a:xfrm>
            <a:off x="1562100" y="5476875"/>
            <a:ext cx="4438650" cy="495300"/>
          </a:xfrm>
          <a:prstGeom prst="rect">
            <a:avLst/>
          </a:prstGeom>
          <a:noFill/>
        </p:spPr>
        <p:txBody>
          <a:bodyPr wrap="square" lIns="0" rIns="0" tIns="0" bIns="0" anchor="t">
            <a:spAutoFit/>
          </a:bodyPr>
          <a:lstStyle/>
          <a:p>
            <a:pPr algn="l">
              <a:lnSpc>
                <a:spcPct val="160000"/>
              </a:lnSpc>
            </a:pPr>
            <a:r>
              <a:rPr sz="1120" b="0" i="0">
                <a:solidFill>
                  <a:srgbClr val="1A2B4C"/>
                </a:solidFill>
                <a:latin typeface="Times New Roman"/>
              </a:rPr>
              <a:t>• </a:t>
            </a:r>
            <a:r>
              <a:rPr sz="1120" b="0" i="0">
                <a:solidFill>
                  <a:srgbClr val="1A2B4C"/>
                </a:solidFill>
                <a:latin typeface="Times New Roman"/>
              </a:rPr>
              <a:t>Tile drains installed under SCARP I/II; tubewells lowered shallow water tables</a:t>
            </a:r>
          </a:p>
        </p:txBody>
      </p:sp>
      <p:sp>
        <p:nvSpPr>
          <p:cNvPr id="25" name="TextBox 24"/>
          <p:cNvSpPr txBox="1"/>
          <p:nvPr/>
        </p:nvSpPr>
        <p:spPr>
          <a:xfrm>
            <a:off x="1562100" y="5934075"/>
            <a:ext cx="4438650"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0" i="0">
                <a:solidFill>
                  <a:srgbClr val="1A2B4C"/>
                </a:solidFill>
                <a:latin typeface="Times New Roman"/>
              </a:rPr>
              <a:t>Ondo, LBOD drainage projects in Sindh</a:t>
            </a:r>
          </a:p>
        </p:txBody>
      </p:sp>
      <p:sp>
        <p:nvSpPr>
          <p:cNvPr id="26" name="TextBox 25"/>
          <p:cNvSpPr txBox="1"/>
          <p:nvPr/>
        </p:nvSpPr>
        <p:spPr>
          <a:xfrm>
            <a:off x="1562100" y="6162675"/>
            <a:ext cx="4438650"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0" i="0">
                <a:solidFill>
                  <a:srgbClr val="1A2B4C"/>
                </a:solidFill>
                <a:latin typeface="Times New Roman"/>
              </a:rPr>
              <a:t>Source: WAPDA National Water Management Strategy</a:t>
            </a:r>
          </a:p>
        </p:txBody>
      </p:sp>
      <p:sp>
        <p:nvSpPr>
          <p:cNvPr id="27" name="Rectangle 26"/>
          <p:cNvSpPr/>
          <p:nvPr/>
        </p:nvSpPr>
        <p:spPr>
          <a:xfrm>
            <a:off x="6372225" y="4286250"/>
            <a:ext cx="5057775" cy="234315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372225" y="4286250"/>
            <a:ext cx="5057775" cy="95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11420475" y="4286250"/>
            <a:ext cx="9525" cy="2343150"/>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6372225" y="6619875"/>
            <a:ext cx="5057775" cy="95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6372225" y="4286250"/>
            <a:ext cx="57150" cy="2343150"/>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619875" y="4486275"/>
            <a:ext cx="4610100" cy="190500"/>
          </a:xfrm>
          <a:prstGeom prst="rect">
            <a:avLst/>
          </a:prstGeom>
          <a:noFill/>
        </p:spPr>
        <p:txBody>
          <a:bodyPr wrap="square" lIns="0" rIns="0" tIns="0" bIns="0" anchor="ctr">
            <a:spAutoFit/>
          </a:bodyPr>
          <a:lstStyle/>
          <a:p>
            <a:pPr algn="l">
              <a:lnSpc>
                <a:spcPct val="120000"/>
              </a:lnSpc>
            </a:pPr>
            <a:r>
              <a:rPr sz="980" b="0" i="0" spc="136">
                <a:solidFill>
                  <a:srgbClr val="5B6E94"/>
                </a:solidFill>
                <a:latin typeface="Times New Roman"/>
              </a:rPr>
              <a:t>GROUP 02 · INDEPENDENT</a:t>
            </a:r>
          </a:p>
        </p:txBody>
      </p:sp>
      <p:sp>
        <p:nvSpPr>
          <p:cNvPr id="33" name="TextBox 32"/>
          <p:cNvSpPr txBox="1"/>
          <p:nvPr/>
        </p:nvSpPr>
        <p:spPr>
          <a:xfrm>
            <a:off x="6619875" y="4695825"/>
            <a:ext cx="4610100" cy="285750"/>
          </a:xfrm>
          <a:prstGeom prst="rect">
            <a:avLst/>
          </a:prstGeom>
          <a:noFill/>
        </p:spPr>
        <p:txBody>
          <a:bodyPr wrap="square" lIns="0" rIns="0" tIns="0" bIns="0" anchor="ctr">
            <a:spAutoFit/>
          </a:bodyPr>
          <a:lstStyle/>
          <a:p>
            <a:pPr algn="l">
              <a:lnSpc>
                <a:spcPct val="120000"/>
              </a:lnSpc>
            </a:pPr>
            <a:r>
              <a:rPr sz="1650" b="1" i="0">
                <a:solidFill>
                  <a:srgbClr val="1A2B4C"/>
                </a:solidFill>
                <a:latin typeface="Times New Roman"/>
              </a:rPr>
              <a:t>Pakistan Council of Research in Water Resources</a:t>
            </a:r>
          </a:p>
        </p:txBody>
      </p:sp>
      <p:sp>
        <p:nvSpPr>
          <p:cNvPr id="34" name="TextBox 33"/>
          <p:cNvSpPr txBox="1"/>
          <p:nvPr/>
        </p:nvSpPr>
        <p:spPr>
          <a:xfrm>
            <a:off x="6619875" y="4962525"/>
            <a:ext cx="4610100" cy="190500"/>
          </a:xfrm>
          <a:prstGeom prst="rect">
            <a:avLst/>
          </a:prstGeom>
          <a:noFill/>
        </p:spPr>
        <p:txBody>
          <a:bodyPr wrap="square" lIns="0" rIns="0" tIns="0" bIns="0" anchor="ctr">
            <a:spAutoFit/>
          </a:bodyPr>
          <a:lstStyle/>
          <a:p>
            <a:pPr algn="l">
              <a:lnSpc>
                <a:spcPct val="120000"/>
              </a:lnSpc>
            </a:pPr>
            <a:r>
              <a:rPr sz="1050" b="0" i="1">
                <a:solidFill>
                  <a:srgbClr val="5B6E94"/>
                </a:solidFill>
                <a:latin typeface="Times New Roman"/>
              </a:rPr>
              <a:t>PCRWR provincial surveys</a:t>
            </a:r>
          </a:p>
        </p:txBody>
      </p:sp>
      <p:sp>
        <p:nvSpPr>
          <p:cNvPr id="35" name="TextBox 34"/>
          <p:cNvSpPr txBox="1"/>
          <p:nvPr/>
        </p:nvSpPr>
        <p:spPr>
          <a:xfrm>
            <a:off x="6791325" y="5248275"/>
            <a:ext cx="4438650"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1" i="0">
                <a:solidFill>
                  <a:srgbClr val="1A2B4C"/>
                </a:solidFill>
                <a:latin typeface="Times New Roman"/>
              </a:rPr>
              <a:t>Claim.</a:t>
            </a:r>
            <a:r>
              <a:rPr sz="1120" b="0" i="0">
                <a:solidFill>
                  <a:srgbClr val="1A2B4C"/>
                </a:solidFill>
                <a:latin typeface="Times New Roman"/>
              </a:rPr>
              <a:t> ~4.5 Mha (of 14.5 Mha irrigated) affected by salinity, rising</a:t>
            </a:r>
          </a:p>
        </p:txBody>
      </p:sp>
      <p:sp>
        <p:nvSpPr>
          <p:cNvPr id="36" name="TextBox 35"/>
          <p:cNvSpPr txBox="1"/>
          <p:nvPr/>
        </p:nvSpPr>
        <p:spPr>
          <a:xfrm>
            <a:off x="6791325" y="5476875"/>
            <a:ext cx="4438650"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0" i="0">
                <a:solidFill>
                  <a:srgbClr val="1A2B4C"/>
                </a:solidFill>
                <a:latin typeface="Times New Roman"/>
              </a:rPr>
              <a:t>Most pronounced in southern Sindh and southern Punjab doabs</a:t>
            </a:r>
          </a:p>
        </p:txBody>
      </p:sp>
      <p:sp>
        <p:nvSpPr>
          <p:cNvPr id="37" name="TextBox 36"/>
          <p:cNvSpPr txBox="1"/>
          <p:nvPr/>
        </p:nvSpPr>
        <p:spPr>
          <a:xfrm>
            <a:off x="6791325" y="5705475"/>
            <a:ext cx="4438650"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0" i="0">
                <a:solidFill>
                  <a:srgbClr val="1A2B4C"/>
                </a:solidFill>
                <a:latin typeface="Times New Roman"/>
              </a:rPr>
              <a:t>Yields collapse on saline patches by 20–60%</a:t>
            </a:r>
          </a:p>
        </p:txBody>
      </p:sp>
      <p:sp>
        <p:nvSpPr>
          <p:cNvPr id="38" name="TextBox 37"/>
          <p:cNvSpPr txBox="1"/>
          <p:nvPr/>
        </p:nvSpPr>
        <p:spPr>
          <a:xfrm>
            <a:off x="6791325" y="5934075"/>
            <a:ext cx="4438650"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0" i="0">
                <a:solidFill>
                  <a:srgbClr val="1A2B4C"/>
                </a:solidFill>
                <a:latin typeface="Times New Roman"/>
              </a:rPr>
              <a:t>Source: PCRWR National Water Quality Monitoring Reports</a:t>
            </a:r>
          </a:p>
        </p:txBody>
      </p:sp>
      <p:sp>
        <p:nvSpPr>
          <p:cNvPr id="39" name="Rectangle 38"/>
          <p:cNvSpPr/>
          <p:nvPr/>
        </p:nvSpPr>
        <p:spPr>
          <a:xfrm>
            <a:off x="1143000" y="6838950"/>
            <a:ext cx="10287000" cy="1324272"/>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352550" y="6991350"/>
            <a:ext cx="9867900" cy="190500"/>
          </a:xfrm>
          <a:prstGeom prst="rect">
            <a:avLst/>
          </a:prstGeom>
          <a:noFill/>
        </p:spPr>
        <p:txBody>
          <a:bodyPr wrap="square" lIns="0" rIns="0" tIns="0" bIns="0" anchor="ctr">
            <a:spAutoFit/>
          </a:bodyPr>
          <a:lstStyle/>
          <a:p>
            <a:pPr algn="l">
              <a:lnSpc>
                <a:spcPct val="120000"/>
              </a:lnSpc>
            </a:pPr>
            <a:r>
              <a:rPr sz="980" b="0" i="1" spc="136">
                <a:solidFill>
                  <a:srgbClr val="FF5F66"/>
                </a:solidFill>
                <a:latin typeface="Times New Roman"/>
              </a:rPr>
              <a:t>Reconciliation — why both are right</a:t>
            </a:r>
          </a:p>
        </p:txBody>
      </p:sp>
      <p:sp>
        <p:nvSpPr>
          <p:cNvPr id="41" name="TextBox 40"/>
          <p:cNvSpPr txBox="1"/>
          <p:nvPr/>
        </p:nvSpPr>
        <p:spPr>
          <a:xfrm>
            <a:off x="1352550" y="7219950"/>
            <a:ext cx="9867900" cy="790872"/>
          </a:xfrm>
          <a:prstGeom prst="rect">
            <a:avLst/>
          </a:prstGeom>
          <a:noFill/>
        </p:spPr>
        <p:txBody>
          <a:bodyPr wrap="square" lIns="0" rIns="0" tIns="0" bIns="0" anchor="t">
            <a:spAutoFit/>
          </a:bodyPr>
          <a:lstStyle/>
          <a:p>
            <a:pPr algn="l">
              <a:lnSpc>
                <a:spcPct val="155000"/>
              </a:lnSpc>
            </a:pPr>
            <a:r>
              <a:rPr sz="1280" b="1" i="0">
                <a:solidFill>
                  <a:srgbClr val="FFFFFF"/>
                </a:solidFill>
                <a:latin typeface="Times New Roman"/>
              </a:rPr>
              <a:t>Waterlogging</a:t>
            </a:r>
            <a:r>
              <a:rPr sz="1280" b="0" i="0">
                <a:solidFill>
                  <a:srgbClr val="FFFFFF"/>
                </a:solidFill>
                <a:latin typeface="Times New Roman"/>
              </a:rPr>
              <a:t> (lateral rise of the water table) has declined since the 1970s; </a:t>
            </a:r>
            <a:r>
              <a:rPr sz="1280" b="1" i="0">
                <a:solidFill>
                  <a:srgbClr val="FFFFFF"/>
                </a:solidFill>
                <a:latin typeface="Times New Roman"/>
              </a:rPr>
              <a:t>root-zone salinity</a:t>
            </a:r>
            <a:r>
              <a:rPr sz="1280" b="0" i="0">
                <a:solidFill>
                  <a:srgbClr val="FFFFFF"/>
                </a:solidFill>
                <a:latin typeface="Times New Roman"/>
              </a:rPr>
              <a:t> (vertical salt accumulation) has accumulated over a century of irrigation. Pakistan’s surface has dried, but the </a:t>
            </a:r>
            <a:r>
              <a:rPr sz="1280" b="0" i="1">
                <a:solidFill>
                  <a:srgbClr val="FFFFFF"/>
                </a:solidFill>
                <a:latin typeface="Times New Roman"/>
              </a:rPr>
              <a:t>soil</a:t>
            </a:r>
            <a:r>
              <a:rPr sz="1280" b="0" i="0">
                <a:solidFill>
                  <a:srgbClr val="FFFFFF"/>
                </a:solidFill>
                <a:latin typeface="Times New Roman"/>
              </a:rPr>
              <a:t> has become saltier — a divergence driven by irrigation history, not conflicting measurements.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00" cy="685800"/>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791950" y="5124450"/>
            <a:ext cx="5372100" cy="38100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Image: Photographic collage of Pakistan’s five major crops — cotton bolls, wheat harvest, rice paddy, sugarcane, maize.</a:t>
            </a:r>
          </a:p>
        </p:txBody>
      </p:sp>
      <p:sp>
        <p:nvSpPr>
          <p:cNvPr id="5" name="TextBox 4"/>
          <p:cNvSpPr txBox="1"/>
          <p:nvPr/>
        </p:nvSpPr>
        <p:spPr>
          <a:xfrm>
            <a:off x="1123950" y="190500"/>
            <a:ext cx="11468100" cy="209550"/>
          </a:xfrm>
          <a:prstGeom prst="rect">
            <a:avLst/>
          </a:prstGeom>
          <a:noFill/>
        </p:spPr>
        <p:txBody>
          <a:bodyPr wrap="square" lIns="0" rIns="0" tIns="0" bIns="0" anchor="ctr">
            <a:spAutoFit/>
          </a:bodyPr>
          <a:lstStyle/>
          <a:p>
            <a:pPr algn="l">
              <a:lnSpc>
                <a:spcPct val="120000"/>
              </a:lnSpc>
            </a:pPr>
            <a:r>
              <a:rPr sz="1200" b="0" i="0">
                <a:solidFill>
                  <a:srgbClr val="FFFFFF"/>
                </a:solidFill>
                <a:latin typeface="Times New Roman"/>
              </a:rPr>
              <a:t>17 · Major crops · what Pakistan actually grows</a:t>
            </a:r>
          </a:p>
        </p:txBody>
      </p:sp>
      <p:sp>
        <p:nvSpPr>
          <p:cNvPr id="6" name="TextBox 5"/>
          <p:cNvSpPr txBox="1"/>
          <p:nvPr/>
        </p:nvSpPr>
        <p:spPr>
          <a:xfrm>
            <a:off x="16173450" y="190500"/>
            <a:ext cx="1181100" cy="323850"/>
          </a:xfrm>
          <a:prstGeom prst="rect">
            <a:avLst/>
          </a:prstGeom>
          <a:noFill/>
        </p:spPr>
        <p:txBody>
          <a:bodyPr wrap="square" lIns="0" rIns="0" tIns="0" bIns="0" anchor="ctr">
            <a:spAutoFit/>
          </a:bodyPr>
          <a:lstStyle/>
          <a:p>
            <a:pPr algn="r">
              <a:lnSpc>
                <a:spcPct val="120000"/>
              </a:lnSpc>
            </a:pPr>
            <a:r>
              <a:rPr sz="1050" b="0" i="1">
                <a:solidFill>
                  <a:srgbClr val="C81D25"/>
                </a:solidFill>
                <a:latin typeface="Times New Roman"/>
              </a:rPr>
              <a:t>17 / 22</a:t>
            </a:r>
          </a:p>
        </p:txBody>
      </p:sp>
      <p:sp>
        <p:nvSpPr>
          <p:cNvPr id="7" name="TextBox 6"/>
          <p:cNvSpPr txBox="1"/>
          <p:nvPr/>
        </p:nvSpPr>
        <p:spPr>
          <a:xfrm>
            <a:off x="1123950" y="1009650"/>
            <a:ext cx="7658100" cy="41910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Cluster 5 · Agriculture</a:t>
            </a:r>
          </a:p>
        </p:txBody>
      </p:sp>
      <p:sp>
        <p:nvSpPr>
          <p:cNvPr id="8" name="TextBox 7"/>
          <p:cNvSpPr txBox="1"/>
          <p:nvPr/>
        </p:nvSpPr>
        <p:spPr>
          <a:xfrm>
            <a:off x="1123950" y="1600200"/>
            <a:ext cx="16040100" cy="1128414"/>
          </a:xfrm>
          <a:prstGeom prst="rect">
            <a:avLst/>
          </a:prstGeom>
          <a:noFill/>
        </p:spPr>
        <p:txBody>
          <a:bodyPr wrap="square" lIns="0" rIns="0" tIns="0" bIns="0" anchor="t">
            <a:spAutoFit/>
          </a:bodyPr>
          <a:lstStyle/>
          <a:p>
            <a:pPr algn="l">
              <a:lnSpc>
                <a:spcPct val="106000"/>
              </a:lnSpc>
            </a:pPr>
            <a:r>
              <a:rPr sz="4050" b="1" i="0">
                <a:solidFill>
                  <a:srgbClr val="1A2B4C"/>
                </a:solidFill>
                <a:latin typeface="Times New Roman"/>
              </a:rPr>
              <a:t> Five crops carry Pakistan’s agriculture — and one rotation pattern carries them all. </a:t>
            </a:r>
          </a:p>
        </p:txBody>
      </p:sp>
      <p:sp>
        <p:nvSpPr>
          <p:cNvPr id="9" name="TextBox 8"/>
          <p:cNvSpPr txBox="1"/>
          <p:nvPr/>
        </p:nvSpPr>
        <p:spPr>
          <a:xfrm>
            <a:off x="1123950" y="3371850"/>
            <a:ext cx="10325100" cy="381000"/>
          </a:xfrm>
          <a:prstGeom prst="rect">
            <a:avLst/>
          </a:prstGeom>
          <a:noFill/>
        </p:spPr>
        <p:txBody>
          <a:bodyPr wrap="square" lIns="0" rIns="0" tIns="0" bIns="0" anchor="t">
            <a:spAutoFit/>
          </a:bodyPr>
          <a:lstStyle/>
          <a:p>
            <a:pPr algn="l">
              <a:lnSpc>
                <a:spcPct val="120000"/>
              </a:lnSpc>
            </a:pPr>
            <a:r>
              <a:rPr sz="1200" b="1" i="0">
                <a:solidFill>
                  <a:srgbClr val="000000"/>
                </a:solidFill>
                <a:latin typeface="Times New Roman"/>
              </a:rPr>
              <a:t>Cotton</a:t>
            </a:r>
            <a:r>
              <a:rPr sz="1200" b="0" i="0">
                <a:solidFill>
                  <a:srgbClr val="000000"/>
                </a:solidFill>
                <a:latin typeface="Times New Roman"/>
              </a:rPr>
              <a:t> and </a:t>
            </a:r>
            <a:r>
              <a:rPr sz="1200" b="1" i="0">
                <a:solidFill>
                  <a:srgbClr val="000000"/>
                </a:solidFill>
                <a:latin typeface="Times New Roman"/>
              </a:rPr>
              <a:t>wheat</a:t>
            </a:r>
            <a:r>
              <a:rPr sz="1200" b="0" i="0">
                <a:solidFill>
                  <a:srgbClr val="000000"/>
                </a:solidFill>
                <a:latin typeface="Times New Roman"/>
              </a:rPr>
              <a:t> dominate sown area and export earnings. </a:t>
            </a:r>
            <a:r>
              <a:rPr sz="1200" b="1" i="0">
                <a:solidFill>
                  <a:srgbClr val="000000"/>
                </a:solidFill>
                <a:latin typeface="Times New Roman"/>
              </a:rPr>
              <a:t>Rice</a:t>
            </a:r>
            <a:r>
              <a:rPr sz="1200" b="0" i="0">
                <a:solidFill>
                  <a:srgbClr val="000000"/>
                </a:solidFill>
                <a:latin typeface="Times New Roman"/>
              </a:rPr>
              <a:t> and </a:t>
            </a:r>
            <a:r>
              <a:rPr sz="1200" b="1" i="0">
                <a:solidFill>
                  <a:srgbClr val="000000"/>
                </a:solidFill>
                <a:latin typeface="Times New Roman"/>
              </a:rPr>
              <a:t>sugarcane</a:t>
            </a:r>
            <a:r>
              <a:rPr sz="1200" b="0" i="0">
                <a:solidFill>
                  <a:srgbClr val="000000"/>
                </a:solidFill>
                <a:latin typeface="Times New Roman"/>
              </a:rPr>
              <a:t> are the second tier — both water-intensive. </a:t>
            </a:r>
            <a:r>
              <a:rPr sz="1200" b="1" i="0">
                <a:solidFill>
                  <a:srgbClr val="000000"/>
                </a:solidFill>
                <a:latin typeface="Times New Roman"/>
              </a:rPr>
              <a:t>Maize</a:t>
            </a:r>
            <a:r>
              <a:rPr sz="1200" b="0" i="0">
                <a:solidFill>
                  <a:srgbClr val="000000"/>
                </a:solidFill>
                <a:latin typeface="Times New Roman"/>
              </a:rPr>
              <a:t> is a high-yielding substitute for fodder and starch. Together, the five crops drive ~80% of agricultural output.</a:t>
            </a:r>
          </a:p>
        </p:txBody>
      </p:sp>
      <p:sp>
        <p:nvSpPr>
          <p:cNvPr id="10" name="Rectangle 9"/>
          <p:cNvSpPr/>
          <p:nvPr/>
        </p:nvSpPr>
        <p:spPr>
          <a:xfrm>
            <a:off x="1143000" y="4476750"/>
            <a:ext cx="196587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43000" y="4476750"/>
            <a:ext cx="1965870" cy="57150"/>
          </a:xfrm>
          <a:prstGeom prst="rect">
            <a:avLst/>
          </a:prstGeom>
          <a:solidFill>
            <a:srgbClr val="B88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099345" y="4476750"/>
            <a:ext cx="9525" cy="5143500"/>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43000" y="9610725"/>
            <a:ext cx="1965870" cy="95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43000" y="4476750"/>
            <a:ext cx="9525" cy="5143500"/>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04925" y="4686300"/>
            <a:ext cx="1642020" cy="190500"/>
          </a:xfrm>
          <a:prstGeom prst="rect">
            <a:avLst/>
          </a:prstGeom>
          <a:noFill/>
        </p:spPr>
        <p:txBody>
          <a:bodyPr wrap="square" lIns="0" rIns="0" tIns="0" bIns="0" anchor="ctr">
            <a:spAutoFit/>
          </a:bodyPr>
          <a:lstStyle/>
          <a:p>
            <a:pPr algn="l">
              <a:lnSpc>
                <a:spcPct val="120000"/>
              </a:lnSpc>
            </a:pPr>
            <a:r>
              <a:rPr sz="980" b="0" i="0" spc="136">
                <a:solidFill>
                  <a:srgbClr val="B8862B"/>
                </a:solidFill>
                <a:latin typeface="Times New Roman"/>
              </a:rPr>
              <a:t>CROP 01</a:t>
            </a:r>
          </a:p>
        </p:txBody>
      </p:sp>
      <p:sp>
        <p:nvSpPr>
          <p:cNvPr id="16" name="TextBox 15"/>
          <p:cNvSpPr txBox="1"/>
          <p:nvPr/>
        </p:nvSpPr>
        <p:spPr>
          <a:xfrm>
            <a:off x="1304925" y="4895850"/>
            <a:ext cx="1642020" cy="285750"/>
          </a:xfrm>
          <a:prstGeom prst="rect">
            <a:avLst/>
          </a:prstGeom>
          <a:noFill/>
        </p:spPr>
        <p:txBody>
          <a:bodyPr wrap="square" lIns="0" rIns="0" tIns="0" bIns="0" anchor="ctr">
            <a:spAutoFit/>
          </a:bodyPr>
          <a:lstStyle/>
          <a:p>
            <a:pPr algn="l">
              <a:lnSpc>
                <a:spcPct val="120000"/>
              </a:lnSpc>
            </a:pPr>
            <a:r>
              <a:rPr sz="1650" b="1" i="0">
                <a:solidFill>
                  <a:srgbClr val="1A2B4C"/>
                </a:solidFill>
                <a:latin typeface="Times New Roman"/>
              </a:rPr>
              <a:t>Cotton</a:t>
            </a:r>
          </a:p>
        </p:txBody>
      </p:sp>
      <p:sp>
        <p:nvSpPr>
          <p:cNvPr id="17" name="TextBox 16"/>
          <p:cNvSpPr txBox="1"/>
          <p:nvPr/>
        </p:nvSpPr>
        <p:spPr>
          <a:xfrm>
            <a:off x="1304925" y="5162550"/>
            <a:ext cx="1642020" cy="190500"/>
          </a:xfrm>
          <a:prstGeom prst="rect">
            <a:avLst/>
          </a:prstGeom>
          <a:noFill/>
        </p:spPr>
        <p:txBody>
          <a:bodyPr wrap="square" lIns="0" rIns="0" tIns="0" bIns="0" anchor="ctr">
            <a:spAutoFit/>
          </a:bodyPr>
          <a:lstStyle/>
          <a:p>
            <a:pPr algn="l">
              <a:lnSpc>
                <a:spcPct val="120000"/>
              </a:lnSpc>
            </a:pPr>
            <a:r>
              <a:rPr sz="1050" b="1" i="1">
                <a:solidFill>
                  <a:srgbClr val="1A2B4C"/>
                </a:solidFill>
                <a:latin typeface="Times New Roman"/>
              </a:rPr>
              <a:t>Kharif · Gossypium</a:t>
            </a:r>
          </a:p>
        </p:txBody>
      </p:sp>
      <p:sp>
        <p:nvSpPr>
          <p:cNvPr id="18" name="TextBox 17"/>
          <p:cNvSpPr txBox="1"/>
          <p:nvPr/>
        </p:nvSpPr>
        <p:spPr>
          <a:xfrm>
            <a:off x="1457325" y="5448300"/>
            <a:ext cx="1489620" cy="244673"/>
          </a:xfrm>
          <a:prstGeom prst="rect">
            <a:avLst/>
          </a:prstGeom>
          <a:noFill/>
        </p:spPr>
        <p:txBody>
          <a:bodyPr wrap="square" lIns="0" rIns="0" tIns="0" bIns="0" anchor="ctr">
            <a:spAutoFit/>
          </a:bodyPr>
          <a:lstStyle/>
          <a:p>
            <a:pPr algn="l">
              <a:lnSpc>
                <a:spcPct val="155000"/>
              </a:lnSpc>
            </a:pPr>
            <a:r>
              <a:rPr sz="1050" b="0" i="0">
                <a:solidFill>
                  <a:srgbClr val="1A2B4C"/>
                </a:solidFill>
                <a:latin typeface="Times New Roman"/>
              </a:rPr>
              <a:t>• </a:t>
            </a:r>
            <a:r>
              <a:rPr sz="1050" b="0" i="0">
                <a:solidFill>
                  <a:srgbClr val="1A2B4C"/>
                </a:solidFill>
                <a:latin typeface="Times New Roman"/>
              </a:rPr>
              <a:t>~2.0 Mha sown</a:t>
            </a:r>
          </a:p>
        </p:txBody>
      </p:sp>
      <p:sp>
        <p:nvSpPr>
          <p:cNvPr id="19" name="TextBox 18"/>
          <p:cNvSpPr txBox="1"/>
          <p:nvPr/>
        </p:nvSpPr>
        <p:spPr>
          <a:xfrm>
            <a:off x="1457325" y="5654873"/>
            <a:ext cx="1489620" cy="451246"/>
          </a:xfrm>
          <a:prstGeom prst="rect">
            <a:avLst/>
          </a:prstGeom>
          <a:noFill/>
        </p:spPr>
        <p:txBody>
          <a:bodyPr wrap="square" lIns="0" rIns="0" tIns="0" bIns="0" anchor="t">
            <a:spAutoFit/>
          </a:bodyPr>
          <a:lstStyle/>
          <a:p>
            <a:pPr algn="l">
              <a:lnSpc>
                <a:spcPct val="155000"/>
              </a:lnSpc>
            </a:pPr>
            <a:r>
              <a:rPr sz="1050" b="0" i="0">
                <a:solidFill>
                  <a:srgbClr val="1A2B4C"/>
                </a:solidFill>
                <a:latin typeface="Times New Roman"/>
              </a:rPr>
              <a:t>• </a:t>
            </a:r>
            <a:r>
              <a:rPr sz="1050" b="0" i="0">
                <a:solidFill>
                  <a:srgbClr val="1A2B4C"/>
                </a:solidFill>
                <a:latin typeface="Times New Roman"/>
              </a:rPr>
              <a:t>Punjab &amp; Sindh irrigated belt</a:t>
            </a:r>
          </a:p>
        </p:txBody>
      </p:sp>
      <p:sp>
        <p:nvSpPr>
          <p:cNvPr id="20" name="TextBox 19"/>
          <p:cNvSpPr txBox="1"/>
          <p:nvPr/>
        </p:nvSpPr>
        <p:spPr>
          <a:xfrm>
            <a:off x="1457325" y="6068020"/>
            <a:ext cx="1489620" cy="244673"/>
          </a:xfrm>
          <a:prstGeom prst="rect">
            <a:avLst/>
          </a:prstGeom>
          <a:noFill/>
        </p:spPr>
        <p:txBody>
          <a:bodyPr wrap="square" lIns="0" rIns="0" tIns="0" bIns="0" anchor="ctr">
            <a:spAutoFit/>
          </a:bodyPr>
          <a:lstStyle/>
          <a:p>
            <a:pPr algn="l">
              <a:lnSpc>
                <a:spcPct val="155000"/>
              </a:lnSpc>
            </a:pPr>
            <a:r>
              <a:rPr sz="1050" b="0" i="0">
                <a:solidFill>
                  <a:srgbClr val="1A2B4C"/>
                </a:solidFill>
                <a:latin typeface="Times New Roman"/>
              </a:rPr>
              <a:t>• </a:t>
            </a:r>
            <a:r>
              <a:rPr sz="1050" b="0" i="0">
                <a:solidFill>
                  <a:srgbClr val="1A2B4C"/>
                </a:solidFill>
                <a:latin typeface="Times New Roman"/>
              </a:rPr>
              <a:t>~9.0 Mt bales (2023–24)</a:t>
            </a:r>
          </a:p>
        </p:txBody>
      </p:sp>
      <p:sp>
        <p:nvSpPr>
          <p:cNvPr id="21" name="TextBox 20"/>
          <p:cNvSpPr txBox="1"/>
          <p:nvPr/>
        </p:nvSpPr>
        <p:spPr>
          <a:xfrm>
            <a:off x="1457325" y="6274593"/>
            <a:ext cx="1489620" cy="451246"/>
          </a:xfrm>
          <a:prstGeom prst="rect">
            <a:avLst/>
          </a:prstGeom>
          <a:noFill/>
        </p:spPr>
        <p:txBody>
          <a:bodyPr wrap="square" lIns="0" rIns="0" tIns="0" bIns="0" anchor="t">
            <a:spAutoFit/>
          </a:bodyPr>
          <a:lstStyle/>
          <a:p>
            <a:pPr algn="l">
              <a:lnSpc>
                <a:spcPct val="155000"/>
              </a:lnSpc>
            </a:pPr>
            <a:r>
              <a:rPr sz="1050" b="0" i="0">
                <a:solidFill>
                  <a:srgbClr val="1A2B4C"/>
                </a:solidFill>
                <a:latin typeface="Times New Roman"/>
              </a:rPr>
              <a:t>• </a:t>
            </a:r>
            <a:r>
              <a:rPr sz="1050" b="0" i="0">
                <a:solidFill>
                  <a:srgbClr val="1A2B4C"/>
                </a:solidFill>
                <a:latin typeface="Times New Roman"/>
              </a:rPr>
              <a:t>5th-largest producer globally</a:t>
            </a:r>
          </a:p>
        </p:txBody>
      </p:sp>
      <p:sp>
        <p:nvSpPr>
          <p:cNvPr id="22" name="TextBox 21"/>
          <p:cNvSpPr txBox="1"/>
          <p:nvPr/>
        </p:nvSpPr>
        <p:spPr>
          <a:xfrm>
            <a:off x="1457325" y="6687740"/>
            <a:ext cx="1489620" cy="451246"/>
          </a:xfrm>
          <a:prstGeom prst="rect">
            <a:avLst/>
          </a:prstGeom>
          <a:noFill/>
        </p:spPr>
        <p:txBody>
          <a:bodyPr wrap="square" lIns="0" rIns="0" tIns="0" bIns="0" anchor="t">
            <a:spAutoFit/>
          </a:bodyPr>
          <a:lstStyle/>
          <a:p>
            <a:pPr algn="l">
              <a:lnSpc>
                <a:spcPct val="155000"/>
              </a:lnSpc>
            </a:pPr>
            <a:r>
              <a:rPr sz="1050" b="0" i="0">
                <a:solidFill>
                  <a:srgbClr val="1A2B4C"/>
                </a:solidFill>
                <a:latin typeface="Times New Roman"/>
              </a:rPr>
              <a:t>• </a:t>
            </a:r>
            <a:r>
              <a:rPr sz="1050" b="0" i="0">
                <a:solidFill>
                  <a:srgbClr val="1A2B4C"/>
                </a:solidFill>
                <a:latin typeface="Times New Roman"/>
              </a:rPr>
              <a:t>Backbone of textile exports</a:t>
            </a:r>
          </a:p>
        </p:txBody>
      </p:sp>
      <p:sp>
        <p:nvSpPr>
          <p:cNvPr id="23" name="Rectangle 22"/>
          <p:cNvSpPr/>
          <p:nvPr/>
        </p:nvSpPr>
        <p:spPr>
          <a:xfrm>
            <a:off x="3223170" y="4476750"/>
            <a:ext cx="1966019"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3223170" y="4476750"/>
            <a:ext cx="1966019" cy="57150"/>
          </a:xfrm>
          <a:prstGeom prst="rect">
            <a:avLst/>
          </a:prstGeom>
          <a:solidFill>
            <a:srgbClr val="B88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179665" y="4476750"/>
            <a:ext cx="9525" cy="5143500"/>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3223170" y="9610725"/>
            <a:ext cx="1966019" cy="95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3223170" y="4476750"/>
            <a:ext cx="9525" cy="5143500"/>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85095" y="4686300"/>
            <a:ext cx="1642169" cy="190500"/>
          </a:xfrm>
          <a:prstGeom prst="rect">
            <a:avLst/>
          </a:prstGeom>
          <a:noFill/>
        </p:spPr>
        <p:txBody>
          <a:bodyPr wrap="square" lIns="0" rIns="0" tIns="0" bIns="0" anchor="ctr">
            <a:spAutoFit/>
          </a:bodyPr>
          <a:lstStyle/>
          <a:p>
            <a:pPr algn="l">
              <a:lnSpc>
                <a:spcPct val="120000"/>
              </a:lnSpc>
            </a:pPr>
            <a:r>
              <a:rPr sz="980" b="0" i="0" spc="136">
                <a:solidFill>
                  <a:srgbClr val="B8862B"/>
                </a:solidFill>
                <a:latin typeface="Times New Roman"/>
              </a:rPr>
              <a:t>CROP 02</a:t>
            </a:r>
          </a:p>
        </p:txBody>
      </p:sp>
      <p:sp>
        <p:nvSpPr>
          <p:cNvPr id="29" name="TextBox 28"/>
          <p:cNvSpPr txBox="1"/>
          <p:nvPr/>
        </p:nvSpPr>
        <p:spPr>
          <a:xfrm>
            <a:off x="3385095" y="4895850"/>
            <a:ext cx="1642169" cy="285750"/>
          </a:xfrm>
          <a:prstGeom prst="rect">
            <a:avLst/>
          </a:prstGeom>
          <a:noFill/>
        </p:spPr>
        <p:txBody>
          <a:bodyPr wrap="square" lIns="0" rIns="0" tIns="0" bIns="0" anchor="ctr">
            <a:spAutoFit/>
          </a:bodyPr>
          <a:lstStyle/>
          <a:p>
            <a:pPr algn="l">
              <a:lnSpc>
                <a:spcPct val="120000"/>
              </a:lnSpc>
            </a:pPr>
            <a:r>
              <a:rPr sz="1650" b="1" i="0">
                <a:solidFill>
                  <a:srgbClr val="1A2B4C"/>
                </a:solidFill>
                <a:latin typeface="Times New Roman"/>
              </a:rPr>
              <a:t>Wheat</a:t>
            </a:r>
          </a:p>
        </p:txBody>
      </p:sp>
      <p:sp>
        <p:nvSpPr>
          <p:cNvPr id="30" name="TextBox 29"/>
          <p:cNvSpPr txBox="1"/>
          <p:nvPr/>
        </p:nvSpPr>
        <p:spPr>
          <a:xfrm>
            <a:off x="3385095" y="5162550"/>
            <a:ext cx="1642169" cy="190500"/>
          </a:xfrm>
          <a:prstGeom prst="rect">
            <a:avLst/>
          </a:prstGeom>
          <a:noFill/>
        </p:spPr>
        <p:txBody>
          <a:bodyPr wrap="square" lIns="0" rIns="0" tIns="0" bIns="0" anchor="ctr">
            <a:spAutoFit/>
          </a:bodyPr>
          <a:lstStyle/>
          <a:p>
            <a:pPr algn="l">
              <a:lnSpc>
                <a:spcPct val="120000"/>
              </a:lnSpc>
            </a:pPr>
            <a:r>
              <a:rPr sz="1050" b="1" i="1">
                <a:solidFill>
                  <a:srgbClr val="1A2B4C"/>
                </a:solidFill>
                <a:latin typeface="Times New Roman"/>
              </a:rPr>
              <a:t>Rabi · Triticum</a:t>
            </a:r>
          </a:p>
        </p:txBody>
      </p:sp>
      <p:sp>
        <p:nvSpPr>
          <p:cNvPr id="31" name="TextBox 30"/>
          <p:cNvSpPr txBox="1"/>
          <p:nvPr/>
        </p:nvSpPr>
        <p:spPr>
          <a:xfrm>
            <a:off x="3537495" y="5448300"/>
            <a:ext cx="1489769" cy="244673"/>
          </a:xfrm>
          <a:prstGeom prst="rect">
            <a:avLst/>
          </a:prstGeom>
          <a:noFill/>
        </p:spPr>
        <p:txBody>
          <a:bodyPr wrap="square" lIns="0" rIns="0" tIns="0" bIns="0" anchor="ctr">
            <a:spAutoFit/>
          </a:bodyPr>
          <a:lstStyle/>
          <a:p>
            <a:pPr algn="l">
              <a:lnSpc>
                <a:spcPct val="155000"/>
              </a:lnSpc>
            </a:pPr>
            <a:r>
              <a:rPr sz="1050" b="0" i="0">
                <a:solidFill>
                  <a:srgbClr val="1A2B4C"/>
                </a:solidFill>
                <a:latin typeface="Times New Roman"/>
              </a:rPr>
              <a:t>• </a:t>
            </a:r>
            <a:r>
              <a:rPr sz="1050" b="0" i="0">
                <a:solidFill>
                  <a:srgbClr val="1A2B4C"/>
                </a:solidFill>
                <a:latin typeface="Times New Roman"/>
              </a:rPr>
              <a:t>~9.0 Mha sown</a:t>
            </a:r>
          </a:p>
        </p:txBody>
      </p:sp>
      <p:sp>
        <p:nvSpPr>
          <p:cNvPr id="32" name="TextBox 31"/>
          <p:cNvSpPr txBox="1"/>
          <p:nvPr/>
        </p:nvSpPr>
        <p:spPr>
          <a:xfrm>
            <a:off x="3537495" y="5654873"/>
            <a:ext cx="1489769" cy="244673"/>
          </a:xfrm>
          <a:prstGeom prst="rect">
            <a:avLst/>
          </a:prstGeom>
          <a:noFill/>
        </p:spPr>
        <p:txBody>
          <a:bodyPr wrap="square" lIns="0" rIns="0" tIns="0" bIns="0" anchor="ctr">
            <a:spAutoFit/>
          </a:bodyPr>
          <a:lstStyle/>
          <a:p>
            <a:pPr algn="l">
              <a:lnSpc>
                <a:spcPct val="155000"/>
              </a:lnSpc>
            </a:pPr>
            <a:r>
              <a:rPr sz="1050" b="0" i="0">
                <a:solidFill>
                  <a:srgbClr val="1A2B4C"/>
                </a:solidFill>
                <a:latin typeface="Times New Roman"/>
              </a:rPr>
              <a:t>• </a:t>
            </a:r>
            <a:r>
              <a:rPr sz="1050" b="0" i="0">
                <a:solidFill>
                  <a:srgbClr val="1A2B4C"/>
                </a:solidFill>
                <a:latin typeface="Times New Roman"/>
              </a:rPr>
              <a:t>~28 Mt grain (2023–24)</a:t>
            </a:r>
          </a:p>
        </p:txBody>
      </p:sp>
      <p:sp>
        <p:nvSpPr>
          <p:cNvPr id="33" name="TextBox 32"/>
          <p:cNvSpPr txBox="1"/>
          <p:nvPr/>
        </p:nvSpPr>
        <p:spPr>
          <a:xfrm>
            <a:off x="3537495" y="5861446"/>
            <a:ext cx="1489769" cy="244673"/>
          </a:xfrm>
          <a:prstGeom prst="rect">
            <a:avLst/>
          </a:prstGeom>
          <a:noFill/>
        </p:spPr>
        <p:txBody>
          <a:bodyPr wrap="square" lIns="0" rIns="0" tIns="0" bIns="0" anchor="ctr">
            <a:spAutoFit/>
          </a:bodyPr>
          <a:lstStyle/>
          <a:p>
            <a:pPr algn="l">
              <a:lnSpc>
                <a:spcPct val="155000"/>
              </a:lnSpc>
            </a:pPr>
            <a:r>
              <a:rPr sz="1050" b="0" i="0">
                <a:solidFill>
                  <a:srgbClr val="1A2B4C"/>
                </a:solidFill>
                <a:latin typeface="Times New Roman"/>
              </a:rPr>
              <a:t>• </a:t>
            </a:r>
            <a:r>
              <a:rPr sz="1050" b="0" i="0">
                <a:solidFill>
                  <a:srgbClr val="1A2B4C"/>
                </a:solidFill>
                <a:latin typeface="Times New Roman"/>
              </a:rPr>
              <a:t>Punjab plain dominant</a:t>
            </a:r>
          </a:p>
        </p:txBody>
      </p:sp>
      <p:sp>
        <p:nvSpPr>
          <p:cNvPr id="34" name="TextBox 33"/>
          <p:cNvSpPr txBox="1"/>
          <p:nvPr/>
        </p:nvSpPr>
        <p:spPr>
          <a:xfrm>
            <a:off x="3537495" y="6068020"/>
            <a:ext cx="1489769" cy="244673"/>
          </a:xfrm>
          <a:prstGeom prst="rect">
            <a:avLst/>
          </a:prstGeom>
          <a:noFill/>
        </p:spPr>
        <p:txBody>
          <a:bodyPr wrap="square" lIns="0" rIns="0" tIns="0" bIns="0" anchor="ctr">
            <a:spAutoFit/>
          </a:bodyPr>
          <a:lstStyle/>
          <a:p>
            <a:pPr algn="l">
              <a:lnSpc>
                <a:spcPct val="155000"/>
              </a:lnSpc>
            </a:pPr>
            <a:r>
              <a:rPr sz="1050" b="0" i="0">
                <a:solidFill>
                  <a:srgbClr val="1A2B4C"/>
                </a:solidFill>
                <a:latin typeface="Times New Roman"/>
              </a:rPr>
              <a:t>• </a:t>
            </a:r>
            <a:r>
              <a:rPr sz="1050" b="0" i="0">
                <a:solidFill>
                  <a:srgbClr val="1A2B4C"/>
                </a:solidFill>
                <a:latin typeface="Times New Roman"/>
              </a:rPr>
              <a:t>Staple food security crop</a:t>
            </a:r>
          </a:p>
        </p:txBody>
      </p:sp>
      <p:sp>
        <p:nvSpPr>
          <p:cNvPr id="35" name="TextBox 34"/>
          <p:cNvSpPr txBox="1"/>
          <p:nvPr/>
        </p:nvSpPr>
        <p:spPr>
          <a:xfrm>
            <a:off x="3537495" y="6274593"/>
            <a:ext cx="1489769" cy="244673"/>
          </a:xfrm>
          <a:prstGeom prst="rect">
            <a:avLst/>
          </a:prstGeom>
          <a:noFill/>
        </p:spPr>
        <p:txBody>
          <a:bodyPr wrap="square" lIns="0" rIns="0" tIns="0" bIns="0" anchor="ctr">
            <a:spAutoFit/>
          </a:bodyPr>
          <a:lstStyle/>
          <a:p>
            <a:pPr algn="l">
              <a:lnSpc>
                <a:spcPct val="155000"/>
              </a:lnSpc>
            </a:pPr>
            <a:r>
              <a:rPr sz="1050" b="0" i="0">
                <a:solidFill>
                  <a:srgbClr val="1A2B4C"/>
                </a:solidFill>
                <a:latin typeface="Times New Roman"/>
              </a:rPr>
              <a:t>• </a:t>
            </a:r>
            <a:r>
              <a:rPr sz="1050" b="0" i="0">
                <a:solidFill>
                  <a:srgbClr val="1A2B4C"/>
                </a:solidFill>
                <a:latin typeface="Times New Roman"/>
              </a:rPr>
              <a:t>~74% of rabi sowing</a:t>
            </a:r>
          </a:p>
        </p:txBody>
      </p:sp>
      <p:sp>
        <p:nvSpPr>
          <p:cNvPr id="36" name="Rectangle 35"/>
          <p:cNvSpPr/>
          <p:nvPr/>
        </p:nvSpPr>
        <p:spPr>
          <a:xfrm>
            <a:off x="5303490" y="4476750"/>
            <a:ext cx="196587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5303490" y="4476750"/>
            <a:ext cx="1965870" cy="57150"/>
          </a:xfrm>
          <a:prstGeom prst="rect">
            <a:avLst/>
          </a:prstGeom>
          <a:solidFill>
            <a:srgbClr val="B88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7259835" y="4476750"/>
            <a:ext cx="9525" cy="5143500"/>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5303490" y="9610725"/>
            <a:ext cx="1965870" cy="95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5303490" y="4476750"/>
            <a:ext cx="9525" cy="5143500"/>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465415" y="4686300"/>
            <a:ext cx="1642020" cy="190500"/>
          </a:xfrm>
          <a:prstGeom prst="rect">
            <a:avLst/>
          </a:prstGeom>
          <a:noFill/>
        </p:spPr>
        <p:txBody>
          <a:bodyPr wrap="square" lIns="0" rIns="0" tIns="0" bIns="0" anchor="ctr">
            <a:spAutoFit/>
          </a:bodyPr>
          <a:lstStyle/>
          <a:p>
            <a:pPr algn="l">
              <a:lnSpc>
                <a:spcPct val="120000"/>
              </a:lnSpc>
            </a:pPr>
            <a:r>
              <a:rPr sz="980" b="0" i="0" spc="136">
                <a:solidFill>
                  <a:srgbClr val="B8862B"/>
                </a:solidFill>
                <a:latin typeface="Times New Roman"/>
              </a:rPr>
              <a:t>CROP 03</a:t>
            </a:r>
          </a:p>
        </p:txBody>
      </p:sp>
      <p:sp>
        <p:nvSpPr>
          <p:cNvPr id="42" name="TextBox 41"/>
          <p:cNvSpPr txBox="1"/>
          <p:nvPr/>
        </p:nvSpPr>
        <p:spPr>
          <a:xfrm>
            <a:off x="5465415" y="4895850"/>
            <a:ext cx="1642020" cy="285750"/>
          </a:xfrm>
          <a:prstGeom prst="rect">
            <a:avLst/>
          </a:prstGeom>
          <a:noFill/>
        </p:spPr>
        <p:txBody>
          <a:bodyPr wrap="square" lIns="0" rIns="0" tIns="0" bIns="0" anchor="ctr">
            <a:spAutoFit/>
          </a:bodyPr>
          <a:lstStyle/>
          <a:p>
            <a:pPr algn="l">
              <a:lnSpc>
                <a:spcPct val="120000"/>
              </a:lnSpc>
            </a:pPr>
            <a:r>
              <a:rPr sz="1650" b="1" i="0">
                <a:solidFill>
                  <a:srgbClr val="1A2B4C"/>
                </a:solidFill>
                <a:latin typeface="Times New Roman"/>
              </a:rPr>
              <a:t>Rice</a:t>
            </a:r>
          </a:p>
        </p:txBody>
      </p:sp>
      <p:sp>
        <p:nvSpPr>
          <p:cNvPr id="43" name="TextBox 42"/>
          <p:cNvSpPr txBox="1"/>
          <p:nvPr/>
        </p:nvSpPr>
        <p:spPr>
          <a:xfrm>
            <a:off x="5465415" y="5162550"/>
            <a:ext cx="1642020" cy="190500"/>
          </a:xfrm>
          <a:prstGeom prst="rect">
            <a:avLst/>
          </a:prstGeom>
          <a:noFill/>
        </p:spPr>
        <p:txBody>
          <a:bodyPr wrap="square" lIns="0" rIns="0" tIns="0" bIns="0" anchor="ctr">
            <a:spAutoFit/>
          </a:bodyPr>
          <a:lstStyle/>
          <a:p>
            <a:pPr algn="l">
              <a:lnSpc>
                <a:spcPct val="120000"/>
              </a:lnSpc>
            </a:pPr>
            <a:r>
              <a:rPr sz="1050" b="1" i="1">
                <a:solidFill>
                  <a:srgbClr val="1A2B4C"/>
                </a:solidFill>
                <a:latin typeface="Times New Roman"/>
              </a:rPr>
              <a:t>Kharif · Oryza</a:t>
            </a:r>
          </a:p>
        </p:txBody>
      </p:sp>
      <p:sp>
        <p:nvSpPr>
          <p:cNvPr id="44" name="TextBox 43"/>
          <p:cNvSpPr txBox="1"/>
          <p:nvPr/>
        </p:nvSpPr>
        <p:spPr>
          <a:xfrm>
            <a:off x="5617815" y="5448300"/>
            <a:ext cx="1489620" cy="244673"/>
          </a:xfrm>
          <a:prstGeom prst="rect">
            <a:avLst/>
          </a:prstGeom>
          <a:noFill/>
        </p:spPr>
        <p:txBody>
          <a:bodyPr wrap="square" lIns="0" rIns="0" tIns="0" bIns="0" anchor="ctr">
            <a:spAutoFit/>
          </a:bodyPr>
          <a:lstStyle/>
          <a:p>
            <a:pPr algn="l">
              <a:lnSpc>
                <a:spcPct val="155000"/>
              </a:lnSpc>
            </a:pPr>
            <a:r>
              <a:rPr sz="1050" b="0" i="0">
                <a:solidFill>
                  <a:srgbClr val="1A2B4C"/>
                </a:solidFill>
                <a:latin typeface="Times New Roman"/>
              </a:rPr>
              <a:t>• </a:t>
            </a:r>
            <a:r>
              <a:rPr sz="1050" b="0" i="0">
                <a:solidFill>
                  <a:srgbClr val="1A2B4C"/>
                </a:solidFill>
                <a:latin typeface="Times New Roman"/>
              </a:rPr>
              <a:t>~3.0 Mha sown</a:t>
            </a:r>
          </a:p>
        </p:txBody>
      </p:sp>
      <p:sp>
        <p:nvSpPr>
          <p:cNvPr id="45" name="TextBox 44"/>
          <p:cNvSpPr txBox="1"/>
          <p:nvPr/>
        </p:nvSpPr>
        <p:spPr>
          <a:xfrm>
            <a:off x="5617815" y="5654873"/>
            <a:ext cx="1489620" cy="244673"/>
          </a:xfrm>
          <a:prstGeom prst="rect">
            <a:avLst/>
          </a:prstGeom>
          <a:noFill/>
        </p:spPr>
        <p:txBody>
          <a:bodyPr wrap="square" lIns="0" rIns="0" tIns="0" bIns="0" anchor="ctr">
            <a:spAutoFit/>
          </a:bodyPr>
          <a:lstStyle/>
          <a:p>
            <a:pPr algn="l">
              <a:lnSpc>
                <a:spcPct val="155000"/>
              </a:lnSpc>
            </a:pPr>
            <a:r>
              <a:rPr sz="1050" b="0" i="0">
                <a:solidFill>
                  <a:srgbClr val="1A2B4C"/>
                </a:solidFill>
                <a:latin typeface="Times New Roman"/>
              </a:rPr>
              <a:t>• </a:t>
            </a:r>
            <a:r>
              <a:rPr sz="1050" b="0" i="0">
                <a:solidFill>
                  <a:srgbClr val="1A2B4C"/>
                </a:solidFill>
                <a:latin typeface="Times New Roman"/>
              </a:rPr>
              <a:t>Sindh &amp; Punjab belt</a:t>
            </a:r>
          </a:p>
        </p:txBody>
      </p:sp>
      <p:sp>
        <p:nvSpPr>
          <p:cNvPr id="46" name="TextBox 45"/>
          <p:cNvSpPr txBox="1"/>
          <p:nvPr/>
        </p:nvSpPr>
        <p:spPr>
          <a:xfrm>
            <a:off x="5617815" y="5861446"/>
            <a:ext cx="1489620" cy="244673"/>
          </a:xfrm>
          <a:prstGeom prst="rect">
            <a:avLst/>
          </a:prstGeom>
          <a:noFill/>
        </p:spPr>
        <p:txBody>
          <a:bodyPr wrap="square" lIns="0" rIns="0" tIns="0" bIns="0" anchor="ctr">
            <a:spAutoFit/>
          </a:bodyPr>
          <a:lstStyle/>
          <a:p>
            <a:pPr algn="l">
              <a:lnSpc>
                <a:spcPct val="155000"/>
              </a:lnSpc>
            </a:pPr>
            <a:r>
              <a:rPr sz="1050" b="0" i="0">
                <a:solidFill>
                  <a:srgbClr val="1A2B4C"/>
                </a:solidFill>
                <a:latin typeface="Times New Roman"/>
              </a:rPr>
              <a:t>• </a:t>
            </a:r>
            <a:r>
              <a:rPr sz="1050" b="0" i="0">
                <a:solidFill>
                  <a:srgbClr val="1A2B4C"/>
                </a:solidFill>
                <a:latin typeface="Times New Roman"/>
              </a:rPr>
              <a:t>~9.0 Mt milled</a:t>
            </a:r>
          </a:p>
        </p:txBody>
      </p:sp>
      <p:sp>
        <p:nvSpPr>
          <p:cNvPr id="47" name="TextBox 46"/>
          <p:cNvSpPr txBox="1"/>
          <p:nvPr/>
        </p:nvSpPr>
        <p:spPr>
          <a:xfrm>
            <a:off x="5617815" y="6068020"/>
            <a:ext cx="1489620" cy="451246"/>
          </a:xfrm>
          <a:prstGeom prst="rect">
            <a:avLst/>
          </a:prstGeom>
          <a:noFill/>
        </p:spPr>
        <p:txBody>
          <a:bodyPr wrap="square" lIns="0" rIns="0" tIns="0" bIns="0" anchor="t">
            <a:spAutoFit/>
          </a:bodyPr>
          <a:lstStyle/>
          <a:p>
            <a:pPr algn="l">
              <a:lnSpc>
                <a:spcPct val="155000"/>
              </a:lnSpc>
            </a:pPr>
            <a:r>
              <a:rPr sz="1050" b="0" i="0">
                <a:solidFill>
                  <a:srgbClr val="1A2B4C"/>
                </a:solidFill>
                <a:latin typeface="Times New Roman"/>
              </a:rPr>
              <a:t>• </a:t>
            </a:r>
            <a:r>
              <a:rPr sz="1050" b="0" i="0">
                <a:solidFill>
                  <a:srgbClr val="1A2B4C"/>
                </a:solidFill>
                <a:latin typeface="Times New Roman"/>
              </a:rPr>
              <a:t>Basmati export — premium</a:t>
            </a:r>
          </a:p>
        </p:txBody>
      </p:sp>
      <p:sp>
        <p:nvSpPr>
          <p:cNvPr id="48" name="TextBox 47"/>
          <p:cNvSpPr txBox="1"/>
          <p:nvPr/>
        </p:nvSpPr>
        <p:spPr>
          <a:xfrm>
            <a:off x="5617815" y="6481167"/>
            <a:ext cx="1489620" cy="451246"/>
          </a:xfrm>
          <a:prstGeom prst="rect">
            <a:avLst/>
          </a:prstGeom>
          <a:noFill/>
        </p:spPr>
        <p:txBody>
          <a:bodyPr wrap="square" lIns="0" rIns="0" tIns="0" bIns="0" anchor="t">
            <a:spAutoFit/>
          </a:bodyPr>
          <a:lstStyle/>
          <a:p>
            <a:pPr algn="l">
              <a:lnSpc>
                <a:spcPct val="155000"/>
              </a:lnSpc>
            </a:pPr>
            <a:r>
              <a:rPr sz="1050" b="0" i="0">
                <a:solidFill>
                  <a:srgbClr val="1A2B4C"/>
                </a:solidFill>
                <a:latin typeface="Times New Roman"/>
              </a:rPr>
              <a:t>• </a:t>
            </a:r>
            <a:r>
              <a:rPr sz="1050" b="0" i="0">
                <a:solidFill>
                  <a:srgbClr val="1A2B4C"/>
                </a:solidFill>
                <a:latin typeface="Times New Roman"/>
              </a:rPr>
              <a:t>Largest water user per hectare</a:t>
            </a:r>
          </a:p>
        </p:txBody>
      </p:sp>
      <p:sp>
        <p:nvSpPr>
          <p:cNvPr id="49" name="Rectangle 48"/>
          <p:cNvSpPr/>
          <p:nvPr/>
        </p:nvSpPr>
        <p:spPr>
          <a:xfrm>
            <a:off x="7383660" y="4476750"/>
            <a:ext cx="1966019"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7383660" y="4476750"/>
            <a:ext cx="1966019" cy="57150"/>
          </a:xfrm>
          <a:prstGeom prst="rect">
            <a:avLst/>
          </a:prstGeom>
          <a:solidFill>
            <a:srgbClr val="B88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9340155" y="4476750"/>
            <a:ext cx="9525" cy="5143500"/>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ectangle 51"/>
          <p:cNvSpPr/>
          <p:nvPr/>
        </p:nvSpPr>
        <p:spPr>
          <a:xfrm>
            <a:off x="7383660" y="9610725"/>
            <a:ext cx="1966019" cy="95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7383660" y="4476750"/>
            <a:ext cx="9525" cy="5143500"/>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7545585" y="4686300"/>
            <a:ext cx="1642169" cy="190500"/>
          </a:xfrm>
          <a:prstGeom prst="rect">
            <a:avLst/>
          </a:prstGeom>
          <a:noFill/>
        </p:spPr>
        <p:txBody>
          <a:bodyPr wrap="square" lIns="0" rIns="0" tIns="0" bIns="0" anchor="ctr">
            <a:spAutoFit/>
          </a:bodyPr>
          <a:lstStyle/>
          <a:p>
            <a:pPr algn="l">
              <a:lnSpc>
                <a:spcPct val="120000"/>
              </a:lnSpc>
            </a:pPr>
            <a:r>
              <a:rPr sz="980" b="0" i="0" spc="136">
                <a:solidFill>
                  <a:srgbClr val="B8862B"/>
                </a:solidFill>
                <a:latin typeface="Times New Roman"/>
              </a:rPr>
              <a:t>CROP 04</a:t>
            </a:r>
          </a:p>
        </p:txBody>
      </p:sp>
      <p:sp>
        <p:nvSpPr>
          <p:cNvPr id="55" name="TextBox 54"/>
          <p:cNvSpPr txBox="1"/>
          <p:nvPr/>
        </p:nvSpPr>
        <p:spPr>
          <a:xfrm>
            <a:off x="7545585" y="4895850"/>
            <a:ext cx="1642169" cy="285750"/>
          </a:xfrm>
          <a:prstGeom prst="rect">
            <a:avLst/>
          </a:prstGeom>
          <a:noFill/>
        </p:spPr>
        <p:txBody>
          <a:bodyPr wrap="square" lIns="0" rIns="0" tIns="0" bIns="0" anchor="ctr">
            <a:spAutoFit/>
          </a:bodyPr>
          <a:lstStyle/>
          <a:p>
            <a:pPr algn="l">
              <a:lnSpc>
                <a:spcPct val="120000"/>
              </a:lnSpc>
            </a:pPr>
            <a:r>
              <a:rPr sz="1650" b="1" i="0">
                <a:solidFill>
                  <a:srgbClr val="1A2B4C"/>
                </a:solidFill>
                <a:latin typeface="Times New Roman"/>
              </a:rPr>
              <a:t>Sugarcane</a:t>
            </a:r>
          </a:p>
        </p:txBody>
      </p:sp>
      <p:sp>
        <p:nvSpPr>
          <p:cNvPr id="56" name="TextBox 55"/>
          <p:cNvSpPr txBox="1"/>
          <p:nvPr/>
        </p:nvSpPr>
        <p:spPr>
          <a:xfrm>
            <a:off x="7545585" y="5162550"/>
            <a:ext cx="1642169" cy="190500"/>
          </a:xfrm>
          <a:prstGeom prst="rect">
            <a:avLst/>
          </a:prstGeom>
          <a:noFill/>
        </p:spPr>
        <p:txBody>
          <a:bodyPr wrap="square" lIns="0" rIns="0" tIns="0" bIns="0" anchor="ctr">
            <a:spAutoFit/>
          </a:bodyPr>
          <a:lstStyle/>
          <a:p>
            <a:pPr algn="l">
              <a:lnSpc>
                <a:spcPct val="120000"/>
              </a:lnSpc>
            </a:pPr>
            <a:r>
              <a:rPr sz="1050" b="1" i="1">
                <a:solidFill>
                  <a:srgbClr val="1A2B4C"/>
                </a:solidFill>
                <a:latin typeface="Times New Roman"/>
              </a:rPr>
              <a:t>Kharif · Saccharum</a:t>
            </a:r>
          </a:p>
        </p:txBody>
      </p:sp>
      <p:sp>
        <p:nvSpPr>
          <p:cNvPr id="57" name="TextBox 56"/>
          <p:cNvSpPr txBox="1"/>
          <p:nvPr/>
        </p:nvSpPr>
        <p:spPr>
          <a:xfrm>
            <a:off x="7697985" y="5448300"/>
            <a:ext cx="1489769" cy="244673"/>
          </a:xfrm>
          <a:prstGeom prst="rect">
            <a:avLst/>
          </a:prstGeom>
          <a:noFill/>
        </p:spPr>
        <p:txBody>
          <a:bodyPr wrap="square" lIns="0" rIns="0" tIns="0" bIns="0" anchor="ctr">
            <a:spAutoFit/>
          </a:bodyPr>
          <a:lstStyle/>
          <a:p>
            <a:pPr algn="l">
              <a:lnSpc>
                <a:spcPct val="155000"/>
              </a:lnSpc>
            </a:pPr>
            <a:r>
              <a:rPr sz="1050" b="0" i="0">
                <a:solidFill>
                  <a:srgbClr val="1A2B4C"/>
                </a:solidFill>
                <a:latin typeface="Times New Roman"/>
              </a:rPr>
              <a:t>• </a:t>
            </a:r>
            <a:r>
              <a:rPr sz="1050" b="0" i="0">
                <a:solidFill>
                  <a:srgbClr val="1A2B4C"/>
                </a:solidFill>
                <a:latin typeface="Times New Roman"/>
              </a:rPr>
              <a:t>~1.2 Mha sown</a:t>
            </a:r>
          </a:p>
        </p:txBody>
      </p:sp>
      <p:sp>
        <p:nvSpPr>
          <p:cNvPr id="58" name="TextBox 57"/>
          <p:cNvSpPr txBox="1"/>
          <p:nvPr/>
        </p:nvSpPr>
        <p:spPr>
          <a:xfrm>
            <a:off x="7697985" y="5654873"/>
            <a:ext cx="1489769" cy="244673"/>
          </a:xfrm>
          <a:prstGeom prst="rect">
            <a:avLst/>
          </a:prstGeom>
          <a:noFill/>
        </p:spPr>
        <p:txBody>
          <a:bodyPr wrap="square" lIns="0" rIns="0" tIns="0" bIns="0" anchor="ctr">
            <a:spAutoFit/>
          </a:bodyPr>
          <a:lstStyle/>
          <a:p>
            <a:pPr algn="l">
              <a:lnSpc>
                <a:spcPct val="155000"/>
              </a:lnSpc>
            </a:pPr>
            <a:r>
              <a:rPr sz="1050" b="0" i="0">
                <a:solidFill>
                  <a:srgbClr val="1A2B4C"/>
                </a:solidFill>
                <a:latin typeface="Times New Roman"/>
              </a:rPr>
              <a:t>• </a:t>
            </a:r>
            <a:r>
              <a:rPr sz="1050" b="0" i="0">
                <a:solidFill>
                  <a:srgbClr val="1A2B4C"/>
                </a:solidFill>
                <a:latin typeface="Times New Roman"/>
              </a:rPr>
              <a:t>Punjab lower belts</a:t>
            </a:r>
          </a:p>
        </p:txBody>
      </p:sp>
      <p:sp>
        <p:nvSpPr>
          <p:cNvPr id="59" name="TextBox 58"/>
          <p:cNvSpPr txBox="1"/>
          <p:nvPr/>
        </p:nvSpPr>
        <p:spPr>
          <a:xfrm>
            <a:off x="7697985" y="5861446"/>
            <a:ext cx="1489769" cy="244673"/>
          </a:xfrm>
          <a:prstGeom prst="rect">
            <a:avLst/>
          </a:prstGeom>
          <a:noFill/>
        </p:spPr>
        <p:txBody>
          <a:bodyPr wrap="square" lIns="0" rIns="0" tIns="0" bIns="0" anchor="ctr">
            <a:spAutoFit/>
          </a:bodyPr>
          <a:lstStyle/>
          <a:p>
            <a:pPr algn="l">
              <a:lnSpc>
                <a:spcPct val="155000"/>
              </a:lnSpc>
            </a:pPr>
            <a:r>
              <a:rPr sz="1050" b="0" i="0">
                <a:solidFill>
                  <a:srgbClr val="1A2B4C"/>
                </a:solidFill>
                <a:latin typeface="Times New Roman"/>
              </a:rPr>
              <a:t>• </a:t>
            </a:r>
            <a:r>
              <a:rPr sz="1050" b="0" i="0">
                <a:solidFill>
                  <a:srgbClr val="1A2B4C"/>
                </a:solidFill>
                <a:latin typeface="Times New Roman"/>
              </a:rPr>
              <a:t>~80 Mt cane (2023–24)</a:t>
            </a:r>
          </a:p>
        </p:txBody>
      </p:sp>
      <p:sp>
        <p:nvSpPr>
          <p:cNvPr id="60" name="TextBox 59"/>
          <p:cNvSpPr txBox="1"/>
          <p:nvPr/>
        </p:nvSpPr>
        <p:spPr>
          <a:xfrm>
            <a:off x="7697985" y="6068020"/>
            <a:ext cx="1489769" cy="244673"/>
          </a:xfrm>
          <a:prstGeom prst="rect">
            <a:avLst/>
          </a:prstGeom>
          <a:noFill/>
        </p:spPr>
        <p:txBody>
          <a:bodyPr wrap="square" lIns="0" rIns="0" tIns="0" bIns="0" anchor="ctr">
            <a:spAutoFit/>
          </a:bodyPr>
          <a:lstStyle/>
          <a:p>
            <a:pPr algn="l">
              <a:lnSpc>
                <a:spcPct val="155000"/>
              </a:lnSpc>
            </a:pPr>
            <a:r>
              <a:rPr sz="1050" b="0" i="0">
                <a:solidFill>
                  <a:srgbClr val="1A2B4C"/>
                </a:solidFill>
                <a:latin typeface="Times New Roman"/>
              </a:rPr>
              <a:t>• </a:t>
            </a:r>
            <a:r>
              <a:rPr sz="1050" b="0" i="0">
                <a:solidFill>
                  <a:srgbClr val="1A2B4C"/>
                </a:solidFill>
                <a:latin typeface="Times New Roman"/>
              </a:rPr>
              <a:t>~75 Mt sugar refining</a:t>
            </a:r>
          </a:p>
        </p:txBody>
      </p:sp>
      <p:sp>
        <p:nvSpPr>
          <p:cNvPr id="61" name="TextBox 60"/>
          <p:cNvSpPr txBox="1"/>
          <p:nvPr/>
        </p:nvSpPr>
        <p:spPr>
          <a:xfrm>
            <a:off x="7697985" y="6274593"/>
            <a:ext cx="1489769" cy="244673"/>
          </a:xfrm>
          <a:prstGeom prst="rect">
            <a:avLst/>
          </a:prstGeom>
          <a:noFill/>
        </p:spPr>
        <p:txBody>
          <a:bodyPr wrap="square" lIns="0" rIns="0" tIns="0" bIns="0" anchor="ctr">
            <a:spAutoFit/>
          </a:bodyPr>
          <a:lstStyle/>
          <a:p>
            <a:pPr algn="l">
              <a:lnSpc>
                <a:spcPct val="155000"/>
              </a:lnSpc>
            </a:pPr>
            <a:r>
              <a:rPr sz="1050" b="0" i="0">
                <a:solidFill>
                  <a:srgbClr val="1A2B4C"/>
                </a:solidFill>
                <a:latin typeface="Times New Roman"/>
              </a:rPr>
              <a:t>• </a:t>
            </a:r>
            <a:r>
              <a:rPr sz="1050" b="0" i="0">
                <a:solidFill>
                  <a:srgbClr val="1A2B4C"/>
                </a:solidFill>
                <a:latin typeface="Times New Roman"/>
              </a:rPr>
              <a:t>5th-largest producer</a:t>
            </a:r>
          </a:p>
        </p:txBody>
      </p:sp>
      <p:sp>
        <p:nvSpPr>
          <p:cNvPr id="62" name="Rectangle 61"/>
          <p:cNvSpPr/>
          <p:nvPr/>
        </p:nvSpPr>
        <p:spPr>
          <a:xfrm>
            <a:off x="9463980" y="4476750"/>
            <a:ext cx="1965870" cy="51435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ectangle 62"/>
          <p:cNvSpPr/>
          <p:nvPr/>
        </p:nvSpPr>
        <p:spPr>
          <a:xfrm>
            <a:off x="9463980" y="4476750"/>
            <a:ext cx="1965870" cy="57150"/>
          </a:xfrm>
          <a:prstGeom prst="rect">
            <a:avLst/>
          </a:prstGeom>
          <a:solidFill>
            <a:srgbClr val="B88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1420326" y="4476750"/>
            <a:ext cx="9525" cy="5143500"/>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ectangle 64"/>
          <p:cNvSpPr/>
          <p:nvPr/>
        </p:nvSpPr>
        <p:spPr>
          <a:xfrm>
            <a:off x="9463980" y="9610725"/>
            <a:ext cx="1965870" cy="95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ectangle 65"/>
          <p:cNvSpPr/>
          <p:nvPr/>
        </p:nvSpPr>
        <p:spPr>
          <a:xfrm>
            <a:off x="9463980" y="4476750"/>
            <a:ext cx="9525" cy="5143500"/>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9625905" y="4686300"/>
            <a:ext cx="1642020" cy="190500"/>
          </a:xfrm>
          <a:prstGeom prst="rect">
            <a:avLst/>
          </a:prstGeom>
          <a:noFill/>
        </p:spPr>
        <p:txBody>
          <a:bodyPr wrap="square" lIns="0" rIns="0" tIns="0" bIns="0" anchor="ctr">
            <a:spAutoFit/>
          </a:bodyPr>
          <a:lstStyle/>
          <a:p>
            <a:pPr algn="l">
              <a:lnSpc>
                <a:spcPct val="120000"/>
              </a:lnSpc>
            </a:pPr>
            <a:r>
              <a:rPr sz="980" b="0" i="0" spc="136">
                <a:solidFill>
                  <a:srgbClr val="B8862B"/>
                </a:solidFill>
                <a:latin typeface="Times New Roman"/>
              </a:rPr>
              <a:t>CROP 05</a:t>
            </a:r>
          </a:p>
        </p:txBody>
      </p:sp>
      <p:sp>
        <p:nvSpPr>
          <p:cNvPr id="68" name="TextBox 67"/>
          <p:cNvSpPr txBox="1"/>
          <p:nvPr/>
        </p:nvSpPr>
        <p:spPr>
          <a:xfrm>
            <a:off x="9625905" y="4895850"/>
            <a:ext cx="1642020" cy="285750"/>
          </a:xfrm>
          <a:prstGeom prst="rect">
            <a:avLst/>
          </a:prstGeom>
          <a:noFill/>
        </p:spPr>
        <p:txBody>
          <a:bodyPr wrap="square" lIns="0" rIns="0" tIns="0" bIns="0" anchor="ctr">
            <a:spAutoFit/>
          </a:bodyPr>
          <a:lstStyle/>
          <a:p>
            <a:pPr algn="l">
              <a:lnSpc>
                <a:spcPct val="120000"/>
              </a:lnSpc>
            </a:pPr>
            <a:r>
              <a:rPr sz="1650" b="1" i="0">
                <a:solidFill>
                  <a:srgbClr val="1A2B4C"/>
                </a:solidFill>
                <a:latin typeface="Times New Roman"/>
              </a:rPr>
              <a:t>Maize</a:t>
            </a:r>
          </a:p>
        </p:txBody>
      </p:sp>
      <p:sp>
        <p:nvSpPr>
          <p:cNvPr id="69" name="TextBox 68"/>
          <p:cNvSpPr txBox="1"/>
          <p:nvPr/>
        </p:nvSpPr>
        <p:spPr>
          <a:xfrm>
            <a:off x="9625905" y="5162550"/>
            <a:ext cx="1642020" cy="190500"/>
          </a:xfrm>
          <a:prstGeom prst="rect">
            <a:avLst/>
          </a:prstGeom>
          <a:noFill/>
        </p:spPr>
        <p:txBody>
          <a:bodyPr wrap="square" lIns="0" rIns="0" tIns="0" bIns="0" anchor="ctr">
            <a:spAutoFit/>
          </a:bodyPr>
          <a:lstStyle/>
          <a:p>
            <a:pPr algn="l">
              <a:lnSpc>
                <a:spcPct val="120000"/>
              </a:lnSpc>
            </a:pPr>
            <a:r>
              <a:rPr sz="1050" b="1" i="1">
                <a:solidFill>
                  <a:srgbClr val="1A2B4C"/>
                </a:solidFill>
                <a:latin typeface="Times New Roman"/>
              </a:rPr>
              <a:t>Kharif · Zea mays</a:t>
            </a:r>
          </a:p>
        </p:txBody>
      </p:sp>
      <p:sp>
        <p:nvSpPr>
          <p:cNvPr id="70" name="TextBox 69"/>
          <p:cNvSpPr txBox="1"/>
          <p:nvPr/>
        </p:nvSpPr>
        <p:spPr>
          <a:xfrm>
            <a:off x="9778305" y="5448300"/>
            <a:ext cx="1489620" cy="244673"/>
          </a:xfrm>
          <a:prstGeom prst="rect">
            <a:avLst/>
          </a:prstGeom>
          <a:noFill/>
        </p:spPr>
        <p:txBody>
          <a:bodyPr wrap="square" lIns="0" rIns="0" tIns="0" bIns="0" anchor="ctr">
            <a:spAutoFit/>
          </a:bodyPr>
          <a:lstStyle/>
          <a:p>
            <a:pPr algn="l">
              <a:lnSpc>
                <a:spcPct val="155000"/>
              </a:lnSpc>
            </a:pPr>
            <a:r>
              <a:rPr sz="1050" b="0" i="0">
                <a:solidFill>
                  <a:srgbClr val="1A2B4C"/>
                </a:solidFill>
                <a:latin typeface="Times New Roman"/>
              </a:rPr>
              <a:t>• </a:t>
            </a:r>
            <a:r>
              <a:rPr sz="1050" b="0" i="0">
                <a:solidFill>
                  <a:srgbClr val="1A2B4C"/>
                </a:solidFill>
                <a:latin typeface="Times New Roman"/>
              </a:rPr>
              <a:t>~1.6 Mha sown</a:t>
            </a:r>
          </a:p>
        </p:txBody>
      </p:sp>
      <p:sp>
        <p:nvSpPr>
          <p:cNvPr id="71" name="TextBox 70"/>
          <p:cNvSpPr txBox="1"/>
          <p:nvPr/>
        </p:nvSpPr>
        <p:spPr>
          <a:xfrm>
            <a:off x="9778305" y="5654873"/>
            <a:ext cx="1489620" cy="244673"/>
          </a:xfrm>
          <a:prstGeom prst="rect">
            <a:avLst/>
          </a:prstGeom>
          <a:noFill/>
        </p:spPr>
        <p:txBody>
          <a:bodyPr wrap="square" lIns="0" rIns="0" tIns="0" bIns="0" anchor="ctr">
            <a:spAutoFit/>
          </a:bodyPr>
          <a:lstStyle/>
          <a:p>
            <a:pPr algn="l">
              <a:lnSpc>
                <a:spcPct val="155000"/>
              </a:lnSpc>
            </a:pPr>
            <a:r>
              <a:rPr sz="1050" b="0" i="0">
                <a:solidFill>
                  <a:srgbClr val="1A2B4C"/>
                </a:solidFill>
                <a:latin typeface="Times New Roman"/>
              </a:rPr>
              <a:t>• </a:t>
            </a:r>
            <a:r>
              <a:rPr sz="1050" b="0" i="0">
                <a:solidFill>
                  <a:srgbClr val="1A2B4C"/>
                </a:solidFill>
                <a:latin typeface="Times New Roman"/>
              </a:rPr>
              <a:t>KP and Punjab hybrid</a:t>
            </a:r>
          </a:p>
        </p:txBody>
      </p:sp>
      <p:sp>
        <p:nvSpPr>
          <p:cNvPr id="72" name="TextBox 71"/>
          <p:cNvSpPr txBox="1"/>
          <p:nvPr/>
        </p:nvSpPr>
        <p:spPr>
          <a:xfrm>
            <a:off x="9778305" y="5861446"/>
            <a:ext cx="1489620" cy="244673"/>
          </a:xfrm>
          <a:prstGeom prst="rect">
            <a:avLst/>
          </a:prstGeom>
          <a:noFill/>
        </p:spPr>
        <p:txBody>
          <a:bodyPr wrap="square" lIns="0" rIns="0" tIns="0" bIns="0" anchor="ctr">
            <a:spAutoFit/>
          </a:bodyPr>
          <a:lstStyle/>
          <a:p>
            <a:pPr algn="l">
              <a:lnSpc>
                <a:spcPct val="155000"/>
              </a:lnSpc>
            </a:pPr>
            <a:r>
              <a:rPr sz="1050" b="0" i="0">
                <a:solidFill>
                  <a:srgbClr val="1A2B4C"/>
                </a:solidFill>
                <a:latin typeface="Times New Roman"/>
              </a:rPr>
              <a:t>• </a:t>
            </a:r>
            <a:r>
              <a:rPr sz="1050" b="0" i="0">
                <a:solidFill>
                  <a:srgbClr val="1A2B4C"/>
                </a:solidFill>
                <a:latin typeface="Times New Roman"/>
              </a:rPr>
              <a:t>~11 Mt grain</a:t>
            </a:r>
          </a:p>
        </p:txBody>
      </p:sp>
      <p:sp>
        <p:nvSpPr>
          <p:cNvPr id="73" name="TextBox 72"/>
          <p:cNvSpPr txBox="1"/>
          <p:nvPr/>
        </p:nvSpPr>
        <p:spPr>
          <a:xfrm>
            <a:off x="9778305" y="6068020"/>
            <a:ext cx="1489620" cy="244673"/>
          </a:xfrm>
          <a:prstGeom prst="rect">
            <a:avLst/>
          </a:prstGeom>
          <a:noFill/>
        </p:spPr>
        <p:txBody>
          <a:bodyPr wrap="square" lIns="0" rIns="0" tIns="0" bIns="0" anchor="ctr">
            <a:spAutoFit/>
          </a:bodyPr>
          <a:lstStyle/>
          <a:p>
            <a:pPr algn="l">
              <a:lnSpc>
                <a:spcPct val="155000"/>
              </a:lnSpc>
            </a:pPr>
            <a:r>
              <a:rPr sz="1050" b="0" i="0">
                <a:solidFill>
                  <a:srgbClr val="1A2B4C"/>
                </a:solidFill>
                <a:latin typeface="Times New Roman"/>
              </a:rPr>
              <a:t>• </a:t>
            </a:r>
            <a:r>
              <a:rPr sz="1050" b="0" i="0">
                <a:solidFill>
                  <a:srgbClr val="1A2B4C"/>
                </a:solidFill>
                <a:latin typeface="Times New Roman"/>
              </a:rPr>
              <a:t>Fodder + starch</a:t>
            </a:r>
          </a:p>
        </p:txBody>
      </p:sp>
      <p:sp>
        <p:nvSpPr>
          <p:cNvPr id="74" name="TextBox 73"/>
          <p:cNvSpPr txBox="1"/>
          <p:nvPr/>
        </p:nvSpPr>
        <p:spPr>
          <a:xfrm>
            <a:off x="9778305" y="6274593"/>
            <a:ext cx="1489620" cy="244673"/>
          </a:xfrm>
          <a:prstGeom prst="rect">
            <a:avLst/>
          </a:prstGeom>
          <a:noFill/>
        </p:spPr>
        <p:txBody>
          <a:bodyPr wrap="square" lIns="0" rIns="0" tIns="0" bIns="0" anchor="ctr">
            <a:spAutoFit/>
          </a:bodyPr>
          <a:lstStyle/>
          <a:p>
            <a:pPr algn="l">
              <a:lnSpc>
                <a:spcPct val="155000"/>
              </a:lnSpc>
            </a:pPr>
            <a:r>
              <a:rPr sz="1050" b="0" i="0">
                <a:solidFill>
                  <a:srgbClr val="1A2B4C"/>
                </a:solidFill>
                <a:latin typeface="Times New Roman"/>
              </a:rPr>
              <a:t>• </a:t>
            </a:r>
            <a:r>
              <a:rPr sz="1050" b="0" i="0">
                <a:solidFill>
                  <a:srgbClr val="1A2B4C"/>
                </a:solidFill>
                <a:latin typeface="Times New Roman"/>
              </a:rPr>
              <a:t>Rising rapidly in KPK</a:t>
            </a:r>
          </a:p>
        </p:txBody>
      </p:sp>
      <p:sp>
        <p:nvSpPr>
          <p:cNvPr id="75" name="Rectangle 74"/>
          <p:cNvSpPr/>
          <p:nvPr/>
        </p:nvSpPr>
        <p:spPr>
          <a:xfrm>
            <a:off x="11811000" y="3238500"/>
            <a:ext cx="5334000" cy="1038225"/>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12020550" y="3409950"/>
            <a:ext cx="4914900" cy="190500"/>
          </a:xfrm>
          <a:prstGeom prst="rect">
            <a:avLst/>
          </a:prstGeom>
          <a:noFill/>
        </p:spPr>
        <p:txBody>
          <a:bodyPr wrap="square" lIns="0" rIns="0" tIns="0" bIns="0" anchor="ctr">
            <a:spAutoFit/>
          </a:bodyPr>
          <a:lstStyle/>
          <a:p>
            <a:pPr algn="l">
              <a:lnSpc>
                <a:spcPct val="120000"/>
              </a:lnSpc>
            </a:pPr>
            <a:r>
              <a:rPr sz="980" b="0" i="1" spc="136">
                <a:solidFill>
                  <a:srgbClr val="FFFFFF"/>
                </a:solidFill>
                <a:latin typeface="Times New Roman"/>
              </a:rPr>
              <a:t>The cotton–wheat rotation</a:t>
            </a:r>
          </a:p>
        </p:txBody>
      </p:sp>
      <p:sp>
        <p:nvSpPr>
          <p:cNvPr id="77" name="TextBox 76"/>
          <p:cNvSpPr txBox="1"/>
          <p:nvPr/>
        </p:nvSpPr>
        <p:spPr>
          <a:xfrm>
            <a:off x="12020550" y="3638550"/>
            <a:ext cx="4914900" cy="466725"/>
          </a:xfrm>
          <a:prstGeom prst="rect">
            <a:avLst/>
          </a:prstGeom>
          <a:noFill/>
        </p:spPr>
        <p:txBody>
          <a:bodyPr wrap="square" lIns="0" rIns="0" tIns="0" bIns="0" anchor="t">
            <a:spAutoFit/>
          </a:bodyPr>
          <a:lstStyle/>
          <a:p>
            <a:pPr algn="l">
              <a:lnSpc>
                <a:spcPct val="150000"/>
              </a:lnSpc>
            </a:pPr>
            <a:r>
              <a:rPr sz="1120" b="0" i="0">
                <a:solidFill>
                  <a:srgbClr val="FFFFFF"/>
                </a:solidFill>
                <a:latin typeface="Times New Roman"/>
              </a:rPr>
              <a:t>Sown in sequence on the same fields of southern Punjab and lower Sindh: cotton (Apr–Nov) followed by wheat (Nov–Apr). The country’s signature cropping pattern.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00" cy="685800"/>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791950" y="1009650"/>
            <a:ext cx="5372100" cy="38100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Image: Crop calendar table — cotton/wheat/rice/sugarcane/maize with sowing, growing, harvest windows across 12 months.</a:t>
            </a:r>
          </a:p>
        </p:txBody>
      </p:sp>
      <p:sp>
        <p:nvSpPr>
          <p:cNvPr id="5" name="TextBox 4"/>
          <p:cNvSpPr txBox="1"/>
          <p:nvPr/>
        </p:nvSpPr>
        <p:spPr>
          <a:xfrm>
            <a:off x="1123950" y="190500"/>
            <a:ext cx="11468100" cy="209550"/>
          </a:xfrm>
          <a:prstGeom prst="rect">
            <a:avLst/>
          </a:prstGeom>
          <a:noFill/>
        </p:spPr>
        <p:txBody>
          <a:bodyPr wrap="square" lIns="0" rIns="0" tIns="0" bIns="0" anchor="ctr">
            <a:spAutoFit/>
          </a:bodyPr>
          <a:lstStyle/>
          <a:p>
            <a:pPr algn="l">
              <a:lnSpc>
                <a:spcPct val="120000"/>
              </a:lnSpc>
            </a:pPr>
            <a:r>
              <a:rPr sz="1200" b="0" i="0">
                <a:solidFill>
                  <a:srgbClr val="FFFFFF"/>
                </a:solidFill>
                <a:latin typeface="Times New Roman"/>
              </a:rPr>
              <a:t>18 · Detail A · crop calendar &amp; water demand</a:t>
            </a:r>
          </a:p>
        </p:txBody>
      </p:sp>
      <p:sp>
        <p:nvSpPr>
          <p:cNvPr id="6" name="TextBox 5"/>
          <p:cNvSpPr txBox="1"/>
          <p:nvPr/>
        </p:nvSpPr>
        <p:spPr>
          <a:xfrm>
            <a:off x="16173450" y="190500"/>
            <a:ext cx="1181100" cy="323850"/>
          </a:xfrm>
          <a:prstGeom prst="rect">
            <a:avLst/>
          </a:prstGeom>
          <a:noFill/>
        </p:spPr>
        <p:txBody>
          <a:bodyPr wrap="square" lIns="0" rIns="0" tIns="0" bIns="0" anchor="ctr">
            <a:spAutoFit/>
          </a:bodyPr>
          <a:lstStyle/>
          <a:p>
            <a:pPr algn="r">
              <a:lnSpc>
                <a:spcPct val="120000"/>
              </a:lnSpc>
            </a:pPr>
            <a:r>
              <a:rPr sz="1050" b="0" i="1">
                <a:solidFill>
                  <a:srgbClr val="C81D25"/>
                </a:solidFill>
                <a:latin typeface="Times New Roman"/>
              </a:rPr>
              <a:t>18 / 22</a:t>
            </a:r>
          </a:p>
        </p:txBody>
      </p:sp>
      <p:sp>
        <p:nvSpPr>
          <p:cNvPr id="7" name="TextBox 6"/>
          <p:cNvSpPr txBox="1"/>
          <p:nvPr/>
        </p:nvSpPr>
        <p:spPr>
          <a:xfrm>
            <a:off x="1123950" y="1009650"/>
            <a:ext cx="7658100" cy="41910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Detail A</a:t>
            </a:r>
          </a:p>
        </p:txBody>
      </p:sp>
      <p:sp>
        <p:nvSpPr>
          <p:cNvPr id="8" name="TextBox 7"/>
          <p:cNvSpPr txBox="1"/>
          <p:nvPr/>
        </p:nvSpPr>
        <p:spPr>
          <a:xfrm>
            <a:off x="1123950" y="1600200"/>
            <a:ext cx="16040100" cy="588317"/>
          </a:xfrm>
          <a:prstGeom prst="rect">
            <a:avLst/>
          </a:prstGeom>
          <a:noFill/>
        </p:spPr>
        <p:txBody>
          <a:bodyPr wrap="square" lIns="0" rIns="0" tIns="0" bIns="0" anchor="ctr">
            <a:spAutoFit/>
          </a:bodyPr>
          <a:lstStyle/>
          <a:p>
            <a:pPr algn="l">
              <a:lnSpc>
                <a:spcPct val="107000"/>
              </a:lnSpc>
            </a:pPr>
            <a:r>
              <a:rPr sz="4050" b="1" i="0">
                <a:solidFill>
                  <a:srgbClr val="1A2B4C"/>
                </a:solidFill>
                <a:latin typeface="Times New Roman"/>
              </a:rPr>
              <a:t> Water demand differentiates the five crops — and </a:t>
            </a:r>
            <a:r>
              <a:rPr sz="4050" b="1" i="0">
                <a:solidFill>
                  <a:srgbClr val="C81D25"/>
                </a:solidFill>
                <a:latin typeface="Times New Roman"/>
              </a:rPr>
              <a:t>constrains geography</a:t>
            </a:r>
            <a:r>
              <a:rPr sz="4050" b="1" i="0">
                <a:solidFill>
                  <a:srgbClr val="1A2B4C"/>
                </a:solidFill>
                <a:latin typeface="Times New Roman"/>
              </a:rPr>
              <a:t>. </a:t>
            </a:r>
          </a:p>
        </p:txBody>
      </p:sp>
      <p:sp>
        <p:nvSpPr>
          <p:cNvPr id="9" name="TextBox 8"/>
          <p:cNvSpPr txBox="1"/>
          <p:nvPr/>
        </p:nvSpPr>
        <p:spPr>
          <a:xfrm>
            <a:off x="1123950" y="3371850"/>
            <a:ext cx="10325100" cy="38100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Rice requires 1,500–2,000 mm of water per season; sugarcane 1,500–2,500 mm; cotton and maize 600–900 mm; wheat 400–500 mm. This gradient explains why </a:t>
            </a:r>
            <a:r>
              <a:rPr sz="1200" b="1" i="0">
                <a:solidFill>
                  <a:srgbClr val="000000"/>
                </a:solidFill>
                <a:latin typeface="Times New Roman"/>
              </a:rPr>
              <a:t>irrigation maps and crop maps are nearly identical</a:t>
            </a:r>
            <a:r>
              <a:rPr sz="1200" b="0" i="0">
                <a:solidFill>
                  <a:srgbClr val="000000"/>
                </a:solidFill>
                <a:latin typeface="Times New Roman"/>
              </a:rPr>
              <a:t> across the Indus plain.</a:t>
            </a:r>
          </a:p>
        </p:txBody>
      </p:sp>
      <p:sp>
        <p:nvSpPr>
          <p:cNvPr id="10" name="Rectangle 9"/>
          <p:cNvSpPr/>
          <p:nvPr/>
        </p:nvSpPr>
        <p:spPr>
          <a:xfrm>
            <a:off x="1143000" y="4286250"/>
            <a:ext cx="5057775" cy="1800225"/>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43000" y="4286250"/>
            <a:ext cx="57150" cy="1800225"/>
          </a:xfrm>
          <a:prstGeom prst="rect">
            <a:avLst/>
          </a:prstGeom>
          <a:solidFill>
            <a:srgbClr val="B88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09700" y="4457700"/>
            <a:ext cx="4581525" cy="190500"/>
          </a:xfrm>
          <a:prstGeom prst="rect">
            <a:avLst/>
          </a:prstGeom>
          <a:noFill/>
        </p:spPr>
        <p:txBody>
          <a:bodyPr wrap="square" lIns="0" rIns="0" tIns="0" bIns="0" anchor="ctr">
            <a:spAutoFit/>
          </a:bodyPr>
          <a:lstStyle/>
          <a:p>
            <a:pPr algn="l">
              <a:lnSpc>
                <a:spcPct val="120000"/>
              </a:lnSpc>
            </a:pPr>
            <a:r>
              <a:rPr sz="980" b="0" i="0" spc="136">
                <a:solidFill>
                  <a:srgbClr val="B8862B"/>
                </a:solidFill>
                <a:latin typeface="Times New Roman"/>
              </a:rPr>
              <a:t>COTTON — KHARIF</a:t>
            </a:r>
          </a:p>
        </p:txBody>
      </p:sp>
      <p:sp>
        <p:nvSpPr>
          <p:cNvPr id="13" name="TextBox 12"/>
          <p:cNvSpPr txBox="1"/>
          <p:nvPr/>
        </p:nvSpPr>
        <p:spPr>
          <a:xfrm>
            <a:off x="1409700" y="4667250"/>
            <a:ext cx="4581525" cy="238125"/>
          </a:xfrm>
          <a:prstGeom prst="rect">
            <a:avLst/>
          </a:prstGeom>
          <a:noFill/>
        </p:spPr>
        <p:txBody>
          <a:bodyPr wrap="square" lIns="0" rIns="0" tIns="0" bIns="0" anchor="ctr">
            <a:spAutoFit/>
          </a:bodyPr>
          <a:lstStyle/>
          <a:p>
            <a:pPr algn="l">
              <a:lnSpc>
                <a:spcPct val="120000"/>
              </a:lnSpc>
            </a:pPr>
            <a:r>
              <a:rPr sz="1350" b="1" i="0">
                <a:solidFill>
                  <a:srgbClr val="1A2B4C"/>
                </a:solidFill>
                <a:latin typeface="Times New Roman"/>
              </a:rPr>
              <a:t>Apr sow · Oct–Nov pick</a:t>
            </a:r>
          </a:p>
        </p:txBody>
      </p:sp>
      <p:sp>
        <p:nvSpPr>
          <p:cNvPr id="14" name="TextBox 13"/>
          <p:cNvSpPr txBox="1"/>
          <p:nvPr/>
        </p:nvSpPr>
        <p:spPr>
          <a:xfrm>
            <a:off x="1581150" y="4962525"/>
            <a:ext cx="4410075"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0" i="0">
                <a:solidFill>
                  <a:srgbClr val="1A2B4C"/>
                </a:solidFill>
                <a:latin typeface="Times New Roman"/>
              </a:rPr>
              <a:t>Sown April; first pick Aug–Sep (early cotton)</a:t>
            </a:r>
          </a:p>
        </p:txBody>
      </p:sp>
      <p:sp>
        <p:nvSpPr>
          <p:cNvPr id="15" name="TextBox 14"/>
          <p:cNvSpPr txBox="1"/>
          <p:nvPr/>
        </p:nvSpPr>
        <p:spPr>
          <a:xfrm>
            <a:off x="1581150" y="5191125"/>
            <a:ext cx="4410075"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0" i="0">
                <a:solidFill>
                  <a:srgbClr val="1A2B4C"/>
                </a:solidFill>
                <a:latin typeface="Times New Roman"/>
              </a:rPr>
              <a:t>Heat: G. hirsutum needs day temperatures &gt;30°C</a:t>
            </a:r>
          </a:p>
        </p:txBody>
      </p:sp>
      <p:sp>
        <p:nvSpPr>
          <p:cNvPr id="16" name="TextBox 15"/>
          <p:cNvSpPr txBox="1"/>
          <p:nvPr/>
        </p:nvSpPr>
        <p:spPr>
          <a:xfrm>
            <a:off x="1581150" y="5419725"/>
            <a:ext cx="4410075"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0" i="0">
                <a:solidFill>
                  <a:srgbClr val="1A2B4C"/>
                </a:solidFill>
                <a:latin typeface="Times New Roman"/>
              </a:rPr>
              <a:t>Water: 700–900 mm; most is applied by furrow irrigation</a:t>
            </a:r>
          </a:p>
        </p:txBody>
      </p:sp>
      <p:sp>
        <p:nvSpPr>
          <p:cNvPr id="17" name="TextBox 16"/>
          <p:cNvSpPr txBox="1"/>
          <p:nvPr/>
        </p:nvSpPr>
        <p:spPr>
          <a:xfrm>
            <a:off x="1581150" y="5648325"/>
            <a:ext cx="4410075"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0" i="0">
                <a:solidFill>
                  <a:srgbClr val="1A2B4C"/>
                </a:solidFill>
                <a:latin typeface="Times New Roman"/>
              </a:rPr>
              <a:t>Best in central Punjab, southern Sindh</a:t>
            </a:r>
          </a:p>
        </p:txBody>
      </p:sp>
      <p:sp>
        <p:nvSpPr>
          <p:cNvPr id="18" name="Rectangle 17"/>
          <p:cNvSpPr/>
          <p:nvPr/>
        </p:nvSpPr>
        <p:spPr>
          <a:xfrm>
            <a:off x="6372225" y="4286250"/>
            <a:ext cx="5057775" cy="1800225"/>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372225" y="4286250"/>
            <a:ext cx="57150" cy="1800225"/>
          </a:xfrm>
          <a:prstGeom prst="rect">
            <a:avLst/>
          </a:prstGeom>
          <a:solidFill>
            <a:srgbClr val="B88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638925" y="4457700"/>
            <a:ext cx="4581525" cy="190500"/>
          </a:xfrm>
          <a:prstGeom prst="rect">
            <a:avLst/>
          </a:prstGeom>
          <a:noFill/>
        </p:spPr>
        <p:txBody>
          <a:bodyPr wrap="square" lIns="0" rIns="0" tIns="0" bIns="0" anchor="ctr">
            <a:spAutoFit/>
          </a:bodyPr>
          <a:lstStyle/>
          <a:p>
            <a:pPr algn="l">
              <a:lnSpc>
                <a:spcPct val="120000"/>
              </a:lnSpc>
            </a:pPr>
            <a:r>
              <a:rPr sz="980" b="0" i="0" spc="136">
                <a:solidFill>
                  <a:srgbClr val="B8862B"/>
                </a:solidFill>
                <a:latin typeface="Times New Roman"/>
              </a:rPr>
              <a:t>WHEAT — RABI</a:t>
            </a:r>
          </a:p>
        </p:txBody>
      </p:sp>
      <p:sp>
        <p:nvSpPr>
          <p:cNvPr id="21" name="TextBox 20"/>
          <p:cNvSpPr txBox="1"/>
          <p:nvPr/>
        </p:nvSpPr>
        <p:spPr>
          <a:xfrm>
            <a:off x="6638925" y="4667250"/>
            <a:ext cx="4581525" cy="238125"/>
          </a:xfrm>
          <a:prstGeom prst="rect">
            <a:avLst/>
          </a:prstGeom>
          <a:noFill/>
        </p:spPr>
        <p:txBody>
          <a:bodyPr wrap="square" lIns="0" rIns="0" tIns="0" bIns="0" anchor="ctr">
            <a:spAutoFit/>
          </a:bodyPr>
          <a:lstStyle/>
          <a:p>
            <a:pPr algn="l">
              <a:lnSpc>
                <a:spcPct val="120000"/>
              </a:lnSpc>
            </a:pPr>
            <a:r>
              <a:rPr sz="1350" b="1" i="0">
                <a:solidFill>
                  <a:srgbClr val="1A2B4C"/>
                </a:solidFill>
                <a:latin typeface="Times New Roman"/>
              </a:rPr>
              <a:t>Nov sow · Apr harvest</a:t>
            </a:r>
          </a:p>
        </p:txBody>
      </p:sp>
      <p:sp>
        <p:nvSpPr>
          <p:cNvPr id="22" name="TextBox 21"/>
          <p:cNvSpPr txBox="1"/>
          <p:nvPr/>
        </p:nvSpPr>
        <p:spPr>
          <a:xfrm>
            <a:off x="6810375" y="4962525"/>
            <a:ext cx="4410075"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0" i="0">
                <a:solidFill>
                  <a:srgbClr val="1A2B4C"/>
                </a:solidFill>
                <a:latin typeface="Times New Roman"/>
              </a:rPr>
              <a:t>Sown on canal residual moisture, irrigated 3–5 times</a:t>
            </a:r>
          </a:p>
        </p:txBody>
      </p:sp>
      <p:sp>
        <p:nvSpPr>
          <p:cNvPr id="23" name="TextBox 22"/>
          <p:cNvSpPr txBox="1"/>
          <p:nvPr/>
        </p:nvSpPr>
        <p:spPr>
          <a:xfrm>
            <a:off x="6810375" y="5191125"/>
            <a:ext cx="4410075"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0" i="0">
                <a:solidFill>
                  <a:srgbClr val="1A2B4C"/>
                </a:solidFill>
                <a:latin typeface="Times New Roman"/>
              </a:rPr>
              <a:t>Cool-season (10–15°C) vegetative phase</a:t>
            </a:r>
          </a:p>
        </p:txBody>
      </p:sp>
      <p:sp>
        <p:nvSpPr>
          <p:cNvPr id="24" name="TextBox 23"/>
          <p:cNvSpPr txBox="1"/>
          <p:nvPr/>
        </p:nvSpPr>
        <p:spPr>
          <a:xfrm>
            <a:off x="6810375" y="5419725"/>
            <a:ext cx="4410075"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0" i="0">
                <a:solidFill>
                  <a:srgbClr val="1A2B4C"/>
                </a:solidFill>
                <a:latin typeface="Times New Roman"/>
              </a:rPr>
              <a:t>Water: 400–500 mm; relatively drought-tolerant</a:t>
            </a:r>
          </a:p>
        </p:txBody>
      </p:sp>
      <p:sp>
        <p:nvSpPr>
          <p:cNvPr id="25" name="TextBox 24"/>
          <p:cNvSpPr txBox="1"/>
          <p:nvPr/>
        </p:nvSpPr>
        <p:spPr>
          <a:xfrm>
            <a:off x="6810375" y="5648325"/>
            <a:ext cx="4410075"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0" i="0">
                <a:solidFill>
                  <a:srgbClr val="1A2B4C"/>
                </a:solidFill>
                <a:latin typeface="Times New Roman"/>
              </a:rPr>
              <a:t>Northern Punjab rain-fed stretches add ~1 Mha</a:t>
            </a:r>
          </a:p>
        </p:txBody>
      </p:sp>
      <p:sp>
        <p:nvSpPr>
          <p:cNvPr id="26" name="Rectangle 25"/>
          <p:cNvSpPr/>
          <p:nvPr/>
        </p:nvSpPr>
        <p:spPr>
          <a:xfrm>
            <a:off x="1143000" y="6257925"/>
            <a:ext cx="5057775" cy="2028825"/>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1143000" y="6257925"/>
            <a:ext cx="57150" cy="2028825"/>
          </a:xfrm>
          <a:prstGeom prst="rect">
            <a:avLst/>
          </a:prstGeom>
          <a:solidFill>
            <a:srgbClr val="B88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409700" y="6429375"/>
            <a:ext cx="4581525" cy="190500"/>
          </a:xfrm>
          <a:prstGeom prst="rect">
            <a:avLst/>
          </a:prstGeom>
          <a:noFill/>
        </p:spPr>
        <p:txBody>
          <a:bodyPr wrap="square" lIns="0" rIns="0" tIns="0" bIns="0" anchor="ctr">
            <a:spAutoFit/>
          </a:bodyPr>
          <a:lstStyle/>
          <a:p>
            <a:pPr algn="l">
              <a:lnSpc>
                <a:spcPct val="120000"/>
              </a:lnSpc>
            </a:pPr>
            <a:r>
              <a:rPr sz="980" b="0" i="0" spc="136">
                <a:solidFill>
                  <a:srgbClr val="B8862B"/>
                </a:solidFill>
                <a:latin typeface="Times New Roman"/>
              </a:rPr>
              <a:t>RICE — KHARIF</a:t>
            </a:r>
          </a:p>
        </p:txBody>
      </p:sp>
      <p:sp>
        <p:nvSpPr>
          <p:cNvPr id="29" name="TextBox 28"/>
          <p:cNvSpPr txBox="1"/>
          <p:nvPr/>
        </p:nvSpPr>
        <p:spPr>
          <a:xfrm>
            <a:off x="1409700" y="6638925"/>
            <a:ext cx="4581525" cy="238125"/>
          </a:xfrm>
          <a:prstGeom prst="rect">
            <a:avLst/>
          </a:prstGeom>
          <a:noFill/>
        </p:spPr>
        <p:txBody>
          <a:bodyPr wrap="square" lIns="0" rIns="0" tIns="0" bIns="0" anchor="ctr">
            <a:spAutoFit/>
          </a:bodyPr>
          <a:lstStyle/>
          <a:p>
            <a:pPr algn="l">
              <a:lnSpc>
                <a:spcPct val="120000"/>
              </a:lnSpc>
            </a:pPr>
            <a:r>
              <a:rPr sz="1350" b="1" i="0">
                <a:solidFill>
                  <a:srgbClr val="1A2B4C"/>
                </a:solidFill>
                <a:latin typeface="Times New Roman"/>
              </a:rPr>
              <a:t>May sow · Oct harvest</a:t>
            </a:r>
          </a:p>
        </p:txBody>
      </p:sp>
      <p:sp>
        <p:nvSpPr>
          <p:cNvPr id="30" name="TextBox 29"/>
          <p:cNvSpPr txBox="1"/>
          <p:nvPr/>
        </p:nvSpPr>
        <p:spPr>
          <a:xfrm>
            <a:off x="1581150" y="6934200"/>
            <a:ext cx="4410075"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0" i="0">
                <a:solidFill>
                  <a:srgbClr val="1A2B4C"/>
                </a:solidFill>
                <a:latin typeface="Times New Roman"/>
              </a:rPr>
              <a:t>Transplanted June; standing water 50–100 mm in fields</a:t>
            </a:r>
          </a:p>
        </p:txBody>
      </p:sp>
      <p:sp>
        <p:nvSpPr>
          <p:cNvPr id="31" name="TextBox 30"/>
          <p:cNvSpPr txBox="1"/>
          <p:nvPr/>
        </p:nvSpPr>
        <p:spPr>
          <a:xfrm>
            <a:off x="1581150" y="7162800"/>
            <a:ext cx="4410075"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0" i="0">
                <a:solidFill>
                  <a:srgbClr val="1A2B4C"/>
                </a:solidFill>
                <a:latin typeface="Times New Roman"/>
              </a:rPr>
              <a:t>Water: 1,500–2,000 mm — the largest consumer</a:t>
            </a:r>
          </a:p>
        </p:txBody>
      </p:sp>
      <p:sp>
        <p:nvSpPr>
          <p:cNvPr id="32" name="TextBox 31"/>
          <p:cNvSpPr txBox="1"/>
          <p:nvPr/>
        </p:nvSpPr>
        <p:spPr>
          <a:xfrm>
            <a:off x="1581150" y="7391400"/>
            <a:ext cx="4410075" cy="495300"/>
          </a:xfrm>
          <a:prstGeom prst="rect">
            <a:avLst/>
          </a:prstGeom>
          <a:noFill/>
        </p:spPr>
        <p:txBody>
          <a:bodyPr wrap="square" lIns="0" rIns="0" tIns="0" bIns="0" anchor="t">
            <a:spAutoFit/>
          </a:bodyPr>
          <a:lstStyle/>
          <a:p>
            <a:pPr algn="l">
              <a:lnSpc>
                <a:spcPct val="160000"/>
              </a:lnSpc>
            </a:pPr>
            <a:r>
              <a:rPr sz="1120" b="0" i="0">
                <a:solidFill>
                  <a:srgbClr val="1A2B4C"/>
                </a:solidFill>
                <a:latin typeface="Times New Roman"/>
              </a:rPr>
              <a:t>• </a:t>
            </a:r>
            <a:r>
              <a:rPr sz="1120" b="0" i="0">
                <a:solidFill>
                  <a:srgbClr val="1A2B4C"/>
                </a:solidFill>
                <a:latin typeface="Times New Roman"/>
              </a:rPr>
              <a:t>Restricted to Sindh (Larkana, Jacobabad) and Punjab (Gujranwala, Hafizabad)</a:t>
            </a:r>
          </a:p>
        </p:txBody>
      </p:sp>
      <p:sp>
        <p:nvSpPr>
          <p:cNvPr id="33" name="TextBox 32"/>
          <p:cNvSpPr txBox="1"/>
          <p:nvPr/>
        </p:nvSpPr>
        <p:spPr>
          <a:xfrm>
            <a:off x="1581150" y="7848600"/>
            <a:ext cx="4410075"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0" i="0">
                <a:solidFill>
                  <a:srgbClr val="1A2B4C"/>
                </a:solidFill>
                <a:latin typeface="Times New Roman"/>
              </a:rPr>
              <a:t>Climate change is squeezing rice eligibility zone</a:t>
            </a:r>
          </a:p>
        </p:txBody>
      </p:sp>
      <p:sp>
        <p:nvSpPr>
          <p:cNvPr id="34" name="Rectangle 33"/>
          <p:cNvSpPr/>
          <p:nvPr/>
        </p:nvSpPr>
        <p:spPr>
          <a:xfrm>
            <a:off x="6372225" y="6257925"/>
            <a:ext cx="5057775" cy="2028825"/>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372225" y="6257925"/>
            <a:ext cx="57150" cy="2028825"/>
          </a:xfrm>
          <a:prstGeom prst="rect">
            <a:avLst/>
          </a:prstGeom>
          <a:solidFill>
            <a:srgbClr val="B88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638925" y="6429375"/>
            <a:ext cx="4581525" cy="190500"/>
          </a:xfrm>
          <a:prstGeom prst="rect">
            <a:avLst/>
          </a:prstGeom>
          <a:noFill/>
        </p:spPr>
        <p:txBody>
          <a:bodyPr wrap="square" lIns="0" rIns="0" tIns="0" bIns="0" anchor="ctr">
            <a:spAutoFit/>
          </a:bodyPr>
          <a:lstStyle/>
          <a:p>
            <a:pPr algn="l">
              <a:lnSpc>
                <a:spcPct val="120000"/>
              </a:lnSpc>
            </a:pPr>
            <a:r>
              <a:rPr sz="980" b="0" i="0" spc="136">
                <a:solidFill>
                  <a:srgbClr val="B8862B"/>
                </a:solidFill>
                <a:latin typeface="Times New Roman"/>
              </a:rPr>
              <a:t>SUGARCANE &amp; MAIZE</a:t>
            </a:r>
          </a:p>
        </p:txBody>
      </p:sp>
      <p:sp>
        <p:nvSpPr>
          <p:cNvPr id="37" name="TextBox 36"/>
          <p:cNvSpPr txBox="1"/>
          <p:nvPr/>
        </p:nvSpPr>
        <p:spPr>
          <a:xfrm>
            <a:off x="6638925" y="6638925"/>
            <a:ext cx="4581525" cy="238125"/>
          </a:xfrm>
          <a:prstGeom prst="rect">
            <a:avLst/>
          </a:prstGeom>
          <a:noFill/>
        </p:spPr>
        <p:txBody>
          <a:bodyPr wrap="square" lIns="0" rIns="0" tIns="0" bIns="0" anchor="ctr">
            <a:spAutoFit/>
          </a:bodyPr>
          <a:lstStyle/>
          <a:p>
            <a:pPr algn="l">
              <a:lnSpc>
                <a:spcPct val="120000"/>
              </a:lnSpc>
            </a:pPr>
            <a:r>
              <a:rPr sz="1350" b="1" i="0">
                <a:solidFill>
                  <a:srgbClr val="1A2B4C"/>
                </a:solidFill>
                <a:latin typeface="Times New Roman"/>
              </a:rPr>
              <a:t>Kharif perennial and cereal</a:t>
            </a:r>
          </a:p>
        </p:txBody>
      </p:sp>
      <p:sp>
        <p:nvSpPr>
          <p:cNvPr id="38" name="TextBox 37"/>
          <p:cNvSpPr txBox="1"/>
          <p:nvPr/>
        </p:nvSpPr>
        <p:spPr>
          <a:xfrm>
            <a:off x="6810375" y="6934200"/>
            <a:ext cx="4410075"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0" i="0">
                <a:solidFill>
                  <a:srgbClr val="1A2B4C"/>
                </a:solidFill>
                <a:latin typeface="Times New Roman"/>
              </a:rPr>
              <a:t>Sugarcane: 14–16 month crop — sown Feb–Mar, harvested Oct–Apr</a:t>
            </a:r>
          </a:p>
        </p:txBody>
      </p:sp>
      <p:sp>
        <p:nvSpPr>
          <p:cNvPr id="39" name="TextBox 38"/>
          <p:cNvSpPr txBox="1"/>
          <p:nvPr/>
        </p:nvSpPr>
        <p:spPr>
          <a:xfrm>
            <a:off x="6810375" y="7162800"/>
            <a:ext cx="4410075"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0" i="0">
                <a:solidFill>
                  <a:srgbClr val="1A2B4C"/>
                </a:solidFill>
                <a:latin typeface="Times New Roman"/>
              </a:rPr>
              <a:t>Water: 1,500–2,500 mm — second-largest consumer</a:t>
            </a:r>
          </a:p>
        </p:txBody>
      </p:sp>
      <p:sp>
        <p:nvSpPr>
          <p:cNvPr id="40" name="TextBox 39"/>
          <p:cNvSpPr txBox="1"/>
          <p:nvPr/>
        </p:nvSpPr>
        <p:spPr>
          <a:xfrm>
            <a:off x="6810375" y="7391400"/>
            <a:ext cx="4410075"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0" i="0">
                <a:solidFill>
                  <a:srgbClr val="1A2B4C"/>
                </a:solidFill>
                <a:latin typeface="Times New Roman"/>
              </a:rPr>
              <a:t>Maize: kharif (Punjab) and spring (KPK, harvest Jul)</a:t>
            </a:r>
          </a:p>
        </p:txBody>
      </p:sp>
      <p:sp>
        <p:nvSpPr>
          <p:cNvPr id="41" name="TextBox 40"/>
          <p:cNvSpPr txBox="1"/>
          <p:nvPr/>
        </p:nvSpPr>
        <p:spPr>
          <a:xfrm>
            <a:off x="6810375" y="7620000"/>
            <a:ext cx="4410075"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0" i="0">
                <a:solidFill>
                  <a:srgbClr val="1A2B4C"/>
                </a:solidFill>
                <a:latin typeface="Times New Roman"/>
              </a:rPr>
              <a:t>Maize is the fastest-expanding acreage crop since 2010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00" cy="685800"/>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3950" y="190500"/>
            <a:ext cx="11468100" cy="209550"/>
          </a:xfrm>
          <a:prstGeom prst="rect">
            <a:avLst/>
          </a:prstGeom>
          <a:noFill/>
        </p:spPr>
        <p:txBody>
          <a:bodyPr wrap="square" lIns="0" rIns="0" tIns="0" bIns="0" anchor="ctr">
            <a:spAutoFit/>
          </a:bodyPr>
          <a:lstStyle/>
          <a:p>
            <a:pPr algn="l">
              <a:lnSpc>
                <a:spcPct val="120000"/>
              </a:lnSpc>
            </a:pPr>
            <a:r>
              <a:rPr sz="1200" b="0" i="0">
                <a:solidFill>
                  <a:srgbClr val="FFFFFF"/>
                </a:solidFill>
                <a:latin typeface="Times New Roman"/>
              </a:rPr>
              <a:t>19 · Detail B · agro-ecological zones — which crop goes where</a:t>
            </a:r>
          </a:p>
        </p:txBody>
      </p:sp>
      <p:sp>
        <p:nvSpPr>
          <p:cNvPr id="5" name="TextBox 4"/>
          <p:cNvSpPr txBox="1"/>
          <p:nvPr/>
        </p:nvSpPr>
        <p:spPr>
          <a:xfrm>
            <a:off x="16173450" y="190500"/>
            <a:ext cx="1181100" cy="323850"/>
          </a:xfrm>
          <a:prstGeom prst="rect">
            <a:avLst/>
          </a:prstGeom>
          <a:noFill/>
        </p:spPr>
        <p:txBody>
          <a:bodyPr wrap="square" lIns="0" rIns="0" tIns="0" bIns="0" anchor="ctr">
            <a:spAutoFit/>
          </a:bodyPr>
          <a:lstStyle/>
          <a:p>
            <a:pPr algn="r">
              <a:lnSpc>
                <a:spcPct val="120000"/>
              </a:lnSpc>
            </a:pPr>
            <a:r>
              <a:rPr sz="1050" b="0" i="1">
                <a:solidFill>
                  <a:srgbClr val="C81D25"/>
                </a:solidFill>
                <a:latin typeface="Times New Roman"/>
              </a:rPr>
              <a:t>19 / 22</a:t>
            </a:r>
          </a:p>
        </p:txBody>
      </p:sp>
      <p:sp>
        <p:nvSpPr>
          <p:cNvPr id="6" name="TextBox 5"/>
          <p:cNvSpPr txBox="1"/>
          <p:nvPr/>
        </p:nvSpPr>
        <p:spPr>
          <a:xfrm>
            <a:off x="1123950" y="1009650"/>
            <a:ext cx="7658100" cy="41910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Detail B</a:t>
            </a:r>
          </a:p>
        </p:txBody>
      </p:sp>
      <p:sp>
        <p:nvSpPr>
          <p:cNvPr id="7" name="TextBox 6"/>
          <p:cNvSpPr txBox="1"/>
          <p:nvPr/>
        </p:nvSpPr>
        <p:spPr>
          <a:xfrm>
            <a:off x="1123950" y="1600200"/>
            <a:ext cx="16040100" cy="588317"/>
          </a:xfrm>
          <a:prstGeom prst="rect">
            <a:avLst/>
          </a:prstGeom>
          <a:noFill/>
        </p:spPr>
        <p:txBody>
          <a:bodyPr wrap="square" lIns="0" rIns="0" tIns="0" bIns="0" anchor="ctr">
            <a:spAutoFit/>
          </a:bodyPr>
          <a:lstStyle/>
          <a:p>
            <a:pPr algn="l">
              <a:lnSpc>
                <a:spcPct val="107000"/>
              </a:lnSpc>
            </a:pPr>
            <a:r>
              <a:rPr sz="4050" b="1" i="0">
                <a:solidFill>
                  <a:srgbClr val="1A2B4C"/>
                </a:solidFill>
                <a:latin typeface="Times New Roman"/>
              </a:rPr>
              <a:t> Pakistan’s </a:t>
            </a:r>
            <a:r>
              <a:rPr sz="4050" b="1" i="0">
                <a:solidFill>
                  <a:srgbClr val="C81D25"/>
                </a:solidFill>
                <a:latin typeface="Times New Roman"/>
              </a:rPr>
              <a:t>crop geography</a:t>
            </a:r>
            <a:r>
              <a:rPr sz="4050" b="1" i="0">
                <a:solidFill>
                  <a:srgbClr val="1A2B4C"/>
                </a:solidFill>
                <a:latin typeface="Times New Roman"/>
              </a:rPr>
              <a:t> maps onto its climate geography. </a:t>
            </a:r>
          </a:p>
        </p:txBody>
      </p:sp>
      <p:sp>
        <p:nvSpPr>
          <p:cNvPr id="8" name="Rectangle 7"/>
          <p:cNvSpPr/>
          <p:nvPr/>
        </p:nvSpPr>
        <p:spPr>
          <a:xfrm>
            <a:off x="1143000" y="3238500"/>
            <a:ext cx="16002000" cy="313372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43000" y="3238500"/>
            <a:ext cx="16002000" cy="57150"/>
          </a:xfrm>
          <a:prstGeom prst="rect">
            <a:avLst/>
          </a:prstGeom>
          <a:solidFill>
            <a:srgbClr val="B88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7135475" y="3238500"/>
            <a:ext cx="9525" cy="31337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43000" y="6362700"/>
            <a:ext cx="16002000" cy="95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43000" y="3238500"/>
            <a:ext cx="9525" cy="31337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1152525" y="3295650"/>
            <a:ext cx="15982950" cy="438150"/>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33475" y="3276600"/>
            <a:ext cx="3462932" cy="476250"/>
          </a:xfrm>
          <a:prstGeom prst="rect">
            <a:avLst/>
          </a:prstGeom>
          <a:noFill/>
        </p:spPr>
        <p:txBody>
          <a:bodyPr wrap="square" lIns="0" rIns="0" tIns="0" bIns="0" anchor="t">
            <a:spAutoFit/>
          </a:bodyPr>
          <a:lstStyle/>
          <a:p>
            <a:pPr algn="l">
              <a:lnSpc>
                <a:spcPct val="120000"/>
              </a:lnSpc>
            </a:pPr>
            <a:r>
              <a:rPr sz="1200" b="1" i="0">
                <a:solidFill>
                  <a:srgbClr val="FFFFFF"/>
                </a:solidFill>
                <a:latin typeface="Times New Roman"/>
              </a:rPr>
              <a:t>Zone</a:t>
            </a:r>
          </a:p>
        </p:txBody>
      </p:sp>
      <p:sp>
        <p:nvSpPr>
          <p:cNvPr id="15" name="Rectangle 14"/>
          <p:cNvSpPr/>
          <p:nvPr/>
        </p:nvSpPr>
        <p:spPr>
          <a:xfrm>
            <a:off x="4577357" y="3295650"/>
            <a:ext cx="9525" cy="438150"/>
          </a:xfrm>
          <a:prstGeom prst="rect">
            <a:avLst/>
          </a:prstGeom>
          <a:solidFill>
            <a:srgbClr val="24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558307" y="3276600"/>
            <a:ext cx="4604593" cy="476250"/>
          </a:xfrm>
          <a:prstGeom prst="rect">
            <a:avLst/>
          </a:prstGeom>
          <a:noFill/>
        </p:spPr>
        <p:txBody>
          <a:bodyPr wrap="square" lIns="0" rIns="0" tIns="0" bIns="0" anchor="t">
            <a:spAutoFit/>
          </a:bodyPr>
          <a:lstStyle/>
          <a:p>
            <a:pPr algn="l">
              <a:lnSpc>
                <a:spcPct val="120000"/>
              </a:lnSpc>
            </a:pPr>
            <a:r>
              <a:rPr sz="1200" b="1" i="0">
                <a:solidFill>
                  <a:srgbClr val="FFFFFF"/>
                </a:solidFill>
                <a:latin typeface="Times New Roman"/>
              </a:rPr>
              <a:t>Climate</a:t>
            </a:r>
          </a:p>
        </p:txBody>
      </p:sp>
      <p:sp>
        <p:nvSpPr>
          <p:cNvPr id="17" name="Rectangle 16"/>
          <p:cNvSpPr/>
          <p:nvPr/>
        </p:nvSpPr>
        <p:spPr>
          <a:xfrm>
            <a:off x="9143851" y="3295650"/>
            <a:ext cx="9525" cy="438150"/>
          </a:xfrm>
          <a:prstGeom prst="rect">
            <a:avLst/>
          </a:prstGeom>
          <a:solidFill>
            <a:srgbClr val="24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24801" y="3276600"/>
            <a:ext cx="4033837" cy="476250"/>
          </a:xfrm>
          <a:prstGeom prst="rect">
            <a:avLst/>
          </a:prstGeom>
          <a:noFill/>
        </p:spPr>
        <p:txBody>
          <a:bodyPr wrap="square" lIns="0" rIns="0" tIns="0" bIns="0" anchor="t">
            <a:spAutoFit/>
          </a:bodyPr>
          <a:lstStyle/>
          <a:p>
            <a:pPr algn="l">
              <a:lnSpc>
                <a:spcPct val="120000"/>
              </a:lnSpc>
            </a:pPr>
            <a:r>
              <a:rPr sz="1200" b="1" i="0">
                <a:solidFill>
                  <a:srgbClr val="FFFFFF"/>
                </a:solidFill>
                <a:latin typeface="Times New Roman"/>
              </a:rPr>
              <a:t>Dominant crop</a:t>
            </a:r>
          </a:p>
        </p:txBody>
      </p:sp>
      <p:sp>
        <p:nvSpPr>
          <p:cNvPr id="19" name="Rectangle 18"/>
          <p:cNvSpPr/>
          <p:nvPr/>
        </p:nvSpPr>
        <p:spPr>
          <a:xfrm>
            <a:off x="13139588" y="3295650"/>
            <a:ext cx="9525" cy="438150"/>
          </a:xfrm>
          <a:prstGeom prst="rect">
            <a:avLst/>
          </a:prstGeom>
          <a:solidFill>
            <a:srgbClr val="24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120538" y="3276600"/>
            <a:ext cx="4033837" cy="476250"/>
          </a:xfrm>
          <a:prstGeom prst="rect">
            <a:avLst/>
          </a:prstGeom>
          <a:noFill/>
        </p:spPr>
        <p:txBody>
          <a:bodyPr wrap="square" lIns="0" rIns="0" tIns="0" bIns="0" anchor="t">
            <a:spAutoFit/>
          </a:bodyPr>
          <a:lstStyle/>
          <a:p>
            <a:pPr algn="l">
              <a:lnSpc>
                <a:spcPct val="120000"/>
              </a:lnSpc>
            </a:pPr>
            <a:r>
              <a:rPr sz="1200" b="1" i="0">
                <a:solidFill>
                  <a:srgbClr val="FFFFFF"/>
                </a:solidFill>
                <a:latin typeface="Times New Roman"/>
              </a:rPr>
              <a:t>Secondary</a:t>
            </a:r>
          </a:p>
        </p:txBody>
      </p:sp>
      <p:sp>
        <p:nvSpPr>
          <p:cNvPr id="21" name="Rectangle 20"/>
          <p:cNvSpPr/>
          <p:nvPr/>
        </p:nvSpPr>
        <p:spPr>
          <a:xfrm>
            <a:off x="1152525" y="3733800"/>
            <a:ext cx="15982950" cy="95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33475" y="3724275"/>
            <a:ext cx="3462932" cy="466725"/>
          </a:xfrm>
          <a:prstGeom prst="rect">
            <a:avLst/>
          </a:prstGeom>
          <a:noFill/>
        </p:spPr>
        <p:txBody>
          <a:bodyPr wrap="square" lIns="0" rIns="0" tIns="0" bIns="0" anchor="t">
            <a:spAutoFit/>
          </a:bodyPr>
          <a:lstStyle/>
          <a:p>
            <a:pPr algn="l">
              <a:lnSpc>
                <a:spcPct val="120000"/>
              </a:lnSpc>
            </a:pPr>
            <a:r>
              <a:rPr sz="1120" b="1" i="0">
                <a:solidFill>
                  <a:srgbClr val="1A2B4C"/>
                </a:solidFill>
                <a:latin typeface="Times New Roman"/>
              </a:rPr>
              <a:t>Indus Delta (Sindh south)</a:t>
            </a:r>
          </a:p>
        </p:txBody>
      </p:sp>
      <p:sp>
        <p:nvSpPr>
          <p:cNvPr id="23" name="Rectangle 22"/>
          <p:cNvSpPr/>
          <p:nvPr/>
        </p:nvSpPr>
        <p:spPr>
          <a:xfrm>
            <a:off x="4577357" y="3743325"/>
            <a:ext cx="9525" cy="4286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58307" y="3724275"/>
            <a:ext cx="4604593" cy="466725"/>
          </a:xfrm>
          <a:prstGeom prst="rect">
            <a:avLst/>
          </a:prstGeom>
          <a:noFill/>
        </p:spPr>
        <p:txBody>
          <a:bodyPr wrap="square" lIns="0" rIns="0" tIns="0" bIns="0" anchor="t">
            <a:spAutoFit/>
          </a:bodyPr>
          <a:lstStyle/>
          <a:p>
            <a:pPr algn="l">
              <a:lnSpc>
                <a:spcPct val="120000"/>
              </a:lnSpc>
            </a:pPr>
            <a:r>
              <a:rPr sz="1050" b="0" i="0">
                <a:solidFill>
                  <a:srgbClr val="1A2B4C"/>
                </a:solidFill>
                <a:latin typeface="Times New Roman"/>
              </a:rPr>
              <a:t>Tropical arid, 100–200 mm rain</a:t>
            </a:r>
          </a:p>
        </p:txBody>
      </p:sp>
      <p:sp>
        <p:nvSpPr>
          <p:cNvPr id="25" name="Rectangle 24"/>
          <p:cNvSpPr/>
          <p:nvPr/>
        </p:nvSpPr>
        <p:spPr>
          <a:xfrm>
            <a:off x="9143851" y="3743325"/>
            <a:ext cx="9525" cy="4286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24801" y="3724275"/>
            <a:ext cx="4033837" cy="466725"/>
          </a:xfrm>
          <a:prstGeom prst="rect">
            <a:avLst/>
          </a:prstGeom>
          <a:noFill/>
        </p:spPr>
        <p:txBody>
          <a:bodyPr wrap="square" lIns="0" rIns="0" tIns="0" bIns="0" anchor="t">
            <a:spAutoFit/>
          </a:bodyPr>
          <a:lstStyle/>
          <a:p>
            <a:pPr algn="l">
              <a:lnSpc>
                <a:spcPct val="120000"/>
              </a:lnSpc>
            </a:pPr>
            <a:r>
              <a:rPr sz="1050" b="0" i="1">
                <a:solidFill>
                  <a:srgbClr val="1A2B4C"/>
                </a:solidFill>
                <a:latin typeface="Times New Roman"/>
              </a:rPr>
              <a:t>Rice (IRRI varieties)</a:t>
            </a:r>
          </a:p>
        </p:txBody>
      </p:sp>
      <p:sp>
        <p:nvSpPr>
          <p:cNvPr id="27" name="Rectangle 26"/>
          <p:cNvSpPr/>
          <p:nvPr/>
        </p:nvSpPr>
        <p:spPr>
          <a:xfrm>
            <a:off x="13139588" y="3743325"/>
            <a:ext cx="9525" cy="4286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3120538" y="3724275"/>
            <a:ext cx="4033837" cy="466725"/>
          </a:xfrm>
          <a:prstGeom prst="rect">
            <a:avLst/>
          </a:prstGeom>
          <a:noFill/>
        </p:spPr>
        <p:txBody>
          <a:bodyPr wrap="square" lIns="0" rIns="0" tIns="0" bIns="0" anchor="t">
            <a:spAutoFit/>
          </a:bodyPr>
          <a:lstStyle/>
          <a:p>
            <a:pPr algn="l">
              <a:lnSpc>
                <a:spcPct val="120000"/>
              </a:lnSpc>
            </a:pPr>
            <a:r>
              <a:rPr sz="1050" b="0" i="1">
                <a:solidFill>
                  <a:srgbClr val="1A2B4C"/>
                </a:solidFill>
                <a:latin typeface="Times New Roman"/>
              </a:rPr>
              <a:t>Sugarcane on perennial fields</a:t>
            </a:r>
          </a:p>
        </p:txBody>
      </p:sp>
      <p:sp>
        <p:nvSpPr>
          <p:cNvPr id="29" name="Rectangle 28"/>
          <p:cNvSpPr/>
          <p:nvPr/>
        </p:nvSpPr>
        <p:spPr>
          <a:xfrm>
            <a:off x="1152525" y="4171950"/>
            <a:ext cx="15982950" cy="43815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52525" y="4171950"/>
            <a:ext cx="15982950" cy="95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1133475" y="4162425"/>
            <a:ext cx="3462932" cy="466725"/>
          </a:xfrm>
          <a:prstGeom prst="rect">
            <a:avLst/>
          </a:prstGeom>
          <a:noFill/>
        </p:spPr>
        <p:txBody>
          <a:bodyPr wrap="square" lIns="0" rIns="0" tIns="0" bIns="0" anchor="t">
            <a:spAutoFit/>
          </a:bodyPr>
          <a:lstStyle/>
          <a:p>
            <a:pPr algn="l">
              <a:lnSpc>
                <a:spcPct val="120000"/>
              </a:lnSpc>
            </a:pPr>
            <a:r>
              <a:rPr sz="1120" b="1" i="0">
                <a:solidFill>
                  <a:srgbClr val="1A2B4C"/>
                </a:solidFill>
                <a:latin typeface="Times New Roman"/>
              </a:rPr>
              <a:t>Lower Indus (Sukkur, Larkana)</a:t>
            </a:r>
          </a:p>
        </p:txBody>
      </p:sp>
      <p:sp>
        <p:nvSpPr>
          <p:cNvPr id="32" name="Rectangle 31"/>
          <p:cNvSpPr/>
          <p:nvPr/>
        </p:nvSpPr>
        <p:spPr>
          <a:xfrm>
            <a:off x="4577357" y="4181475"/>
            <a:ext cx="9525" cy="4286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558307" y="4162425"/>
            <a:ext cx="4604593" cy="466725"/>
          </a:xfrm>
          <a:prstGeom prst="rect">
            <a:avLst/>
          </a:prstGeom>
          <a:noFill/>
        </p:spPr>
        <p:txBody>
          <a:bodyPr wrap="square" lIns="0" rIns="0" tIns="0" bIns="0" anchor="t">
            <a:spAutoFit/>
          </a:bodyPr>
          <a:lstStyle/>
          <a:p>
            <a:pPr algn="l">
              <a:lnSpc>
                <a:spcPct val="120000"/>
              </a:lnSpc>
            </a:pPr>
            <a:r>
              <a:rPr sz="1050" b="0" i="0">
                <a:solidFill>
                  <a:srgbClr val="1A2B4C"/>
                </a:solidFill>
                <a:latin typeface="Times New Roman"/>
              </a:rPr>
              <a:t>Subtropical arid, 100–300 mm</a:t>
            </a:r>
          </a:p>
        </p:txBody>
      </p:sp>
      <p:sp>
        <p:nvSpPr>
          <p:cNvPr id="34" name="Rectangle 33"/>
          <p:cNvSpPr/>
          <p:nvPr/>
        </p:nvSpPr>
        <p:spPr>
          <a:xfrm>
            <a:off x="9143851" y="4181475"/>
            <a:ext cx="9525" cy="4286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24801" y="4162425"/>
            <a:ext cx="4033837" cy="466725"/>
          </a:xfrm>
          <a:prstGeom prst="rect">
            <a:avLst/>
          </a:prstGeom>
          <a:noFill/>
        </p:spPr>
        <p:txBody>
          <a:bodyPr wrap="square" lIns="0" rIns="0" tIns="0" bIns="0" anchor="t">
            <a:spAutoFit/>
          </a:bodyPr>
          <a:lstStyle/>
          <a:p>
            <a:pPr algn="l">
              <a:lnSpc>
                <a:spcPct val="120000"/>
              </a:lnSpc>
            </a:pPr>
            <a:r>
              <a:rPr sz="1050" b="0" i="1">
                <a:solidFill>
                  <a:srgbClr val="1A2B4C"/>
                </a:solidFill>
                <a:latin typeface="Times New Roman"/>
              </a:rPr>
              <a:t>Cotton (G. hirsutum &amp; BT)</a:t>
            </a:r>
          </a:p>
        </p:txBody>
      </p:sp>
      <p:sp>
        <p:nvSpPr>
          <p:cNvPr id="36" name="Rectangle 35"/>
          <p:cNvSpPr/>
          <p:nvPr/>
        </p:nvSpPr>
        <p:spPr>
          <a:xfrm>
            <a:off x="13139588" y="4181475"/>
            <a:ext cx="9525" cy="4286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3120538" y="4162425"/>
            <a:ext cx="4033837" cy="466725"/>
          </a:xfrm>
          <a:prstGeom prst="rect">
            <a:avLst/>
          </a:prstGeom>
          <a:noFill/>
        </p:spPr>
        <p:txBody>
          <a:bodyPr wrap="square" lIns="0" rIns="0" tIns="0" bIns="0" anchor="t">
            <a:spAutoFit/>
          </a:bodyPr>
          <a:lstStyle/>
          <a:p>
            <a:pPr algn="l">
              <a:lnSpc>
                <a:spcPct val="120000"/>
              </a:lnSpc>
            </a:pPr>
            <a:r>
              <a:rPr sz="1050" b="0" i="1">
                <a:solidFill>
                  <a:srgbClr val="1A2B4C"/>
                </a:solidFill>
                <a:latin typeface="Times New Roman"/>
              </a:rPr>
              <a:t>Wheat on rotation</a:t>
            </a:r>
          </a:p>
        </p:txBody>
      </p:sp>
      <p:sp>
        <p:nvSpPr>
          <p:cNvPr id="38" name="Rectangle 37"/>
          <p:cNvSpPr/>
          <p:nvPr/>
        </p:nvSpPr>
        <p:spPr>
          <a:xfrm>
            <a:off x="1152525" y="4610100"/>
            <a:ext cx="15982950" cy="95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133475" y="4600575"/>
            <a:ext cx="3462932" cy="466725"/>
          </a:xfrm>
          <a:prstGeom prst="rect">
            <a:avLst/>
          </a:prstGeom>
          <a:noFill/>
        </p:spPr>
        <p:txBody>
          <a:bodyPr wrap="square" lIns="0" rIns="0" tIns="0" bIns="0" anchor="t">
            <a:spAutoFit/>
          </a:bodyPr>
          <a:lstStyle/>
          <a:p>
            <a:pPr algn="l">
              <a:lnSpc>
                <a:spcPct val="120000"/>
              </a:lnSpc>
            </a:pPr>
            <a:r>
              <a:rPr sz="1120" b="1" i="0">
                <a:solidFill>
                  <a:srgbClr val="1A2B4C"/>
                </a:solidFill>
                <a:latin typeface="Times New Roman"/>
              </a:rPr>
              <a:t>Punjab irrigated plain</a:t>
            </a:r>
          </a:p>
        </p:txBody>
      </p:sp>
      <p:sp>
        <p:nvSpPr>
          <p:cNvPr id="40" name="Rectangle 39"/>
          <p:cNvSpPr/>
          <p:nvPr/>
        </p:nvSpPr>
        <p:spPr>
          <a:xfrm>
            <a:off x="4577357" y="4619625"/>
            <a:ext cx="9525" cy="4286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4558307" y="4600575"/>
            <a:ext cx="4604593" cy="466725"/>
          </a:xfrm>
          <a:prstGeom prst="rect">
            <a:avLst/>
          </a:prstGeom>
          <a:noFill/>
        </p:spPr>
        <p:txBody>
          <a:bodyPr wrap="square" lIns="0" rIns="0" tIns="0" bIns="0" anchor="t">
            <a:spAutoFit/>
          </a:bodyPr>
          <a:lstStyle/>
          <a:p>
            <a:pPr algn="l">
              <a:lnSpc>
                <a:spcPct val="120000"/>
              </a:lnSpc>
            </a:pPr>
            <a:r>
              <a:rPr sz="1050" b="0" i="0">
                <a:solidFill>
                  <a:srgbClr val="1A2B4C"/>
                </a:solidFill>
                <a:latin typeface="Times New Roman"/>
              </a:rPr>
              <a:t>Semi-arid subtropical, 300–700 mm</a:t>
            </a:r>
          </a:p>
        </p:txBody>
      </p:sp>
      <p:sp>
        <p:nvSpPr>
          <p:cNvPr id="42" name="Rectangle 41"/>
          <p:cNvSpPr/>
          <p:nvPr/>
        </p:nvSpPr>
        <p:spPr>
          <a:xfrm>
            <a:off x="9143851" y="4619625"/>
            <a:ext cx="9525" cy="4286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9124801" y="4600575"/>
            <a:ext cx="4033837" cy="466725"/>
          </a:xfrm>
          <a:prstGeom prst="rect">
            <a:avLst/>
          </a:prstGeom>
          <a:noFill/>
        </p:spPr>
        <p:txBody>
          <a:bodyPr wrap="square" lIns="0" rIns="0" tIns="0" bIns="0" anchor="t">
            <a:spAutoFit/>
          </a:bodyPr>
          <a:lstStyle/>
          <a:p>
            <a:pPr algn="l">
              <a:lnSpc>
                <a:spcPct val="120000"/>
              </a:lnSpc>
            </a:pPr>
            <a:r>
              <a:rPr sz="1050" b="0" i="1">
                <a:solidFill>
                  <a:srgbClr val="1A2B4C"/>
                </a:solidFill>
                <a:latin typeface="Times New Roman"/>
              </a:rPr>
              <a:t>Wheat (rabi) · Cotton (kharif)</a:t>
            </a:r>
          </a:p>
        </p:txBody>
      </p:sp>
      <p:sp>
        <p:nvSpPr>
          <p:cNvPr id="44" name="Rectangle 43"/>
          <p:cNvSpPr/>
          <p:nvPr/>
        </p:nvSpPr>
        <p:spPr>
          <a:xfrm>
            <a:off x="13139588" y="4619625"/>
            <a:ext cx="9525" cy="4286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13120538" y="4600575"/>
            <a:ext cx="4033837" cy="466725"/>
          </a:xfrm>
          <a:prstGeom prst="rect">
            <a:avLst/>
          </a:prstGeom>
          <a:noFill/>
        </p:spPr>
        <p:txBody>
          <a:bodyPr wrap="square" lIns="0" rIns="0" tIns="0" bIns="0" anchor="t">
            <a:spAutoFit/>
          </a:bodyPr>
          <a:lstStyle/>
          <a:p>
            <a:pPr algn="l">
              <a:lnSpc>
                <a:spcPct val="120000"/>
              </a:lnSpc>
            </a:pPr>
            <a:r>
              <a:rPr sz="1050" b="0" i="1">
                <a:solidFill>
                  <a:srgbClr val="1A2B4C"/>
                </a:solidFill>
                <a:latin typeface="Times New Roman"/>
              </a:rPr>
              <a:t>Sugarcane, maize, oilseeds</a:t>
            </a:r>
          </a:p>
        </p:txBody>
      </p:sp>
      <p:sp>
        <p:nvSpPr>
          <p:cNvPr id="46" name="Rectangle 45"/>
          <p:cNvSpPr/>
          <p:nvPr/>
        </p:nvSpPr>
        <p:spPr>
          <a:xfrm>
            <a:off x="1152525" y="5048250"/>
            <a:ext cx="15982950" cy="43815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152525" y="5048250"/>
            <a:ext cx="15982950" cy="95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133475" y="5038725"/>
            <a:ext cx="3462932" cy="466725"/>
          </a:xfrm>
          <a:prstGeom prst="rect">
            <a:avLst/>
          </a:prstGeom>
          <a:noFill/>
        </p:spPr>
        <p:txBody>
          <a:bodyPr wrap="square" lIns="0" rIns="0" tIns="0" bIns="0" anchor="t">
            <a:spAutoFit/>
          </a:bodyPr>
          <a:lstStyle/>
          <a:p>
            <a:pPr algn="l">
              <a:lnSpc>
                <a:spcPct val="120000"/>
              </a:lnSpc>
            </a:pPr>
            <a:r>
              <a:rPr sz="1120" b="1" i="0">
                <a:solidFill>
                  <a:srgbClr val="1A2B4C"/>
                </a:solidFill>
                <a:latin typeface="Times New Roman"/>
              </a:rPr>
              <a:t>KPK &amp; foothills</a:t>
            </a:r>
          </a:p>
        </p:txBody>
      </p:sp>
      <p:sp>
        <p:nvSpPr>
          <p:cNvPr id="49" name="Rectangle 48"/>
          <p:cNvSpPr/>
          <p:nvPr/>
        </p:nvSpPr>
        <p:spPr>
          <a:xfrm>
            <a:off x="4577357" y="5057775"/>
            <a:ext cx="9525" cy="4286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4558307" y="5038725"/>
            <a:ext cx="4604593" cy="466725"/>
          </a:xfrm>
          <a:prstGeom prst="rect">
            <a:avLst/>
          </a:prstGeom>
          <a:noFill/>
        </p:spPr>
        <p:txBody>
          <a:bodyPr wrap="square" lIns="0" rIns="0" tIns="0" bIns="0" anchor="t">
            <a:spAutoFit/>
          </a:bodyPr>
          <a:lstStyle/>
          <a:p>
            <a:pPr algn="l">
              <a:lnSpc>
                <a:spcPct val="120000"/>
              </a:lnSpc>
            </a:pPr>
            <a:r>
              <a:rPr sz="1050" b="0" i="0">
                <a:solidFill>
                  <a:srgbClr val="1A2B4C"/>
                </a:solidFill>
                <a:latin typeface="Times New Roman"/>
              </a:rPr>
              <a:t>Subtropical highland, 400–1,200 mm</a:t>
            </a:r>
          </a:p>
        </p:txBody>
      </p:sp>
      <p:sp>
        <p:nvSpPr>
          <p:cNvPr id="51" name="Rectangle 50"/>
          <p:cNvSpPr/>
          <p:nvPr/>
        </p:nvSpPr>
        <p:spPr>
          <a:xfrm>
            <a:off x="9143851" y="5057775"/>
            <a:ext cx="9525" cy="4286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9124801" y="5038725"/>
            <a:ext cx="4033837" cy="466725"/>
          </a:xfrm>
          <a:prstGeom prst="rect">
            <a:avLst/>
          </a:prstGeom>
          <a:noFill/>
        </p:spPr>
        <p:txBody>
          <a:bodyPr wrap="square" lIns="0" rIns="0" tIns="0" bIns="0" anchor="t">
            <a:spAutoFit/>
          </a:bodyPr>
          <a:lstStyle/>
          <a:p>
            <a:pPr algn="l">
              <a:lnSpc>
                <a:spcPct val="120000"/>
              </a:lnSpc>
            </a:pPr>
            <a:r>
              <a:rPr sz="1050" b="0" i="1">
                <a:solidFill>
                  <a:srgbClr val="1A2B4C"/>
                </a:solidFill>
                <a:latin typeface="Times New Roman"/>
              </a:rPr>
              <a:t>Maize (kharif) · Wheat (rabi)</a:t>
            </a:r>
          </a:p>
        </p:txBody>
      </p:sp>
      <p:sp>
        <p:nvSpPr>
          <p:cNvPr id="53" name="Rectangle 52"/>
          <p:cNvSpPr/>
          <p:nvPr/>
        </p:nvSpPr>
        <p:spPr>
          <a:xfrm>
            <a:off x="13139588" y="5057775"/>
            <a:ext cx="9525" cy="4286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3120538" y="5038725"/>
            <a:ext cx="4033837" cy="466725"/>
          </a:xfrm>
          <a:prstGeom prst="rect">
            <a:avLst/>
          </a:prstGeom>
          <a:noFill/>
        </p:spPr>
        <p:txBody>
          <a:bodyPr wrap="square" lIns="0" rIns="0" tIns="0" bIns="0" anchor="t">
            <a:spAutoFit/>
          </a:bodyPr>
          <a:lstStyle/>
          <a:p>
            <a:pPr algn="l">
              <a:lnSpc>
                <a:spcPct val="120000"/>
              </a:lnSpc>
            </a:pPr>
            <a:r>
              <a:rPr sz="1050" b="0" i="1">
                <a:solidFill>
                  <a:srgbClr val="1A2B4C"/>
                </a:solidFill>
                <a:latin typeface="Times New Roman"/>
              </a:rPr>
              <a:t>Sugarcane in plains, tobacco</a:t>
            </a:r>
          </a:p>
        </p:txBody>
      </p:sp>
      <p:sp>
        <p:nvSpPr>
          <p:cNvPr id="55" name="Rectangle 54"/>
          <p:cNvSpPr/>
          <p:nvPr/>
        </p:nvSpPr>
        <p:spPr>
          <a:xfrm>
            <a:off x="1152525" y="5486400"/>
            <a:ext cx="15982950" cy="95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133475" y="5476875"/>
            <a:ext cx="3462932" cy="466725"/>
          </a:xfrm>
          <a:prstGeom prst="rect">
            <a:avLst/>
          </a:prstGeom>
          <a:noFill/>
        </p:spPr>
        <p:txBody>
          <a:bodyPr wrap="square" lIns="0" rIns="0" tIns="0" bIns="0" anchor="t">
            <a:spAutoFit/>
          </a:bodyPr>
          <a:lstStyle/>
          <a:p>
            <a:pPr algn="l">
              <a:lnSpc>
                <a:spcPct val="120000"/>
              </a:lnSpc>
            </a:pPr>
            <a:r>
              <a:rPr sz="1120" b="1" i="0">
                <a:solidFill>
                  <a:srgbClr val="1A2B4C"/>
                </a:solidFill>
                <a:latin typeface="Times New Roman"/>
              </a:rPr>
              <a:t>Northern highlands</a:t>
            </a:r>
          </a:p>
        </p:txBody>
      </p:sp>
      <p:sp>
        <p:nvSpPr>
          <p:cNvPr id="57" name="Rectangle 56"/>
          <p:cNvSpPr/>
          <p:nvPr/>
        </p:nvSpPr>
        <p:spPr>
          <a:xfrm>
            <a:off x="4577357" y="5495925"/>
            <a:ext cx="9525" cy="4286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4558307" y="5476875"/>
            <a:ext cx="4604593" cy="466725"/>
          </a:xfrm>
          <a:prstGeom prst="rect">
            <a:avLst/>
          </a:prstGeom>
          <a:noFill/>
        </p:spPr>
        <p:txBody>
          <a:bodyPr wrap="square" lIns="0" rIns="0" tIns="0" bIns="0" anchor="t">
            <a:spAutoFit/>
          </a:bodyPr>
          <a:lstStyle/>
          <a:p>
            <a:pPr algn="l">
              <a:lnSpc>
                <a:spcPct val="120000"/>
              </a:lnSpc>
            </a:pPr>
            <a:r>
              <a:rPr sz="1050" b="0" i="0">
                <a:solidFill>
                  <a:srgbClr val="1A2B4C"/>
                </a:solidFill>
                <a:latin typeface="Times New Roman"/>
              </a:rPr>
              <a:t>Cold alpine / sub-alpine, 200–800 mm</a:t>
            </a:r>
          </a:p>
        </p:txBody>
      </p:sp>
      <p:sp>
        <p:nvSpPr>
          <p:cNvPr id="59" name="Rectangle 58"/>
          <p:cNvSpPr/>
          <p:nvPr/>
        </p:nvSpPr>
        <p:spPr>
          <a:xfrm>
            <a:off x="9143851" y="5495925"/>
            <a:ext cx="9525" cy="4286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9124801" y="5476875"/>
            <a:ext cx="4033837" cy="466725"/>
          </a:xfrm>
          <a:prstGeom prst="rect">
            <a:avLst/>
          </a:prstGeom>
          <a:noFill/>
        </p:spPr>
        <p:txBody>
          <a:bodyPr wrap="square" lIns="0" rIns="0" tIns="0" bIns="0" anchor="t">
            <a:spAutoFit/>
          </a:bodyPr>
          <a:lstStyle/>
          <a:p>
            <a:pPr algn="l">
              <a:lnSpc>
                <a:spcPct val="120000"/>
              </a:lnSpc>
            </a:pPr>
            <a:r>
              <a:rPr sz="1050" b="0" i="1">
                <a:solidFill>
                  <a:srgbClr val="1A2B4C"/>
                </a:solidFill>
                <a:latin typeface="Times New Roman"/>
              </a:rPr>
              <a:t>Wheat, barley, potato</a:t>
            </a:r>
          </a:p>
        </p:txBody>
      </p:sp>
      <p:sp>
        <p:nvSpPr>
          <p:cNvPr id="61" name="Rectangle 60"/>
          <p:cNvSpPr/>
          <p:nvPr/>
        </p:nvSpPr>
        <p:spPr>
          <a:xfrm>
            <a:off x="13139588" y="5495925"/>
            <a:ext cx="9525" cy="4286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3120538" y="5476875"/>
            <a:ext cx="4033837" cy="466725"/>
          </a:xfrm>
          <a:prstGeom prst="rect">
            <a:avLst/>
          </a:prstGeom>
          <a:noFill/>
        </p:spPr>
        <p:txBody>
          <a:bodyPr wrap="square" lIns="0" rIns="0" tIns="0" bIns="0" anchor="t">
            <a:spAutoFit/>
          </a:bodyPr>
          <a:lstStyle/>
          <a:p>
            <a:pPr algn="l">
              <a:lnSpc>
                <a:spcPct val="120000"/>
              </a:lnSpc>
            </a:pPr>
            <a:r>
              <a:rPr sz="1050" b="0" i="1">
                <a:solidFill>
                  <a:srgbClr val="1A2B4C"/>
                </a:solidFill>
                <a:latin typeface="Times New Roman"/>
              </a:rPr>
              <a:t>Apricot, apple, walnut</a:t>
            </a:r>
          </a:p>
        </p:txBody>
      </p:sp>
      <p:sp>
        <p:nvSpPr>
          <p:cNvPr id="63" name="Rectangle 62"/>
          <p:cNvSpPr/>
          <p:nvPr/>
        </p:nvSpPr>
        <p:spPr>
          <a:xfrm>
            <a:off x="1152525" y="5924550"/>
            <a:ext cx="15982950" cy="43815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ectangle 63"/>
          <p:cNvSpPr/>
          <p:nvPr/>
        </p:nvSpPr>
        <p:spPr>
          <a:xfrm>
            <a:off x="1152525" y="5924550"/>
            <a:ext cx="15982950" cy="95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TextBox 64"/>
          <p:cNvSpPr txBox="1"/>
          <p:nvPr/>
        </p:nvSpPr>
        <p:spPr>
          <a:xfrm>
            <a:off x="1133475" y="5915025"/>
            <a:ext cx="3462932" cy="466725"/>
          </a:xfrm>
          <a:prstGeom prst="rect">
            <a:avLst/>
          </a:prstGeom>
          <a:noFill/>
        </p:spPr>
        <p:txBody>
          <a:bodyPr wrap="square" lIns="0" rIns="0" tIns="0" bIns="0" anchor="t">
            <a:spAutoFit/>
          </a:bodyPr>
          <a:lstStyle/>
          <a:p>
            <a:pPr algn="l">
              <a:lnSpc>
                <a:spcPct val="120000"/>
              </a:lnSpc>
            </a:pPr>
            <a:r>
              <a:rPr sz="1120" b="1" i="0">
                <a:solidFill>
                  <a:srgbClr val="1A2B4C"/>
                </a:solidFill>
                <a:latin typeface="Times New Roman"/>
              </a:rPr>
              <a:t>Balochistan (Quetta, Nasirabad)</a:t>
            </a:r>
          </a:p>
        </p:txBody>
      </p:sp>
      <p:sp>
        <p:nvSpPr>
          <p:cNvPr id="66" name="Rectangle 65"/>
          <p:cNvSpPr/>
          <p:nvPr/>
        </p:nvSpPr>
        <p:spPr>
          <a:xfrm>
            <a:off x="4577357" y="5934075"/>
            <a:ext cx="9525" cy="4286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4558307" y="5915025"/>
            <a:ext cx="4604593" cy="466725"/>
          </a:xfrm>
          <a:prstGeom prst="rect">
            <a:avLst/>
          </a:prstGeom>
          <a:noFill/>
        </p:spPr>
        <p:txBody>
          <a:bodyPr wrap="square" lIns="0" rIns="0" tIns="0" bIns="0" anchor="t">
            <a:spAutoFit/>
          </a:bodyPr>
          <a:lstStyle/>
          <a:p>
            <a:pPr algn="l">
              <a:lnSpc>
                <a:spcPct val="120000"/>
              </a:lnSpc>
            </a:pPr>
            <a:r>
              <a:rPr sz="1050" b="0" i="0">
                <a:solidFill>
                  <a:srgbClr val="1A2B4C"/>
                </a:solidFill>
                <a:latin typeface="Times New Roman"/>
              </a:rPr>
              <a:t>Arid / semi-arid, 80–300 mm</a:t>
            </a:r>
          </a:p>
        </p:txBody>
      </p:sp>
      <p:sp>
        <p:nvSpPr>
          <p:cNvPr id="68" name="Rectangle 67"/>
          <p:cNvSpPr/>
          <p:nvPr/>
        </p:nvSpPr>
        <p:spPr>
          <a:xfrm>
            <a:off x="9143851" y="5934075"/>
            <a:ext cx="9525" cy="4286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9124801" y="5915025"/>
            <a:ext cx="4033837" cy="466725"/>
          </a:xfrm>
          <a:prstGeom prst="rect">
            <a:avLst/>
          </a:prstGeom>
          <a:noFill/>
        </p:spPr>
        <p:txBody>
          <a:bodyPr wrap="square" lIns="0" rIns="0" tIns="0" bIns="0" anchor="t">
            <a:spAutoFit/>
          </a:bodyPr>
          <a:lstStyle/>
          <a:p>
            <a:pPr algn="l">
              <a:lnSpc>
                <a:spcPct val="120000"/>
              </a:lnSpc>
            </a:pPr>
            <a:r>
              <a:rPr sz="1050" b="0" i="1">
                <a:solidFill>
                  <a:srgbClr val="1A2B4C"/>
                </a:solidFill>
                <a:latin typeface="Times New Roman"/>
              </a:rPr>
              <a:t>Wheat (rain-fed rabi)</a:t>
            </a:r>
          </a:p>
        </p:txBody>
      </p:sp>
      <p:sp>
        <p:nvSpPr>
          <p:cNvPr id="70" name="Rectangle 69"/>
          <p:cNvSpPr/>
          <p:nvPr/>
        </p:nvSpPr>
        <p:spPr>
          <a:xfrm>
            <a:off x="13139588" y="5934075"/>
            <a:ext cx="9525" cy="4286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TextBox 70"/>
          <p:cNvSpPr txBox="1"/>
          <p:nvPr/>
        </p:nvSpPr>
        <p:spPr>
          <a:xfrm>
            <a:off x="13120538" y="5915025"/>
            <a:ext cx="4033837" cy="466725"/>
          </a:xfrm>
          <a:prstGeom prst="rect">
            <a:avLst/>
          </a:prstGeom>
          <a:noFill/>
        </p:spPr>
        <p:txBody>
          <a:bodyPr wrap="square" lIns="0" rIns="0" tIns="0" bIns="0" anchor="t">
            <a:spAutoFit/>
          </a:bodyPr>
          <a:lstStyle/>
          <a:p>
            <a:pPr algn="l">
              <a:lnSpc>
                <a:spcPct val="120000"/>
              </a:lnSpc>
            </a:pPr>
            <a:r>
              <a:rPr sz="1050" b="0" i="1">
                <a:solidFill>
                  <a:srgbClr val="1A2B4C"/>
                </a:solidFill>
                <a:latin typeface="Times New Roman"/>
              </a:rPr>
              <a:t>Cumin, onion, fodder</a:t>
            </a:r>
          </a:p>
        </p:txBody>
      </p:sp>
      <p:sp>
        <p:nvSpPr>
          <p:cNvPr id="72" name="TextBox 71"/>
          <p:cNvSpPr txBox="1"/>
          <p:nvPr/>
        </p:nvSpPr>
        <p:spPr>
          <a:xfrm>
            <a:off x="1123950" y="6486525"/>
            <a:ext cx="16040100" cy="209550"/>
          </a:xfrm>
          <a:prstGeom prst="rect">
            <a:avLst/>
          </a:prstGeom>
          <a:noFill/>
        </p:spPr>
        <p:txBody>
          <a:bodyPr wrap="square" lIns="0" rIns="0" tIns="0" bIns="0" anchor="ctr">
            <a:spAutoFit/>
          </a:bodyPr>
          <a:lstStyle/>
          <a:p>
            <a:pPr algn="l">
              <a:lnSpc>
                <a:spcPct val="120000"/>
              </a:lnSpc>
            </a:pPr>
            <a:r>
              <a:rPr sz="1200" b="0" i="0">
                <a:solidFill>
                  <a:srgbClr val="000000"/>
                </a:solidFill>
                <a:latin typeface="Times New Roman"/>
              </a:rPr>
              <a:t>Source: Pakistan Bureau of Statistics, Agricultural Statistics of Pakistan 2022–23; FAO Agro-Ecological Zones for Pakistan (1993, revised 2018).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00" cy="685800"/>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11811000" y="1028700"/>
            <a:ext cx="5334000" cy="8382000"/>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3950" y="190500"/>
            <a:ext cx="11468100" cy="209550"/>
          </a:xfrm>
          <a:prstGeom prst="rect">
            <a:avLst/>
          </a:prstGeom>
          <a:noFill/>
        </p:spPr>
        <p:txBody>
          <a:bodyPr wrap="square" lIns="0" rIns="0" tIns="0" bIns="0" anchor="ctr">
            <a:spAutoFit/>
          </a:bodyPr>
          <a:lstStyle/>
          <a:p>
            <a:pPr algn="l">
              <a:lnSpc>
                <a:spcPct val="120000"/>
              </a:lnSpc>
            </a:pPr>
            <a:r>
              <a:rPr sz="1200" b="0" i="0">
                <a:solidFill>
                  <a:srgbClr val="FFFFFF"/>
                </a:solidFill>
                <a:latin typeface="Times New Roman"/>
              </a:rPr>
              <a:t>20 · Case study · the Indus basin as a single integrated system</a:t>
            </a:r>
          </a:p>
        </p:txBody>
      </p:sp>
      <p:sp>
        <p:nvSpPr>
          <p:cNvPr id="6" name="TextBox 5"/>
          <p:cNvSpPr txBox="1"/>
          <p:nvPr/>
        </p:nvSpPr>
        <p:spPr>
          <a:xfrm>
            <a:off x="16173450" y="190500"/>
            <a:ext cx="1181100" cy="323850"/>
          </a:xfrm>
          <a:prstGeom prst="rect">
            <a:avLst/>
          </a:prstGeom>
          <a:noFill/>
        </p:spPr>
        <p:txBody>
          <a:bodyPr wrap="square" lIns="0" rIns="0" tIns="0" bIns="0" anchor="ctr">
            <a:spAutoFit/>
          </a:bodyPr>
          <a:lstStyle/>
          <a:p>
            <a:pPr algn="r">
              <a:lnSpc>
                <a:spcPct val="120000"/>
              </a:lnSpc>
            </a:pPr>
            <a:r>
              <a:rPr sz="1050" b="0" i="1">
                <a:solidFill>
                  <a:srgbClr val="C81D25"/>
                </a:solidFill>
                <a:latin typeface="Times New Roman"/>
              </a:rPr>
              <a:t>20 / 22</a:t>
            </a:r>
          </a:p>
        </p:txBody>
      </p:sp>
      <p:sp>
        <p:nvSpPr>
          <p:cNvPr id="7" name="TextBox 6"/>
          <p:cNvSpPr txBox="1"/>
          <p:nvPr/>
        </p:nvSpPr>
        <p:spPr>
          <a:xfrm>
            <a:off x="1123950" y="1009650"/>
            <a:ext cx="7658100" cy="419100"/>
          </a:xfrm>
          <a:prstGeom prst="rect">
            <a:avLst/>
          </a:prstGeom>
          <a:noFill/>
        </p:spPr>
        <p:txBody>
          <a:bodyPr wrap="square" lIns="0" rIns="0" tIns="0" bIns="0" anchor="t">
            <a:spAutoFit/>
          </a:bodyPr>
          <a:lstStyle/>
          <a:p>
            <a:pPr algn="l">
              <a:lnSpc>
                <a:spcPct val="120000"/>
              </a:lnSpc>
            </a:pPr>
            <a:r>
              <a:rPr sz="1200" b="0" i="0">
                <a:solidFill>
                  <a:srgbClr val="C81D25"/>
                </a:solidFill>
                <a:latin typeface="Times New Roman"/>
              </a:rPr>
              <a:t>Case study · analysis</a:t>
            </a:r>
          </a:p>
        </p:txBody>
      </p:sp>
      <p:sp>
        <p:nvSpPr>
          <p:cNvPr id="8" name="Rectangle 7"/>
          <p:cNvSpPr/>
          <p:nvPr/>
        </p:nvSpPr>
        <p:spPr>
          <a:xfrm>
            <a:off x="1143000" y="1019175"/>
            <a:ext cx="1301650" cy="1809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1143000" y="1019175"/>
            <a:ext cx="1301650" cy="9525"/>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2435125" y="1019175"/>
            <a:ext cx="9525" cy="180975"/>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43000" y="1190625"/>
            <a:ext cx="1301650" cy="9525"/>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1143000" y="1019175"/>
            <a:ext cx="9525" cy="180975"/>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1123950" y="1600200"/>
            <a:ext cx="16040100" cy="588317"/>
          </a:xfrm>
          <a:prstGeom prst="rect">
            <a:avLst/>
          </a:prstGeom>
          <a:noFill/>
        </p:spPr>
        <p:txBody>
          <a:bodyPr wrap="square" lIns="0" rIns="0" tIns="0" bIns="0" anchor="ctr">
            <a:spAutoFit/>
          </a:bodyPr>
          <a:lstStyle/>
          <a:p>
            <a:pPr algn="l">
              <a:lnSpc>
                <a:spcPct val="107000"/>
              </a:lnSpc>
            </a:pPr>
            <a:r>
              <a:rPr sz="4050" b="1" i="0">
                <a:solidFill>
                  <a:srgbClr val="1A2B4C"/>
                </a:solidFill>
                <a:latin typeface="Times New Roman"/>
              </a:rPr>
              <a:t> A single </a:t>
            </a:r>
            <a:r>
              <a:rPr sz="4050" b="1" i="0">
                <a:solidFill>
                  <a:srgbClr val="C81D25"/>
                </a:solidFill>
                <a:latin typeface="Times New Roman"/>
              </a:rPr>
              <a:t>basin</a:t>
            </a:r>
            <a:r>
              <a:rPr sz="4050" b="1" i="0">
                <a:solidFill>
                  <a:srgbClr val="1A2B4C"/>
                </a:solidFill>
                <a:latin typeface="Times New Roman"/>
              </a:rPr>
              <a:t> glues the five themes together. </a:t>
            </a:r>
          </a:p>
        </p:txBody>
      </p:sp>
      <p:sp>
        <p:nvSpPr>
          <p:cNvPr id="14" name="TextBox 13"/>
          <p:cNvSpPr txBox="1"/>
          <p:nvPr/>
        </p:nvSpPr>
        <p:spPr>
          <a:xfrm>
            <a:off x="1123950" y="3371850"/>
            <a:ext cx="10325100" cy="552450"/>
          </a:xfrm>
          <a:prstGeom prst="rect">
            <a:avLst/>
          </a:prstGeom>
          <a:noFill/>
        </p:spPr>
        <p:txBody>
          <a:bodyPr wrap="square" lIns="0" rIns="0" tIns="0" bIns="0" anchor="t">
            <a:spAutoFit/>
          </a:bodyPr>
          <a:lstStyle/>
          <a:p>
            <a:pPr algn="l">
              <a:lnSpc>
                <a:spcPct val="120000"/>
              </a:lnSpc>
            </a:pPr>
            <a:r>
              <a:rPr sz="1200" b="0" i="0">
                <a:solidFill>
                  <a:srgbClr val="000000"/>
                </a:solidFill>
                <a:latin typeface="Times New Roman"/>
              </a:rPr>
              <a:t>The Indus basin is the country’s connective tissue. Rain falls on Karakoram glaciers; the melt becomes the Indus River; the river feeds the irrigation canals; the canals drive the cotton–wheat rotation; the rotation sustains 60% of Pakistan’s employment. The five themes are not separate chapters — they are the same chapter read at different points.</a:t>
            </a:r>
          </a:p>
        </p:txBody>
      </p:sp>
      <p:sp>
        <p:nvSpPr>
          <p:cNvPr id="15" name="Rectangle 14"/>
          <p:cNvSpPr/>
          <p:nvPr/>
        </p:nvSpPr>
        <p:spPr>
          <a:xfrm>
            <a:off x="1143000" y="4381500"/>
            <a:ext cx="1950690" cy="130046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1143000" y="4381500"/>
            <a:ext cx="1950690" cy="57150"/>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238250" y="4552950"/>
            <a:ext cx="1760190" cy="180975"/>
          </a:xfrm>
          <a:prstGeom prst="rect">
            <a:avLst/>
          </a:prstGeom>
          <a:noFill/>
        </p:spPr>
        <p:txBody>
          <a:bodyPr wrap="square" lIns="0" rIns="0" tIns="0" bIns="0" anchor="ctr">
            <a:spAutoFit/>
          </a:bodyPr>
          <a:lstStyle/>
          <a:p>
            <a:pPr algn="ctr">
              <a:lnSpc>
                <a:spcPct val="120000"/>
              </a:lnSpc>
            </a:pPr>
            <a:r>
              <a:rPr sz="900" b="1" i="0" spc="90">
                <a:solidFill>
                  <a:srgbClr val="1A2B4C"/>
                </a:solidFill>
                <a:latin typeface="Times New Roman"/>
              </a:rPr>
              <a:t>STAGE 01</a:t>
            </a:r>
          </a:p>
        </p:txBody>
      </p:sp>
      <p:sp>
        <p:nvSpPr>
          <p:cNvPr id="18" name="TextBox 17"/>
          <p:cNvSpPr txBox="1"/>
          <p:nvPr/>
        </p:nvSpPr>
        <p:spPr>
          <a:xfrm>
            <a:off x="1238250" y="4733925"/>
            <a:ext cx="1760190" cy="238125"/>
          </a:xfrm>
          <a:prstGeom prst="rect">
            <a:avLst/>
          </a:prstGeom>
          <a:noFill/>
        </p:spPr>
        <p:txBody>
          <a:bodyPr wrap="square" lIns="0" rIns="0" tIns="0" bIns="0" anchor="ctr">
            <a:spAutoFit/>
          </a:bodyPr>
          <a:lstStyle/>
          <a:p>
            <a:pPr algn="ctr">
              <a:lnSpc>
                <a:spcPct val="120000"/>
              </a:lnSpc>
            </a:pPr>
            <a:r>
              <a:rPr sz="1350" b="1" i="0">
                <a:solidFill>
                  <a:srgbClr val="1A2B4C"/>
                </a:solidFill>
                <a:latin typeface="Times New Roman"/>
              </a:rPr>
              <a:t>Snowpack</a:t>
            </a:r>
          </a:p>
        </p:txBody>
      </p:sp>
      <p:sp>
        <p:nvSpPr>
          <p:cNvPr id="19" name="TextBox 18"/>
          <p:cNvSpPr txBox="1"/>
          <p:nvPr/>
        </p:nvSpPr>
        <p:spPr>
          <a:xfrm>
            <a:off x="1238250" y="4991100"/>
            <a:ext cx="1760190" cy="576560"/>
          </a:xfrm>
          <a:prstGeom prst="rect">
            <a:avLst/>
          </a:prstGeom>
          <a:noFill/>
        </p:spPr>
        <p:txBody>
          <a:bodyPr wrap="square" lIns="0" rIns="0" tIns="0" bIns="0" anchor="t">
            <a:spAutoFit/>
          </a:bodyPr>
          <a:lstStyle/>
          <a:p>
            <a:pPr algn="ctr">
              <a:lnSpc>
                <a:spcPct val="145000"/>
              </a:lnSpc>
            </a:pPr>
            <a:r>
              <a:rPr sz="980" b="0" i="0">
                <a:solidFill>
                  <a:srgbClr val="1A2B4C"/>
                </a:solidFill>
                <a:latin typeface="Times New Roman"/>
              </a:rPr>
              <a:t>Winter precipitation accumulates as snow on Karakoram &amp; Hindu Kush glaciers.</a:t>
            </a:r>
          </a:p>
        </p:txBody>
      </p:sp>
      <p:sp>
        <p:nvSpPr>
          <p:cNvPr id="20" name="Rectangle 19"/>
          <p:cNvSpPr/>
          <p:nvPr/>
        </p:nvSpPr>
        <p:spPr>
          <a:xfrm>
            <a:off x="3227040" y="4381500"/>
            <a:ext cx="1950690" cy="130046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3227040" y="4381500"/>
            <a:ext cx="1950690" cy="57150"/>
          </a:xfrm>
          <a:prstGeom prst="rect">
            <a:avLst/>
          </a:prstGeom>
          <a:solidFill>
            <a:srgbClr val="1F5A7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3322290" y="4552950"/>
            <a:ext cx="1760190" cy="180975"/>
          </a:xfrm>
          <a:prstGeom prst="rect">
            <a:avLst/>
          </a:prstGeom>
          <a:noFill/>
        </p:spPr>
        <p:txBody>
          <a:bodyPr wrap="square" lIns="0" rIns="0" tIns="0" bIns="0" anchor="ctr">
            <a:spAutoFit/>
          </a:bodyPr>
          <a:lstStyle/>
          <a:p>
            <a:pPr algn="ctr">
              <a:lnSpc>
                <a:spcPct val="120000"/>
              </a:lnSpc>
            </a:pPr>
            <a:r>
              <a:rPr sz="900" b="1" i="0" spc="90">
                <a:solidFill>
                  <a:srgbClr val="1F5A7E"/>
                </a:solidFill>
                <a:latin typeface="Times New Roman"/>
              </a:rPr>
              <a:t>STAGE 02</a:t>
            </a:r>
          </a:p>
        </p:txBody>
      </p:sp>
      <p:sp>
        <p:nvSpPr>
          <p:cNvPr id="23" name="TextBox 22"/>
          <p:cNvSpPr txBox="1"/>
          <p:nvPr/>
        </p:nvSpPr>
        <p:spPr>
          <a:xfrm>
            <a:off x="3322290" y="4733925"/>
            <a:ext cx="1760190" cy="238125"/>
          </a:xfrm>
          <a:prstGeom prst="rect">
            <a:avLst/>
          </a:prstGeom>
          <a:noFill/>
        </p:spPr>
        <p:txBody>
          <a:bodyPr wrap="square" lIns="0" rIns="0" tIns="0" bIns="0" anchor="ctr">
            <a:spAutoFit/>
          </a:bodyPr>
          <a:lstStyle/>
          <a:p>
            <a:pPr algn="ctr">
              <a:lnSpc>
                <a:spcPct val="120000"/>
              </a:lnSpc>
            </a:pPr>
            <a:r>
              <a:rPr sz="1350" b="1" i="0">
                <a:solidFill>
                  <a:srgbClr val="1A2B4C"/>
                </a:solidFill>
                <a:latin typeface="Times New Roman"/>
              </a:rPr>
              <a:t>Melt &amp; runoff</a:t>
            </a:r>
          </a:p>
        </p:txBody>
      </p:sp>
      <p:sp>
        <p:nvSpPr>
          <p:cNvPr id="24" name="TextBox 23"/>
          <p:cNvSpPr txBox="1"/>
          <p:nvPr/>
        </p:nvSpPr>
        <p:spPr>
          <a:xfrm>
            <a:off x="3322290" y="4991100"/>
            <a:ext cx="1760190" cy="576560"/>
          </a:xfrm>
          <a:prstGeom prst="rect">
            <a:avLst/>
          </a:prstGeom>
          <a:noFill/>
        </p:spPr>
        <p:txBody>
          <a:bodyPr wrap="square" lIns="0" rIns="0" tIns="0" bIns="0" anchor="t">
            <a:spAutoFit/>
          </a:bodyPr>
          <a:lstStyle/>
          <a:p>
            <a:pPr algn="ctr">
              <a:lnSpc>
                <a:spcPct val="145000"/>
              </a:lnSpc>
            </a:pPr>
            <a:r>
              <a:rPr sz="980" b="0" i="0">
                <a:solidFill>
                  <a:srgbClr val="1A2B4C"/>
                </a:solidFill>
                <a:latin typeface="Times New Roman"/>
              </a:rPr>
              <a:t>Apr–Aug meltwater joins Indus &amp; tributaries; seasonal flow regimes set.</a:t>
            </a:r>
          </a:p>
        </p:txBody>
      </p:sp>
      <p:sp>
        <p:nvSpPr>
          <p:cNvPr id="25" name="Rectangle 24"/>
          <p:cNvSpPr/>
          <p:nvPr/>
        </p:nvSpPr>
        <p:spPr>
          <a:xfrm>
            <a:off x="5311080" y="4381500"/>
            <a:ext cx="1950690" cy="130046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311080" y="4381500"/>
            <a:ext cx="1950690" cy="57150"/>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406330" y="4552950"/>
            <a:ext cx="1760190" cy="180975"/>
          </a:xfrm>
          <a:prstGeom prst="rect">
            <a:avLst/>
          </a:prstGeom>
          <a:noFill/>
        </p:spPr>
        <p:txBody>
          <a:bodyPr wrap="square" lIns="0" rIns="0" tIns="0" bIns="0" anchor="ctr">
            <a:spAutoFit/>
          </a:bodyPr>
          <a:lstStyle/>
          <a:p>
            <a:pPr algn="ctr">
              <a:lnSpc>
                <a:spcPct val="120000"/>
              </a:lnSpc>
            </a:pPr>
            <a:r>
              <a:rPr sz="900" b="1" i="0" spc="90">
                <a:solidFill>
                  <a:srgbClr val="C81D25"/>
                </a:solidFill>
                <a:latin typeface="Times New Roman"/>
              </a:rPr>
              <a:t>STAGE 03</a:t>
            </a:r>
          </a:p>
        </p:txBody>
      </p:sp>
      <p:sp>
        <p:nvSpPr>
          <p:cNvPr id="28" name="TextBox 27"/>
          <p:cNvSpPr txBox="1"/>
          <p:nvPr/>
        </p:nvSpPr>
        <p:spPr>
          <a:xfrm>
            <a:off x="5406330" y="4733925"/>
            <a:ext cx="1760190" cy="238125"/>
          </a:xfrm>
          <a:prstGeom prst="rect">
            <a:avLst/>
          </a:prstGeom>
          <a:noFill/>
        </p:spPr>
        <p:txBody>
          <a:bodyPr wrap="square" lIns="0" rIns="0" tIns="0" bIns="0" anchor="ctr">
            <a:spAutoFit/>
          </a:bodyPr>
          <a:lstStyle/>
          <a:p>
            <a:pPr algn="ctr">
              <a:lnSpc>
                <a:spcPct val="120000"/>
              </a:lnSpc>
            </a:pPr>
            <a:r>
              <a:rPr sz="1350" b="1" i="0">
                <a:solidFill>
                  <a:srgbClr val="1A2B4C"/>
                </a:solidFill>
                <a:latin typeface="Times New Roman"/>
              </a:rPr>
              <a:t>Diversion</a:t>
            </a:r>
          </a:p>
        </p:txBody>
      </p:sp>
      <p:sp>
        <p:nvSpPr>
          <p:cNvPr id="29" name="TextBox 28"/>
          <p:cNvSpPr txBox="1"/>
          <p:nvPr/>
        </p:nvSpPr>
        <p:spPr>
          <a:xfrm>
            <a:off x="5406330" y="4991100"/>
            <a:ext cx="1760190" cy="397073"/>
          </a:xfrm>
          <a:prstGeom prst="rect">
            <a:avLst/>
          </a:prstGeom>
          <a:noFill/>
        </p:spPr>
        <p:txBody>
          <a:bodyPr wrap="square" lIns="0" rIns="0" tIns="0" bIns="0" anchor="t">
            <a:spAutoFit/>
          </a:bodyPr>
          <a:lstStyle/>
          <a:p>
            <a:pPr algn="ctr">
              <a:lnSpc>
                <a:spcPct val="145000"/>
              </a:lnSpc>
            </a:pPr>
            <a:r>
              <a:rPr sz="980" b="0" i="0">
                <a:solidFill>
                  <a:srgbClr val="1A2B4C"/>
                </a:solidFill>
                <a:latin typeface="Times New Roman"/>
              </a:rPr>
              <a:t>Tarbela &amp; Mangla dams, link canals: south to Punjab &amp; Sindh.</a:t>
            </a:r>
          </a:p>
        </p:txBody>
      </p:sp>
      <p:sp>
        <p:nvSpPr>
          <p:cNvPr id="30" name="Rectangle 29"/>
          <p:cNvSpPr/>
          <p:nvPr/>
        </p:nvSpPr>
        <p:spPr>
          <a:xfrm>
            <a:off x="7395120" y="4381500"/>
            <a:ext cx="1950690" cy="130046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7395120" y="4381500"/>
            <a:ext cx="1950690" cy="57150"/>
          </a:xfrm>
          <a:prstGeom prst="rect">
            <a:avLst/>
          </a:prstGeom>
          <a:solidFill>
            <a:srgbClr val="2E5D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490370" y="4552950"/>
            <a:ext cx="1760190" cy="180975"/>
          </a:xfrm>
          <a:prstGeom prst="rect">
            <a:avLst/>
          </a:prstGeom>
          <a:noFill/>
        </p:spPr>
        <p:txBody>
          <a:bodyPr wrap="square" lIns="0" rIns="0" tIns="0" bIns="0" anchor="ctr">
            <a:spAutoFit/>
          </a:bodyPr>
          <a:lstStyle/>
          <a:p>
            <a:pPr algn="ctr">
              <a:lnSpc>
                <a:spcPct val="120000"/>
              </a:lnSpc>
            </a:pPr>
            <a:r>
              <a:rPr sz="900" b="1" i="0" spc="90">
                <a:solidFill>
                  <a:srgbClr val="2E5D3A"/>
                </a:solidFill>
                <a:latin typeface="Times New Roman"/>
              </a:rPr>
              <a:t>STAGE 04</a:t>
            </a:r>
          </a:p>
        </p:txBody>
      </p:sp>
      <p:sp>
        <p:nvSpPr>
          <p:cNvPr id="33" name="TextBox 32"/>
          <p:cNvSpPr txBox="1"/>
          <p:nvPr/>
        </p:nvSpPr>
        <p:spPr>
          <a:xfrm>
            <a:off x="7490370" y="4733925"/>
            <a:ext cx="1760190" cy="238125"/>
          </a:xfrm>
          <a:prstGeom prst="rect">
            <a:avLst/>
          </a:prstGeom>
          <a:noFill/>
        </p:spPr>
        <p:txBody>
          <a:bodyPr wrap="square" lIns="0" rIns="0" tIns="0" bIns="0" anchor="ctr">
            <a:spAutoFit/>
          </a:bodyPr>
          <a:lstStyle/>
          <a:p>
            <a:pPr algn="ctr">
              <a:lnSpc>
                <a:spcPct val="120000"/>
              </a:lnSpc>
            </a:pPr>
            <a:r>
              <a:rPr sz="1350" b="1" i="0">
                <a:solidFill>
                  <a:srgbClr val="1A2B4C"/>
                </a:solidFill>
                <a:latin typeface="Times New Roman"/>
              </a:rPr>
              <a:t>Field application</a:t>
            </a:r>
          </a:p>
        </p:txBody>
      </p:sp>
      <p:sp>
        <p:nvSpPr>
          <p:cNvPr id="34" name="TextBox 33"/>
          <p:cNvSpPr txBox="1"/>
          <p:nvPr/>
        </p:nvSpPr>
        <p:spPr>
          <a:xfrm>
            <a:off x="7490370" y="4991100"/>
            <a:ext cx="1760190" cy="576560"/>
          </a:xfrm>
          <a:prstGeom prst="rect">
            <a:avLst/>
          </a:prstGeom>
          <a:noFill/>
        </p:spPr>
        <p:txBody>
          <a:bodyPr wrap="square" lIns="0" rIns="0" tIns="0" bIns="0" anchor="t">
            <a:spAutoFit/>
          </a:bodyPr>
          <a:lstStyle/>
          <a:p>
            <a:pPr algn="ctr">
              <a:lnSpc>
                <a:spcPct val="145000"/>
              </a:lnSpc>
            </a:pPr>
            <a:r>
              <a:rPr sz="980" b="0" i="0">
                <a:solidFill>
                  <a:srgbClr val="1A2B4C"/>
                </a:solidFill>
                <a:latin typeface="Times New Roman"/>
              </a:rPr>
              <a:t>Distributary network applies water to cotton, wheat, rice, sugarcane, maize.</a:t>
            </a:r>
          </a:p>
        </p:txBody>
      </p:sp>
      <p:sp>
        <p:nvSpPr>
          <p:cNvPr id="35" name="Rectangle 34"/>
          <p:cNvSpPr/>
          <p:nvPr/>
        </p:nvSpPr>
        <p:spPr>
          <a:xfrm>
            <a:off x="9479160" y="4381500"/>
            <a:ext cx="1950839" cy="130046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ectangle 35"/>
          <p:cNvSpPr/>
          <p:nvPr/>
        </p:nvSpPr>
        <p:spPr>
          <a:xfrm>
            <a:off x="9479160" y="4381500"/>
            <a:ext cx="1950839" cy="57150"/>
          </a:xfrm>
          <a:prstGeom prst="rect">
            <a:avLst/>
          </a:prstGeom>
          <a:solidFill>
            <a:srgbClr val="B886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574410" y="4552950"/>
            <a:ext cx="1760339" cy="180975"/>
          </a:xfrm>
          <a:prstGeom prst="rect">
            <a:avLst/>
          </a:prstGeom>
          <a:noFill/>
        </p:spPr>
        <p:txBody>
          <a:bodyPr wrap="square" lIns="0" rIns="0" tIns="0" bIns="0" anchor="ctr">
            <a:spAutoFit/>
          </a:bodyPr>
          <a:lstStyle/>
          <a:p>
            <a:pPr algn="ctr">
              <a:lnSpc>
                <a:spcPct val="120000"/>
              </a:lnSpc>
            </a:pPr>
            <a:r>
              <a:rPr sz="900" b="1" i="0" spc="90">
                <a:solidFill>
                  <a:srgbClr val="B8862B"/>
                </a:solidFill>
                <a:latin typeface="Times New Roman"/>
              </a:rPr>
              <a:t>STAGE 05</a:t>
            </a:r>
          </a:p>
        </p:txBody>
      </p:sp>
      <p:sp>
        <p:nvSpPr>
          <p:cNvPr id="38" name="TextBox 37"/>
          <p:cNvSpPr txBox="1"/>
          <p:nvPr/>
        </p:nvSpPr>
        <p:spPr>
          <a:xfrm>
            <a:off x="9574410" y="4733925"/>
            <a:ext cx="1760339" cy="238125"/>
          </a:xfrm>
          <a:prstGeom prst="rect">
            <a:avLst/>
          </a:prstGeom>
          <a:noFill/>
        </p:spPr>
        <p:txBody>
          <a:bodyPr wrap="square" lIns="0" rIns="0" tIns="0" bIns="0" anchor="ctr">
            <a:spAutoFit/>
          </a:bodyPr>
          <a:lstStyle/>
          <a:p>
            <a:pPr algn="ctr">
              <a:lnSpc>
                <a:spcPct val="120000"/>
              </a:lnSpc>
            </a:pPr>
            <a:r>
              <a:rPr sz="1350" b="1" i="0">
                <a:solidFill>
                  <a:srgbClr val="1A2B4C"/>
                </a:solidFill>
                <a:latin typeface="Times New Roman"/>
              </a:rPr>
              <a:t>Delta discharge</a:t>
            </a:r>
          </a:p>
        </p:txBody>
      </p:sp>
      <p:sp>
        <p:nvSpPr>
          <p:cNvPr id="39" name="TextBox 38"/>
          <p:cNvSpPr txBox="1"/>
          <p:nvPr/>
        </p:nvSpPr>
        <p:spPr>
          <a:xfrm>
            <a:off x="9574410" y="4991100"/>
            <a:ext cx="1760339" cy="397073"/>
          </a:xfrm>
          <a:prstGeom prst="rect">
            <a:avLst/>
          </a:prstGeom>
          <a:noFill/>
        </p:spPr>
        <p:txBody>
          <a:bodyPr wrap="square" lIns="0" rIns="0" tIns="0" bIns="0" anchor="t">
            <a:spAutoFit/>
          </a:bodyPr>
          <a:lstStyle/>
          <a:p>
            <a:pPr algn="ctr">
              <a:lnSpc>
                <a:spcPct val="145000"/>
              </a:lnSpc>
            </a:pPr>
            <a:r>
              <a:rPr sz="980" b="0" i="0">
                <a:solidFill>
                  <a:srgbClr val="1A2B4C"/>
                </a:solidFill>
                <a:latin typeface="Times New Roman"/>
              </a:rPr>
              <a:t>Remaining flow reaches Iran-Pak mangrove delta; sediment.</a:t>
            </a:r>
          </a:p>
        </p:txBody>
      </p:sp>
      <p:sp>
        <p:nvSpPr>
          <p:cNvPr id="40" name="TextBox 39"/>
          <p:cNvSpPr txBox="1"/>
          <p:nvPr/>
        </p:nvSpPr>
        <p:spPr>
          <a:xfrm>
            <a:off x="12020550" y="1390650"/>
            <a:ext cx="4914900" cy="209550"/>
          </a:xfrm>
          <a:prstGeom prst="rect">
            <a:avLst/>
          </a:prstGeom>
          <a:noFill/>
        </p:spPr>
        <p:txBody>
          <a:bodyPr wrap="square" lIns="0" rIns="0" tIns="0" bIns="0" anchor="ctr">
            <a:spAutoFit/>
          </a:bodyPr>
          <a:lstStyle/>
          <a:p>
            <a:pPr algn="l">
              <a:lnSpc>
                <a:spcPct val="120000"/>
              </a:lnSpc>
            </a:pPr>
            <a:r>
              <a:rPr sz="1200" b="0" i="0">
                <a:solidFill>
                  <a:srgbClr val="FF5F66"/>
                </a:solidFill>
                <a:latin typeface="Times New Roman"/>
              </a:rPr>
              <a:t>One sentence</a:t>
            </a:r>
          </a:p>
        </p:txBody>
      </p:sp>
      <p:sp>
        <p:nvSpPr>
          <p:cNvPr id="41" name="TextBox 40"/>
          <p:cNvSpPr txBox="1"/>
          <p:nvPr/>
        </p:nvSpPr>
        <p:spPr>
          <a:xfrm>
            <a:off x="12020550" y="1733550"/>
            <a:ext cx="4914900" cy="1752600"/>
          </a:xfrm>
          <a:prstGeom prst="rect">
            <a:avLst/>
          </a:prstGeom>
          <a:noFill/>
        </p:spPr>
        <p:txBody>
          <a:bodyPr wrap="square" lIns="0" rIns="0" tIns="0" bIns="0" anchor="t">
            <a:spAutoFit/>
          </a:bodyPr>
          <a:lstStyle/>
          <a:p>
            <a:pPr algn="l">
              <a:lnSpc>
                <a:spcPct val="125000"/>
              </a:lnSpc>
            </a:pPr>
            <a:r>
              <a:rPr sz="2700" b="0" i="1">
                <a:solidFill>
                  <a:srgbClr val="FFFFFF"/>
                </a:solidFill>
                <a:latin typeface="Times New Roman"/>
              </a:rPr>
              <a:t> “The Indus is not a Pakistani river in a Pakistani country. Pakistan is, in a real sense, a country made by the Indus.” </a:t>
            </a:r>
          </a:p>
        </p:txBody>
      </p:sp>
      <p:sp>
        <p:nvSpPr>
          <p:cNvPr id="42" name="TextBox 41"/>
          <p:cNvSpPr txBox="1"/>
          <p:nvPr/>
        </p:nvSpPr>
        <p:spPr>
          <a:xfrm>
            <a:off x="12020550" y="3638550"/>
            <a:ext cx="4914900" cy="238125"/>
          </a:xfrm>
          <a:prstGeom prst="rect">
            <a:avLst/>
          </a:prstGeom>
          <a:noFill/>
        </p:spPr>
        <p:txBody>
          <a:bodyPr wrap="square" lIns="0" rIns="0" tIns="0" bIns="0" anchor="ctr">
            <a:spAutoFit/>
          </a:bodyPr>
          <a:lstStyle/>
          <a:p>
            <a:pPr algn="l">
              <a:lnSpc>
                <a:spcPct val="150000"/>
              </a:lnSpc>
            </a:pPr>
            <a:r>
              <a:rPr sz="1050" b="0" i="0" spc="126">
                <a:solidFill>
                  <a:srgbClr val="FF5F66"/>
                </a:solidFill>
                <a:latin typeface="Times New Roman"/>
              </a:rPr>
              <a:t>— paraphrased after Fazle Karim Khan, 1991</a:t>
            </a:r>
          </a:p>
        </p:txBody>
      </p:sp>
      <p:sp>
        <p:nvSpPr>
          <p:cNvPr id="43" name="Rectangle 42"/>
          <p:cNvSpPr/>
          <p:nvPr/>
        </p:nvSpPr>
        <p:spPr>
          <a:xfrm>
            <a:off x="12039600" y="4238625"/>
            <a:ext cx="4876800" cy="9525"/>
          </a:xfrm>
          <a:prstGeom prst="rect">
            <a:avLst/>
          </a:prstGeom>
          <a:solidFill>
            <a:srgbClr val="243A6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2020550" y="4514850"/>
            <a:ext cx="4914900" cy="209550"/>
          </a:xfrm>
          <a:prstGeom prst="rect">
            <a:avLst/>
          </a:prstGeom>
          <a:noFill/>
        </p:spPr>
        <p:txBody>
          <a:bodyPr wrap="square" lIns="0" rIns="0" tIns="0" bIns="0" anchor="ctr">
            <a:spAutoFit/>
          </a:bodyPr>
          <a:lstStyle/>
          <a:p>
            <a:pPr algn="l">
              <a:lnSpc>
                <a:spcPct val="120000"/>
              </a:lnSpc>
            </a:pPr>
            <a:r>
              <a:rPr sz="1200" b="0" i="0">
                <a:solidFill>
                  <a:srgbClr val="FF5F66"/>
                </a:solidFill>
                <a:latin typeface="Times New Roman"/>
              </a:rPr>
              <a:t>In numbers</a:t>
            </a:r>
          </a:p>
        </p:txBody>
      </p:sp>
      <p:sp>
        <p:nvSpPr>
          <p:cNvPr id="45" name="TextBox 44"/>
          <p:cNvSpPr txBox="1"/>
          <p:nvPr/>
        </p:nvSpPr>
        <p:spPr>
          <a:xfrm>
            <a:off x="12020550" y="4819650"/>
            <a:ext cx="4914900" cy="280987"/>
          </a:xfrm>
          <a:prstGeom prst="rect">
            <a:avLst/>
          </a:prstGeom>
          <a:noFill/>
        </p:spPr>
        <p:txBody>
          <a:bodyPr wrap="square" lIns="0" rIns="0" tIns="0" bIns="0" anchor="ctr">
            <a:spAutoFit/>
          </a:bodyPr>
          <a:lstStyle/>
          <a:p>
            <a:pPr algn="l">
              <a:lnSpc>
                <a:spcPct val="170000"/>
              </a:lnSpc>
            </a:pPr>
            <a:r>
              <a:rPr sz="1120" b="1" i="0">
                <a:solidFill>
                  <a:srgbClr val="FFFFFF"/>
                </a:solidFill>
                <a:latin typeface="Times New Roman"/>
              </a:rPr>
              <a:t>3,180 km</a:t>
            </a:r>
            <a:r>
              <a:rPr sz="1120" b="0" i="0">
                <a:solidFill>
                  <a:srgbClr val="FFFFFF"/>
                </a:solidFill>
                <a:latin typeface="Times New Roman"/>
              </a:rPr>
              <a:t> — Indus river length</a:t>
            </a:r>
          </a:p>
        </p:txBody>
      </p:sp>
      <p:sp>
        <p:nvSpPr>
          <p:cNvPr id="46" name="TextBox 45"/>
          <p:cNvSpPr txBox="1"/>
          <p:nvPr/>
        </p:nvSpPr>
        <p:spPr>
          <a:xfrm>
            <a:off x="12020550" y="5138737"/>
            <a:ext cx="4914900" cy="280987"/>
          </a:xfrm>
          <a:prstGeom prst="rect">
            <a:avLst/>
          </a:prstGeom>
          <a:noFill/>
        </p:spPr>
        <p:txBody>
          <a:bodyPr wrap="square" lIns="0" rIns="0" tIns="0" bIns="0" anchor="ctr">
            <a:spAutoFit/>
          </a:bodyPr>
          <a:lstStyle/>
          <a:p>
            <a:pPr algn="l">
              <a:lnSpc>
                <a:spcPct val="170000"/>
              </a:lnSpc>
            </a:pPr>
            <a:r>
              <a:rPr sz="1120" b="1" i="0">
                <a:solidFill>
                  <a:srgbClr val="FFFFFF"/>
                </a:solidFill>
                <a:latin typeface="Times New Roman"/>
              </a:rPr>
              <a:t>1.1 M km²</a:t>
            </a:r>
            <a:r>
              <a:rPr sz="1120" b="0" i="0">
                <a:solidFill>
                  <a:srgbClr val="FFFFFF"/>
                </a:solidFill>
                <a:latin typeface="Times New Roman"/>
              </a:rPr>
              <a:t> — basin area</a:t>
            </a:r>
          </a:p>
        </p:txBody>
      </p:sp>
      <p:sp>
        <p:nvSpPr>
          <p:cNvPr id="47" name="TextBox 46"/>
          <p:cNvSpPr txBox="1"/>
          <p:nvPr/>
        </p:nvSpPr>
        <p:spPr>
          <a:xfrm>
            <a:off x="12020550" y="5457825"/>
            <a:ext cx="4914900" cy="280987"/>
          </a:xfrm>
          <a:prstGeom prst="rect">
            <a:avLst/>
          </a:prstGeom>
          <a:noFill/>
        </p:spPr>
        <p:txBody>
          <a:bodyPr wrap="square" lIns="0" rIns="0" tIns="0" bIns="0" anchor="ctr">
            <a:spAutoFit/>
          </a:bodyPr>
          <a:lstStyle/>
          <a:p>
            <a:pPr algn="l">
              <a:lnSpc>
                <a:spcPct val="170000"/>
              </a:lnSpc>
            </a:pPr>
            <a:r>
              <a:rPr sz="1120" b="1" i="0">
                <a:solidFill>
                  <a:srgbClr val="FFFFFF"/>
                </a:solidFill>
                <a:latin typeface="Times New Roman"/>
              </a:rPr>
              <a:t>~160 km³</a:t>
            </a:r>
            <a:r>
              <a:rPr sz="1120" b="0" i="0">
                <a:solidFill>
                  <a:srgbClr val="FFFFFF"/>
                </a:solidFill>
                <a:latin typeface="Times New Roman"/>
              </a:rPr>
              <a:t> — mean annual flow</a:t>
            </a:r>
          </a:p>
        </p:txBody>
      </p:sp>
      <p:sp>
        <p:nvSpPr>
          <p:cNvPr id="48" name="TextBox 47"/>
          <p:cNvSpPr txBox="1"/>
          <p:nvPr/>
        </p:nvSpPr>
        <p:spPr>
          <a:xfrm>
            <a:off x="12020550" y="5776912"/>
            <a:ext cx="4914900" cy="280987"/>
          </a:xfrm>
          <a:prstGeom prst="rect">
            <a:avLst/>
          </a:prstGeom>
          <a:noFill/>
        </p:spPr>
        <p:txBody>
          <a:bodyPr wrap="square" lIns="0" rIns="0" tIns="0" bIns="0" anchor="ctr">
            <a:spAutoFit/>
          </a:bodyPr>
          <a:lstStyle/>
          <a:p>
            <a:pPr algn="l">
              <a:lnSpc>
                <a:spcPct val="170000"/>
              </a:lnSpc>
            </a:pPr>
            <a:r>
              <a:rPr sz="1120" b="1" i="0">
                <a:solidFill>
                  <a:srgbClr val="FFFFFF"/>
                </a:solidFill>
                <a:latin typeface="Times New Roman"/>
              </a:rPr>
              <a:t>90%</a:t>
            </a:r>
            <a:r>
              <a:rPr sz="1120" b="0" i="0">
                <a:solidFill>
                  <a:srgbClr val="FFFFFF"/>
                </a:solidFill>
                <a:latin typeface="Times New Roman"/>
              </a:rPr>
              <a:t> — share of Pakistan’s irrigation supply from Indus system</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00" cy="685800"/>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3950" y="190500"/>
            <a:ext cx="11468100" cy="209550"/>
          </a:xfrm>
          <a:prstGeom prst="rect">
            <a:avLst/>
          </a:prstGeom>
          <a:noFill/>
        </p:spPr>
        <p:txBody>
          <a:bodyPr wrap="square" lIns="0" rIns="0" tIns="0" bIns="0" anchor="ctr">
            <a:spAutoFit/>
          </a:bodyPr>
          <a:lstStyle/>
          <a:p>
            <a:pPr algn="l">
              <a:lnSpc>
                <a:spcPct val="120000"/>
              </a:lnSpc>
            </a:pPr>
            <a:r>
              <a:rPr sz="1200" b="0" i="0">
                <a:solidFill>
                  <a:srgbClr val="FFFFFF"/>
                </a:solidFill>
                <a:latin typeface="Times New Roman"/>
              </a:rPr>
              <a:t>21 · Analysis · synthesis, tensions, and falsifiable forward bets</a:t>
            </a:r>
          </a:p>
        </p:txBody>
      </p:sp>
      <p:sp>
        <p:nvSpPr>
          <p:cNvPr id="5" name="TextBox 4"/>
          <p:cNvSpPr txBox="1"/>
          <p:nvPr/>
        </p:nvSpPr>
        <p:spPr>
          <a:xfrm>
            <a:off x="16173450" y="190500"/>
            <a:ext cx="1181100" cy="323850"/>
          </a:xfrm>
          <a:prstGeom prst="rect">
            <a:avLst/>
          </a:prstGeom>
          <a:noFill/>
        </p:spPr>
        <p:txBody>
          <a:bodyPr wrap="square" lIns="0" rIns="0" tIns="0" bIns="0" anchor="ctr">
            <a:spAutoFit/>
          </a:bodyPr>
          <a:lstStyle/>
          <a:p>
            <a:pPr algn="r">
              <a:lnSpc>
                <a:spcPct val="120000"/>
              </a:lnSpc>
            </a:pPr>
            <a:r>
              <a:rPr sz="1050" b="0" i="1">
                <a:solidFill>
                  <a:srgbClr val="C81D25"/>
                </a:solidFill>
                <a:latin typeface="Times New Roman"/>
              </a:rPr>
              <a:t>21 / 22</a:t>
            </a:r>
          </a:p>
        </p:txBody>
      </p:sp>
      <p:sp>
        <p:nvSpPr>
          <p:cNvPr id="6" name="TextBox 5"/>
          <p:cNvSpPr txBox="1"/>
          <p:nvPr/>
        </p:nvSpPr>
        <p:spPr>
          <a:xfrm>
            <a:off x="1123950" y="1009650"/>
            <a:ext cx="7658100" cy="419100"/>
          </a:xfrm>
          <a:prstGeom prst="rect">
            <a:avLst/>
          </a:prstGeom>
          <a:noFill/>
        </p:spPr>
        <p:txBody>
          <a:bodyPr wrap="square" lIns="0" rIns="0" tIns="0" bIns="0" anchor="t">
            <a:spAutoFit/>
          </a:bodyPr>
          <a:lstStyle/>
          <a:p>
            <a:pPr algn="l">
              <a:lnSpc>
                <a:spcPct val="120000"/>
              </a:lnSpc>
            </a:pPr>
            <a:r>
              <a:rPr sz="1200" b="0" i="0">
                <a:solidFill>
                  <a:srgbClr val="1A2B4C"/>
                </a:solidFill>
                <a:latin typeface="Times New Roman"/>
              </a:rPr>
              <a:t>Analysis ∣ Discussion</a:t>
            </a:r>
          </a:p>
        </p:txBody>
      </p:sp>
      <p:sp>
        <p:nvSpPr>
          <p:cNvPr id="7" name="Rectangle 6"/>
          <p:cNvSpPr/>
          <p:nvPr/>
        </p:nvSpPr>
        <p:spPr>
          <a:xfrm>
            <a:off x="1143000" y="1038225"/>
            <a:ext cx="1373832" cy="1809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143000" y="1038225"/>
            <a:ext cx="1373832" cy="9525"/>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2507307" y="1038225"/>
            <a:ext cx="9525" cy="180975"/>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1143000" y="1209675"/>
            <a:ext cx="1373832" cy="9525"/>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1143000" y="1038225"/>
            <a:ext cx="9525" cy="180975"/>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123950" y="1600200"/>
            <a:ext cx="16040100" cy="1138535"/>
          </a:xfrm>
          <a:prstGeom prst="rect">
            <a:avLst/>
          </a:prstGeom>
          <a:noFill/>
        </p:spPr>
        <p:txBody>
          <a:bodyPr wrap="square" lIns="0" rIns="0" tIns="0" bIns="0" anchor="t">
            <a:spAutoFit/>
          </a:bodyPr>
          <a:lstStyle/>
          <a:p>
            <a:pPr algn="l">
              <a:lnSpc>
                <a:spcPct val="107000"/>
              </a:lnSpc>
            </a:pPr>
            <a:r>
              <a:rPr sz="4050" b="1" i="0">
                <a:solidFill>
                  <a:srgbClr val="1A2B4C"/>
                </a:solidFill>
                <a:latin typeface="Times New Roman"/>
              </a:rPr>
              <a:t> Three tensions define Pakistan’s physical geography —</a:t>
            </a:r>
          </a:p>
          <a:p>
            <a:pPr algn="l">
              <a:lnSpc>
                <a:spcPct val="107000"/>
              </a:lnSpc>
            </a:pPr>
            <a:r>
              <a:rPr sz="4050" b="1" i="0">
                <a:solidFill>
                  <a:srgbClr val="1A2B4C"/>
                </a:solidFill>
                <a:latin typeface="Times New Roman"/>
              </a:rPr>
              <a:t>and </a:t>
            </a:r>
            <a:r>
              <a:rPr sz="4050" b="1" i="0">
                <a:solidFill>
                  <a:srgbClr val="C81D25"/>
                </a:solidFill>
                <a:latin typeface="Times New Roman"/>
              </a:rPr>
              <a:t>climate change will reshape each</a:t>
            </a:r>
            <a:r>
              <a:rPr sz="4050" b="1" i="0">
                <a:solidFill>
                  <a:srgbClr val="1A2B4C"/>
                </a:solidFill>
                <a:latin typeface="Times New Roman"/>
              </a:rPr>
              <a:t>. </a:t>
            </a:r>
          </a:p>
        </p:txBody>
      </p:sp>
      <p:sp>
        <p:nvSpPr>
          <p:cNvPr id="13" name="Rectangle 12"/>
          <p:cNvSpPr/>
          <p:nvPr/>
        </p:nvSpPr>
        <p:spPr>
          <a:xfrm>
            <a:off x="1143000" y="3238500"/>
            <a:ext cx="5219700" cy="28575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143000" y="3238500"/>
            <a:ext cx="57150" cy="2857500"/>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1390650" y="3409950"/>
            <a:ext cx="4781550" cy="190500"/>
          </a:xfrm>
          <a:prstGeom prst="rect">
            <a:avLst/>
          </a:prstGeom>
          <a:noFill/>
        </p:spPr>
        <p:txBody>
          <a:bodyPr wrap="square" lIns="0" rIns="0" tIns="0" bIns="0" anchor="ctr">
            <a:spAutoFit/>
          </a:bodyPr>
          <a:lstStyle/>
          <a:p>
            <a:pPr algn="l">
              <a:lnSpc>
                <a:spcPct val="120000"/>
              </a:lnSpc>
            </a:pPr>
            <a:r>
              <a:rPr sz="980" b="0" i="0" spc="136">
                <a:solidFill>
                  <a:srgbClr val="C81D25"/>
                </a:solidFill>
                <a:latin typeface="Times New Roman"/>
              </a:rPr>
              <a:t>TENSION 01</a:t>
            </a:r>
          </a:p>
        </p:txBody>
      </p:sp>
      <p:sp>
        <p:nvSpPr>
          <p:cNvPr id="16" name="TextBox 15"/>
          <p:cNvSpPr txBox="1"/>
          <p:nvPr/>
        </p:nvSpPr>
        <p:spPr>
          <a:xfrm>
            <a:off x="1390650" y="3619500"/>
            <a:ext cx="4781550" cy="285750"/>
          </a:xfrm>
          <a:prstGeom prst="rect">
            <a:avLst/>
          </a:prstGeom>
          <a:noFill/>
        </p:spPr>
        <p:txBody>
          <a:bodyPr wrap="square" lIns="0" rIns="0" tIns="0" bIns="0" anchor="ctr">
            <a:spAutoFit/>
          </a:bodyPr>
          <a:lstStyle/>
          <a:p>
            <a:pPr algn="l">
              <a:lnSpc>
                <a:spcPct val="120000"/>
              </a:lnSpc>
            </a:pPr>
            <a:r>
              <a:rPr sz="1650" b="1" i="0">
                <a:solidFill>
                  <a:srgbClr val="1A2B4C"/>
                </a:solidFill>
                <a:latin typeface="Times New Roman"/>
              </a:rPr>
              <a:t>Glacier loss vs. storage</a:t>
            </a:r>
          </a:p>
        </p:txBody>
      </p:sp>
      <p:sp>
        <p:nvSpPr>
          <p:cNvPr id="17" name="TextBox 16"/>
          <p:cNvSpPr txBox="1"/>
          <p:nvPr/>
        </p:nvSpPr>
        <p:spPr>
          <a:xfrm>
            <a:off x="1390650" y="3962400"/>
            <a:ext cx="4781550" cy="723900"/>
          </a:xfrm>
          <a:prstGeom prst="rect">
            <a:avLst/>
          </a:prstGeom>
          <a:noFill/>
        </p:spPr>
        <p:txBody>
          <a:bodyPr wrap="square" lIns="0" rIns="0" tIns="0" bIns="0" anchor="t">
            <a:spAutoFit/>
          </a:bodyPr>
          <a:lstStyle/>
          <a:p>
            <a:pPr algn="l">
              <a:lnSpc>
                <a:spcPct val="160000"/>
              </a:lnSpc>
            </a:pPr>
            <a:r>
              <a:rPr sz="1120" b="0" i="0">
                <a:solidFill>
                  <a:srgbClr val="1A2B4C"/>
                </a:solidFill>
                <a:latin typeface="Times New Roman"/>
              </a:rPr>
              <a:t>Karakoram glaciers act as natural reservoirs — the long-run loss of ice mass threatens Indus baseflow. New storage (Diamer-Bhasha) is part of the official response.</a:t>
            </a:r>
          </a:p>
        </p:txBody>
      </p:sp>
      <p:sp>
        <p:nvSpPr>
          <p:cNvPr id="18" name="Rectangle 17"/>
          <p:cNvSpPr/>
          <p:nvPr/>
        </p:nvSpPr>
        <p:spPr>
          <a:xfrm>
            <a:off x="6534150" y="3238500"/>
            <a:ext cx="5219700" cy="28575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534150" y="3238500"/>
            <a:ext cx="57150" cy="2857500"/>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781800" y="3409950"/>
            <a:ext cx="4781550" cy="190500"/>
          </a:xfrm>
          <a:prstGeom prst="rect">
            <a:avLst/>
          </a:prstGeom>
          <a:noFill/>
        </p:spPr>
        <p:txBody>
          <a:bodyPr wrap="square" lIns="0" rIns="0" tIns="0" bIns="0" anchor="ctr">
            <a:spAutoFit/>
          </a:bodyPr>
          <a:lstStyle/>
          <a:p>
            <a:pPr algn="l">
              <a:lnSpc>
                <a:spcPct val="120000"/>
              </a:lnSpc>
            </a:pPr>
            <a:r>
              <a:rPr sz="980" b="0" i="0" spc="136">
                <a:solidFill>
                  <a:srgbClr val="C81D25"/>
                </a:solidFill>
                <a:latin typeface="Times New Roman"/>
              </a:rPr>
              <a:t>TENSION 02</a:t>
            </a:r>
          </a:p>
        </p:txBody>
      </p:sp>
      <p:sp>
        <p:nvSpPr>
          <p:cNvPr id="21" name="TextBox 20"/>
          <p:cNvSpPr txBox="1"/>
          <p:nvPr/>
        </p:nvSpPr>
        <p:spPr>
          <a:xfrm>
            <a:off x="6781800" y="3619500"/>
            <a:ext cx="4781550" cy="285750"/>
          </a:xfrm>
          <a:prstGeom prst="rect">
            <a:avLst/>
          </a:prstGeom>
          <a:noFill/>
        </p:spPr>
        <p:txBody>
          <a:bodyPr wrap="square" lIns="0" rIns="0" tIns="0" bIns="0" anchor="ctr">
            <a:spAutoFit/>
          </a:bodyPr>
          <a:lstStyle/>
          <a:p>
            <a:pPr algn="l">
              <a:lnSpc>
                <a:spcPct val="120000"/>
              </a:lnSpc>
            </a:pPr>
            <a:r>
              <a:rPr sz="1650" b="1" i="0">
                <a:solidFill>
                  <a:srgbClr val="1A2B4C"/>
                </a:solidFill>
                <a:latin typeface="Times New Roman"/>
              </a:rPr>
              <a:t>Cotton–wheat expansion vs. salinity</a:t>
            </a:r>
          </a:p>
        </p:txBody>
      </p:sp>
      <p:sp>
        <p:nvSpPr>
          <p:cNvPr id="22" name="TextBox 21"/>
          <p:cNvSpPr txBox="1"/>
          <p:nvPr/>
        </p:nvSpPr>
        <p:spPr>
          <a:xfrm>
            <a:off x="6781800" y="3962400"/>
            <a:ext cx="4781550" cy="495300"/>
          </a:xfrm>
          <a:prstGeom prst="rect">
            <a:avLst/>
          </a:prstGeom>
          <a:noFill/>
        </p:spPr>
        <p:txBody>
          <a:bodyPr wrap="square" lIns="0" rIns="0" tIns="0" bIns="0" anchor="t">
            <a:spAutoFit/>
          </a:bodyPr>
          <a:lstStyle/>
          <a:p>
            <a:pPr algn="l">
              <a:lnSpc>
                <a:spcPct val="160000"/>
              </a:lnSpc>
            </a:pPr>
            <a:r>
              <a:rPr sz="1120" b="0" i="0">
                <a:solidFill>
                  <a:srgbClr val="1A2B4C"/>
                </a:solidFill>
                <a:latin typeface="Times New Roman"/>
              </a:rPr>
              <a:t>Cotton has spread south into marginal Sindh lands. Yields are dropping as soil salt accumulates. Saline-tolerant cultivars are the contested adaptation strategy.</a:t>
            </a:r>
          </a:p>
        </p:txBody>
      </p:sp>
      <p:sp>
        <p:nvSpPr>
          <p:cNvPr id="23" name="Rectangle 22"/>
          <p:cNvSpPr/>
          <p:nvPr/>
        </p:nvSpPr>
        <p:spPr>
          <a:xfrm>
            <a:off x="11925300" y="3238500"/>
            <a:ext cx="5219700" cy="2857500"/>
          </a:xfrm>
          <a:prstGeom prst="rect">
            <a:avLst/>
          </a:prstGeom>
          <a:solidFill>
            <a:srgbClr val="F4F6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11925300" y="3238500"/>
            <a:ext cx="57150" cy="2857500"/>
          </a:xfrm>
          <a:prstGeom prst="rect">
            <a:avLst/>
          </a:prstGeom>
          <a:solidFill>
            <a:srgbClr val="C81D2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2172950" y="3409950"/>
            <a:ext cx="4781550" cy="190500"/>
          </a:xfrm>
          <a:prstGeom prst="rect">
            <a:avLst/>
          </a:prstGeom>
          <a:noFill/>
        </p:spPr>
        <p:txBody>
          <a:bodyPr wrap="square" lIns="0" rIns="0" tIns="0" bIns="0" anchor="ctr">
            <a:spAutoFit/>
          </a:bodyPr>
          <a:lstStyle/>
          <a:p>
            <a:pPr algn="l">
              <a:lnSpc>
                <a:spcPct val="120000"/>
              </a:lnSpc>
            </a:pPr>
            <a:r>
              <a:rPr sz="980" b="0" i="0" spc="136">
                <a:solidFill>
                  <a:srgbClr val="C81D25"/>
                </a:solidFill>
                <a:latin typeface="Times New Roman"/>
              </a:rPr>
              <a:t>TENSION 03</a:t>
            </a:r>
          </a:p>
        </p:txBody>
      </p:sp>
      <p:sp>
        <p:nvSpPr>
          <p:cNvPr id="26" name="TextBox 25"/>
          <p:cNvSpPr txBox="1"/>
          <p:nvPr/>
        </p:nvSpPr>
        <p:spPr>
          <a:xfrm>
            <a:off x="12172950" y="3619500"/>
            <a:ext cx="4781550" cy="285750"/>
          </a:xfrm>
          <a:prstGeom prst="rect">
            <a:avLst/>
          </a:prstGeom>
          <a:noFill/>
        </p:spPr>
        <p:txBody>
          <a:bodyPr wrap="square" lIns="0" rIns="0" tIns="0" bIns="0" anchor="ctr">
            <a:spAutoFit/>
          </a:bodyPr>
          <a:lstStyle/>
          <a:p>
            <a:pPr algn="l">
              <a:lnSpc>
                <a:spcPct val="120000"/>
              </a:lnSpc>
            </a:pPr>
            <a:r>
              <a:rPr sz="1650" b="1" i="0">
                <a:solidFill>
                  <a:srgbClr val="1A2B4C"/>
                </a:solidFill>
                <a:latin typeface="Times New Roman"/>
              </a:rPr>
              <a:t>Urban water vs. irrigation</a:t>
            </a:r>
          </a:p>
        </p:txBody>
      </p:sp>
      <p:sp>
        <p:nvSpPr>
          <p:cNvPr id="27" name="TextBox 26"/>
          <p:cNvSpPr txBox="1"/>
          <p:nvPr/>
        </p:nvSpPr>
        <p:spPr>
          <a:xfrm>
            <a:off x="12172950" y="3962400"/>
            <a:ext cx="4781550" cy="495300"/>
          </a:xfrm>
          <a:prstGeom prst="rect">
            <a:avLst/>
          </a:prstGeom>
          <a:noFill/>
        </p:spPr>
        <p:txBody>
          <a:bodyPr wrap="square" lIns="0" rIns="0" tIns="0" bIns="0" anchor="t">
            <a:spAutoFit/>
          </a:bodyPr>
          <a:lstStyle/>
          <a:p>
            <a:pPr algn="l">
              <a:lnSpc>
                <a:spcPct val="160000"/>
              </a:lnSpc>
            </a:pPr>
            <a:r>
              <a:rPr sz="1120" b="0" i="0">
                <a:solidFill>
                  <a:srgbClr val="1A2B4C"/>
                </a:solidFill>
                <a:latin typeface="Times New Roman"/>
              </a:rPr>
              <a:t>Karachi, Lahore, and Islamabad compete with farms for the same Indus-derived water. Urban demand, already ~10% of withdrawals, will rise to ~25% by 2050.</a:t>
            </a:r>
          </a:p>
        </p:txBody>
      </p:sp>
      <p:sp>
        <p:nvSpPr>
          <p:cNvPr id="28" name="TextBox 27"/>
          <p:cNvSpPr txBox="1"/>
          <p:nvPr/>
        </p:nvSpPr>
        <p:spPr>
          <a:xfrm>
            <a:off x="1123950" y="6267450"/>
            <a:ext cx="16040100" cy="209550"/>
          </a:xfrm>
          <a:prstGeom prst="rect">
            <a:avLst/>
          </a:prstGeom>
          <a:noFill/>
        </p:spPr>
        <p:txBody>
          <a:bodyPr wrap="square" lIns="0" rIns="0" tIns="0" bIns="0" anchor="ctr">
            <a:spAutoFit/>
          </a:bodyPr>
          <a:lstStyle/>
          <a:p>
            <a:pPr algn="l">
              <a:lnSpc>
                <a:spcPct val="120000"/>
              </a:lnSpc>
            </a:pPr>
            <a:r>
              <a:rPr sz="1200" b="0" i="0">
                <a:solidFill>
                  <a:srgbClr val="C81D25"/>
                </a:solidFill>
                <a:latin typeface="Times New Roman"/>
              </a:rPr>
              <a:t>Falsifiable forward bets</a:t>
            </a:r>
          </a:p>
        </p:txBody>
      </p:sp>
      <p:sp>
        <p:nvSpPr>
          <p:cNvPr id="29" name="Rectangle 28"/>
          <p:cNvSpPr/>
          <p:nvPr/>
        </p:nvSpPr>
        <p:spPr>
          <a:xfrm>
            <a:off x="1143000" y="6591300"/>
            <a:ext cx="16002000" cy="6743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1143000" y="6591300"/>
            <a:ext cx="16002000" cy="95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17135475" y="6591300"/>
            <a:ext cx="9525" cy="674340"/>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1143000" y="7256115"/>
            <a:ext cx="16002000" cy="95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1143000" y="6591300"/>
            <a:ext cx="57150" cy="674340"/>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1352550" y="6715125"/>
            <a:ext cx="15630525" cy="190500"/>
          </a:xfrm>
          <a:prstGeom prst="rect">
            <a:avLst/>
          </a:prstGeom>
          <a:noFill/>
        </p:spPr>
        <p:txBody>
          <a:bodyPr wrap="square" lIns="0" rIns="0" tIns="0" bIns="0" anchor="ctr">
            <a:spAutoFit/>
          </a:bodyPr>
          <a:lstStyle/>
          <a:p>
            <a:pPr algn="l">
              <a:lnSpc>
                <a:spcPct val="120000"/>
              </a:lnSpc>
            </a:pPr>
            <a:r>
              <a:rPr sz="1050" b="0" i="1">
                <a:solidFill>
                  <a:srgbClr val="5B6E94"/>
                </a:solidFill>
                <a:latin typeface="Times New Roman"/>
              </a:rPr>
              <a:t>Bet 1 · Cryosphere</a:t>
            </a:r>
          </a:p>
        </p:txBody>
      </p:sp>
      <p:sp>
        <p:nvSpPr>
          <p:cNvPr id="35" name="TextBox 34"/>
          <p:cNvSpPr txBox="1"/>
          <p:nvPr/>
        </p:nvSpPr>
        <p:spPr>
          <a:xfrm>
            <a:off x="1352550" y="6867525"/>
            <a:ext cx="15630525" cy="274290"/>
          </a:xfrm>
          <a:prstGeom prst="rect">
            <a:avLst/>
          </a:prstGeom>
          <a:noFill/>
        </p:spPr>
        <p:txBody>
          <a:bodyPr wrap="square" lIns="0" rIns="0" tIns="0" bIns="0" anchor="ctr">
            <a:spAutoFit/>
          </a:bodyPr>
          <a:lstStyle/>
          <a:p>
            <a:pPr algn="l">
              <a:lnSpc>
                <a:spcPct val="155000"/>
              </a:lnSpc>
            </a:pPr>
            <a:r>
              <a:rPr sz="1200" b="0" i="0">
                <a:solidFill>
                  <a:srgbClr val="1A2B4C"/>
                </a:solidFill>
                <a:latin typeface="Times New Roman"/>
              </a:rPr>
              <a:t>If Hindu Kush winter snowfall falls below the 1991–2020 mean by &gt;15% in two consecutive winters, Tarbela storage will not refill to design capacity in 2027/28. A testable cryospheric-trigger hypothesis.</a:t>
            </a:r>
          </a:p>
        </p:txBody>
      </p:sp>
      <p:sp>
        <p:nvSpPr>
          <p:cNvPr id="36" name="Rectangle 35"/>
          <p:cNvSpPr/>
          <p:nvPr/>
        </p:nvSpPr>
        <p:spPr>
          <a:xfrm>
            <a:off x="1143000" y="7360890"/>
            <a:ext cx="16002000" cy="6743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1143000" y="7360890"/>
            <a:ext cx="16002000" cy="95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17135475" y="7360890"/>
            <a:ext cx="9525" cy="674340"/>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ectangle 38"/>
          <p:cNvSpPr/>
          <p:nvPr/>
        </p:nvSpPr>
        <p:spPr>
          <a:xfrm>
            <a:off x="1143000" y="8025705"/>
            <a:ext cx="16002000" cy="95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ectangle 39"/>
          <p:cNvSpPr/>
          <p:nvPr/>
        </p:nvSpPr>
        <p:spPr>
          <a:xfrm>
            <a:off x="1143000" y="7360890"/>
            <a:ext cx="57150" cy="674340"/>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352550" y="7484715"/>
            <a:ext cx="15630525" cy="190500"/>
          </a:xfrm>
          <a:prstGeom prst="rect">
            <a:avLst/>
          </a:prstGeom>
          <a:noFill/>
        </p:spPr>
        <p:txBody>
          <a:bodyPr wrap="square" lIns="0" rIns="0" tIns="0" bIns="0" anchor="ctr">
            <a:spAutoFit/>
          </a:bodyPr>
          <a:lstStyle/>
          <a:p>
            <a:pPr algn="l">
              <a:lnSpc>
                <a:spcPct val="120000"/>
              </a:lnSpc>
            </a:pPr>
            <a:r>
              <a:rPr sz="1050" b="0" i="1">
                <a:solidFill>
                  <a:srgbClr val="5B6E94"/>
                </a:solidFill>
                <a:latin typeface="Times New Roman"/>
              </a:rPr>
              <a:t>Bet 2 · Salinity</a:t>
            </a:r>
          </a:p>
        </p:txBody>
      </p:sp>
      <p:sp>
        <p:nvSpPr>
          <p:cNvPr id="42" name="TextBox 41"/>
          <p:cNvSpPr txBox="1"/>
          <p:nvPr/>
        </p:nvSpPr>
        <p:spPr>
          <a:xfrm>
            <a:off x="1352550" y="7637115"/>
            <a:ext cx="15630525" cy="274290"/>
          </a:xfrm>
          <a:prstGeom prst="rect">
            <a:avLst/>
          </a:prstGeom>
          <a:noFill/>
        </p:spPr>
        <p:txBody>
          <a:bodyPr wrap="square" lIns="0" rIns="0" tIns="0" bIns="0" anchor="ctr">
            <a:spAutoFit/>
          </a:bodyPr>
          <a:lstStyle/>
          <a:p>
            <a:pPr algn="l">
              <a:lnSpc>
                <a:spcPct val="155000"/>
              </a:lnSpc>
            </a:pPr>
            <a:r>
              <a:rPr sz="1200" b="0" i="0">
                <a:solidFill>
                  <a:srgbClr val="1A2B4C"/>
                </a:solidFill>
                <a:latin typeface="Times New Roman"/>
              </a:rPr>
              <a:t>If saline-tolerant cotton cultivars (e.g. NIAB-78) are planted on &gt;500,000 ha in Sindh by 2030, the regional salinity trend will plateau or invert. Currently the trend is upward.</a:t>
            </a:r>
          </a:p>
        </p:txBody>
      </p:sp>
      <p:sp>
        <p:nvSpPr>
          <p:cNvPr id="43" name="Rectangle 42"/>
          <p:cNvSpPr/>
          <p:nvPr/>
        </p:nvSpPr>
        <p:spPr>
          <a:xfrm>
            <a:off x="1143000" y="8130480"/>
            <a:ext cx="16002000" cy="67434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1143000" y="8130480"/>
            <a:ext cx="16002000" cy="95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17135475" y="8130480"/>
            <a:ext cx="9525" cy="674340"/>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1143000" y="8795295"/>
            <a:ext cx="16002000" cy="9525"/>
          </a:xfrm>
          <a:prstGeom prst="rect">
            <a:avLst/>
          </a:prstGeom>
          <a:solidFill>
            <a:srgbClr val="D7DC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1143000" y="8130480"/>
            <a:ext cx="57150" cy="674340"/>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352550" y="8254305"/>
            <a:ext cx="15630525" cy="190500"/>
          </a:xfrm>
          <a:prstGeom prst="rect">
            <a:avLst/>
          </a:prstGeom>
          <a:noFill/>
        </p:spPr>
        <p:txBody>
          <a:bodyPr wrap="square" lIns="0" rIns="0" tIns="0" bIns="0" anchor="ctr">
            <a:spAutoFit/>
          </a:bodyPr>
          <a:lstStyle/>
          <a:p>
            <a:pPr algn="l">
              <a:lnSpc>
                <a:spcPct val="120000"/>
              </a:lnSpc>
            </a:pPr>
            <a:r>
              <a:rPr sz="1050" b="0" i="1">
                <a:solidFill>
                  <a:srgbClr val="5B6E94"/>
                </a:solidFill>
                <a:latin typeface="Times New Roman"/>
              </a:rPr>
              <a:t>Bet 3 · Crops</a:t>
            </a:r>
          </a:p>
        </p:txBody>
      </p:sp>
      <p:sp>
        <p:nvSpPr>
          <p:cNvPr id="49" name="TextBox 48"/>
          <p:cNvSpPr txBox="1"/>
          <p:nvPr/>
        </p:nvSpPr>
        <p:spPr>
          <a:xfrm>
            <a:off x="1352550" y="8406705"/>
            <a:ext cx="15630525" cy="274290"/>
          </a:xfrm>
          <a:prstGeom prst="rect">
            <a:avLst/>
          </a:prstGeom>
          <a:noFill/>
        </p:spPr>
        <p:txBody>
          <a:bodyPr wrap="square" lIns="0" rIns="0" tIns="0" bIns="0" anchor="ctr">
            <a:spAutoFit/>
          </a:bodyPr>
          <a:lstStyle/>
          <a:p>
            <a:pPr algn="l">
              <a:lnSpc>
                <a:spcPct val="155000"/>
              </a:lnSpc>
            </a:pPr>
            <a:r>
              <a:rPr sz="1200" b="0" i="0">
                <a:solidFill>
                  <a:srgbClr val="1A2B4C"/>
                </a:solidFill>
                <a:latin typeface="Times New Roman"/>
              </a:rPr>
              <a:t>If rice acreage in lower Sindh falls below 0.6 Mha by 2030 (down from ~1.4 Mha today), climate-driven water-scarcity will have replaced economic factors as the dominant driver. Currently water is not the primary driver.</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8288000" cy="1028700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8288000" cy="685800"/>
          </a:xfrm>
          <a:prstGeom prst="rect">
            <a:avLst/>
          </a:prstGeom>
          <a:solidFill>
            <a:srgbClr val="1A2B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23950" y="190500"/>
            <a:ext cx="11468100" cy="209550"/>
          </a:xfrm>
          <a:prstGeom prst="rect">
            <a:avLst/>
          </a:prstGeom>
          <a:noFill/>
        </p:spPr>
        <p:txBody>
          <a:bodyPr wrap="square" lIns="0" rIns="0" tIns="0" bIns="0" anchor="ctr">
            <a:spAutoFit/>
          </a:bodyPr>
          <a:lstStyle/>
          <a:p>
            <a:pPr algn="l">
              <a:lnSpc>
                <a:spcPct val="120000"/>
              </a:lnSpc>
            </a:pPr>
            <a:r>
              <a:rPr sz="1200" b="0" i="0">
                <a:solidFill>
                  <a:srgbClr val="FFFFFF"/>
                </a:solidFill>
                <a:latin typeface="Times New Roman"/>
              </a:rPr>
              <a:t>22 · References · readings and data sources</a:t>
            </a:r>
          </a:p>
        </p:txBody>
      </p:sp>
      <p:sp>
        <p:nvSpPr>
          <p:cNvPr id="5" name="TextBox 4"/>
          <p:cNvSpPr txBox="1"/>
          <p:nvPr/>
        </p:nvSpPr>
        <p:spPr>
          <a:xfrm>
            <a:off x="16173450" y="190500"/>
            <a:ext cx="1181100" cy="323850"/>
          </a:xfrm>
          <a:prstGeom prst="rect">
            <a:avLst/>
          </a:prstGeom>
          <a:noFill/>
        </p:spPr>
        <p:txBody>
          <a:bodyPr wrap="square" lIns="0" rIns="0" tIns="0" bIns="0" anchor="ctr">
            <a:spAutoFit/>
          </a:bodyPr>
          <a:lstStyle/>
          <a:p>
            <a:pPr algn="r">
              <a:lnSpc>
                <a:spcPct val="120000"/>
              </a:lnSpc>
            </a:pPr>
            <a:r>
              <a:rPr sz="1050" b="0" i="1">
                <a:solidFill>
                  <a:srgbClr val="C81D25"/>
                </a:solidFill>
                <a:latin typeface="Times New Roman"/>
              </a:rPr>
              <a:t>22 / 22</a:t>
            </a:r>
          </a:p>
        </p:txBody>
      </p:sp>
      <p:sp>
        <p:nvSpPr>
          <p:cNvPr id="6" name="TextBox 5"/>
          <p:cNvSpPr txBox="1"/>
          <p:nvPr/>
        </p:nvSpPr>
        <p:spPr>
          <a:xfrm>
            <a:off x="1123950" y="1294209"/>
            <a:ext cx="16040100" cy="438150"/>
          </a:xfrm>
          <a:prstGeom prst="rect">
            <a:avLst/>
          </a:prstGeom>
          <a:noFill/>
        </p:spPr>
        <p:txBody>
          <a:bodyPr wrap="square" lIns="0" rIns="0" tIns="0" bIns="0" anchor="ctr">
            <a:spAutoFit/>
          </a:bodyPr>
          <a:lstStyle/>
          <a:p>
            <a:pPr algn="l">
              <a:lnSpc>
                <a:spcPct val="120000"/>
              </a:lnSpc>
            </a:pPr>
            <a:r>
              <a:rPr sz="2700" b="1" i="0">
                <a:solidFill>
                  <a:srgbClr val="000000"/>
                </a:solidFill>
                <a:latin typeface="Times New Roman"/>
              </a:rPr>
              <a:t>Selected references · data anchored, classroom-friendly.</a:t>
            </a:r>
          </a:p>
        </p:txBody>
      </p:sp>
      <p:sp>
        <p:nvSpPr>
          <p:cNvPr id="7" name="TextBox 6"/>
          <p:cNvSpPr txBox="1"/>
          <p:nvPr/>
        </p:nvSpPr>
        <p:spPr>
          <a:xfrm>
            <a:off x="1123950" y="1885950"/>
            <a:ext cx="7848600" cy="209550"/>
          </a:xfrm>
          <a:prstGeom prst="rect">
            <a:avLst/>
          </a:prstGeom>
          <a:noFill/>
        </p:spPr>
        <p:txBody>
          <a:bodyPr wrap="square" lIns="0" rIns="0" tIns="0" bIns="0" anchor="ctr">
            <a:spAutoFit/>
          </a:bodyPr>
          <a:lstStyle/>
          <a:p>
            <a:pPr algn="l">
              <a:lnSpc>
                <a:spcPct val="120000"/>
              </a:lnSpc>
            </a:pPr>
            <a:r>
              <a:rPr sz="1200" b="0" i="0">
                <a:solidFill>
                  <a:srgbClr val="1A2B4C"/>
                </a:solidFill>
                <a:latin typeface="Times New Roman"/>
              </a:rPr>
              <a:t>Foundational texts</a:t>
            </a:r>
          </a:p>
        </p:txBody>
      </p:sp>
      <p:sp>
        <p:nvSpPr>
          <p:cNvPr id="8" name="TextBox 7"/>
          <p:cNvSpPr txBox="1"/>
          <p:nvPr/>
        </p:nvSpPr>
        <p:spPr>
          <a:xfrm>
            <a:off x="1333500" y="2190750"/>
            <a:ext cx="7639050" cy="495300"/>
          </a:xfrm>
          <a:prstGeom prst="rect">
            <a:avLst/>
          </a:prstGeom>
          <a:noFill/>
        </p:spPr>
        <p:txBody>
          <a:bodyPr wrap="square" lIns="0" rIns="0" tIns="0" bIns="0" anchor="t">
            <a:spAutoFit/>
          </a:bodyPr>
          <a:lstStyle/>
          <a:p>
            <a:pPr algn="l">
              <a:lnSpc>
                <a:spcPct val="160000"/>
              </a:lnSpc>
            </a:pPr>
            <a:r>
              <a:rPr sz="1120" b="0" i="0">
                <a:solidFill>
                  <a:srgbClr val="1A2B4C"/>
                </a:solidFill>
                <a:latin typeface="Times New Roman"/>
              </a:rPr>
              <a:t>• </a:t>
            </a:r>
            <a:r>
              <a:rPr sz="1120" b="1" i="0">
                <a:solidFill>
                  <a:srgbClr val="1A2B4C"/>
                </a:solidFill>
                <a:latin typeface="Times New Roman"/>
              </a:rPr>
              <a:t>Khan, F.K.</a:t>
            </a:r>
            <a:r>
              <a:rPr sz="1120" b="0" i="0">
                <a:solidFill>
                  <a:srgbClr val="1A2B4C"/>
                </a:solidFill>
                <a:latin typeface="Times New Roman"/>
              </a:rPr>
              <a:t> (1991). </a:t>
            </a:r>
            <a:r>
              <a:rPr sz="1120" b="0" i="1">
                <a:solidFill>
                  <a:srgbClr val="1A2B4C"/>
                </a:solidFill>
                <a:latin typeface="Times New Roman"/>
              </a:rPr>
              <a:t>A Geography of Pakistan: Environment, People and Economy.</a:t>
            </a:r>
            <a:r>
              <a:rPr sz="1120" b="0" i="0">
                <a:solidFill>
                  <a:srgbClr val="1A2B4C"/>
                </a:solidFill>
                <a:latin typeface="Times New Roman"/>
              </a:rPr>
              <a:t> Oxford University Press, Karachi. Standard undergraduate text.</a:t>
            </a:r>
          </a:p>
        </p:txBody>
      </p:sp>
      <p:sp>
        <p:nvSpPr>
          <p:cNvPr id="9" name="TextBox 8"/>
          <p:cNvSpPr txBox="1"/>
          <p:nvPr/>
        </p:nvSpPr>
        <p:spPr>
          <a:xfrm>
            <a:off x="1333500" y="2724150"/>
            <a:ext cx="7639050"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1" i="0">
                <a:solidFill>
                  <a:srgbClr val="1A2B4C"/>
                </a:solidFill>
                <a:latin typeface="Times New Roman"/>
              </a:rPr>
              <a:t>Ahmad, Z.</a:t>
            </a:r>
            <a:r>
              <a:rPr sz="1120" b="0" i="0">
                <a:solidFill>
                  <a:srgbClr val="1A2B4C"/>
                </a:solidFill>
                <a:latin typeface="Times New Roman"/>
              </a:rPr>
              <a:t> — various surveys of the Indus basin; cited in WAPDA reporting.</a:t>
            </a:r>
          </a:p>
        </p:txBody>
      </p:sp>
      <p:sp>
        <p:nvSpPr>
          <p:cNvPr id="10" name="TextBox 9"/>
          <p:cNvSpPr txBox="1"/>
          <p:nvPr/>
        </p:nvSpPr>
        <p:spPr>
          <a:xfrm>
            <a:off x="1333500" y="3028950"/>
            <a:ext cx="7639050"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1" i="0">
                <a:solidFill>
                  <a:srgbClr val="1A2B4C"/>
                </a:solidFill>
                <a:latin typeface="Times New Roman"/>
              </a:rPr>
              <a:t>Rizvi, S.N.H.</a:t>
            </a:r>
            <a:r>
              <a:rPr sz="1120" b="0" i="0">
                <a:solidFill>
                  <a:srgbClr val="1A2B4C"/>
                </a:solidFill>
                <a:latin typeface="Times New Roman"/>
              </a:rPr>
              <a:t> (1974). </a:t>
            </a:r>
            <a:r>
              <a:rPr sz="1120" b="0" i="1">
                <a:solidFill>
                  <a:srgbClr val="1A2B4C"/>
                </a:solidFill>
                <a:latin typeface="Times New Roman"/>
              </a:rPr>
              <a:t>Pakistan’s Agriculture.</a:t>
            </a:r>
            <a:r>
              <a:rPr sz="1120" b="0" i="0">
                <a:solidFill>
                  <a:srgbClr val="1A2B4C"/>
                </a:solidFill>
                <a:latin typeface="Times New Roman"/>
              </a:rPr>
              <a:t> Pakistan Publishing House.</a:t>
            </a:r>
          </a:p>
        </p:txBody>
      </p:sp>
      <p:sp>
        <p:nvSpPr>
          <p:cNvPr id="11" name="TextBox 10"/>
          <p:cNvSpPr txBox="1"/>
          <p:nvPr/>
        </p:nvSpPr>
        <p:spPr>
          <a:xfrm>
            <a:off x="1123950" y="3486150"/>
            <a:ext cx="7848600" cy="209550"/>
          </a:xfrm>
          <a:prstGeom prst="rect">
            <a:avLst/>
          </a:prstGeom>
          <a:noFill/>
        </p:spPr>
        <p:txBody>
          <a:bodyPr wrap="square" lIns="0" rIns="0" tIns="0" bIns="0" anchor="ctr">
            <a:spAutoFit/>
          </a:bodyPr>
          <a:lstStyle/>
          <a:p>
            <a:pPr algn="l">
              <a:lnSpc>
                <a:spcPct val="120000"/>
              </a:lnSpc>
            </a:pPr>
            <a:r>
              <a:rPr sz="1200" b="0" i="0">
                <a:solidFill>
                  <a:srgbClr val="1A2B4C"/>
                </a:solidFill>
                <a:latin typeface="Times New Roman"/>
              </a:rPr>
              <a:t>Monsoon &amp; climate literature</a:t>
            </a:r>
          </a:p>
        </p:txBody>
      </p:sp>
      <p:sp>
        <p:nvSpPr>
          <p:cNvPr id="12" name="TextBox 11"/>
          <p:cNvSpPr txBox="1"/>
          <p:nvPr/>
        </p:nvSpPr>
        <p:spPr>
          <a:xfrm>
            <a:off x="1333500" y="3790950"/>
            <a:ext cx="7639050" cy="495300"/>
          </a:xfrm>
          <a:prstGeom prst="rect">
            <a:avLst/>
          </a:prstGeom>
          <a:noFill/>
        </p:spPr>
        <p:txBody>
          <a:bodyPr wrap="square" lIns="0" rIns="0" tIns="0" bIns="0" anchor="t">
            <a:spAutoFit/>
          </a:bodyPr>
          <a:lstStyle/>
          <a:p>
            <a:pPr algn="l">
              <a:lnSpc>
                <a:spcPct val="160000"/>
              </a:lnSpc>
            </a:pPr>
            <a:r>
              <a:rPr sz="1120" b="0" i="0">
                <a:solidFill>
                  <a:srgbClr val="1A2B4C"/>
                </a:solidFill>
                <a:latin typeface="Times New Roman"/>
              </a:rPr>
              <a:t>• </a:t>
            </a:r>
            <a:r>
              <a:rPr sz="1120" b="1" i="0">
                <a:solidFill>
                  <a:srgbClr val="1A2B4C"/>
                </a:solidFill>
                <a:latin typeface="Times New Roman"/>
              </a:rPr>
              <a:t>Webster, P.J. et al.</a:t>
            </a:r>
            <a:r>
              <a:rPr sz="1120" b="0" i="0">
                <a:solidFill>
                  <a:srgbClr val="1A2B4C"/>
                </a:solidFill>
                <a:latin typeface="Times New Roman"/>
              </a:rPr>
              <a:t> (1998). Monsoon: Process, predictability, and the prospects for prediction. </a:t>
            </a:r>
            <a:r>
              <a:rPr sz="1120" b="0" i="1">
                <a:solidFill>
                  <a:srgbClr val="1A2B4C"/>
                </a:solidFill>
                <a:latin typeface="Times New Roman"/>
              </a:rPr>
              <a:t>J. Geophys. Res.</a:t>
            </a:r>
            <a:r>
              <a:rPr sz="1120" b="0" i="0">
                <a:solidFill>
                  <a:srgbClr val="1A2B4C"/>
                </a:solidFill>
                <a:latin typeface="Times New Roman"/>
              </a:rPr>
              <a:t> 103(C7), 14451–14510.</a:t>
            </a:r>
          </a:p>
        </p:txBody>
      </p:sp>
      <p:sp>
        <p:nvSpPr>
          <p:cNvPr id="13" name="TextBox 12"/>
          <p:cNvSpPr txBox="1"/>
          <p:nvPr/>
        </p:nvSpPr>
        <p:spPr>
          <a:xfrm>
            <a:off x="1333500" y="4324350"/>
            <a:ext cx="7639050"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1" i="0">
                <a:solidFill>
                  <a:srgbClr val="1A2B4C"/>
                </a:solidFill>
                <a:latin typeface="Times New Roman"/>
              </a:rPr>
              <a:t>IPCC AR6</a:t>
            </a:r>
            <a:r>
              <a:rPr sz="1120" b="0" i="0">
                <a:solidFill>
                  <a:srgbClr val="1A2B4C"/>
                </a:solidFill>
                <a:latin typeface="Times New Roman"/>
              </a:rPr>
              <a:t> (2021). Working Group I — regional chapter for South Asia.</a:t>
            </a:r>
          </a:p>
        </p:txBody>
      </p:sp>
      <p:sp>
        <p:nvSpPr>
          <p:cNvPr id="14" name="TextBox 13"/>
          <p:cNvSpPr txBox="1"/>
          <p:nvPr/>
        </p:nvSpPr>
        <p:spPr>
          <a:xfrm>
            <a:off x="1333500" y="4629150"/>
            <a:ext cx="7639050"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1" i="0">
                <a:solidFill>
                  <a:srgbClr val="1A2B4C"/>
                </a:solidFill>
                <a:latin typeface="Times New Roman"/>
              </a:rPr>
              <a:t>Rashid, G.</a:t>
            </a:r>
            <a:r>
              <a:rPr sz="1120" b="0" i="0">
                <a:solidFill>
                  <a:srgbClr val="1A2B4C"/>
                </a:solidFill>
                <a:latin typeface="Times New Roman"/>
              </a:rPr>
              <a:t> (2014). Variability of monsoon precipitation over Pakistan. </a:t>
            </a:r>
            <a:r>
              <a:rPr sz="1120" b="0" i="1">
                <a:solidFill>
                  <a:srgbClr val="1A2B4C"/>
                </a:solidFill>
                <a:latin typeface="Times New Roman"/>
              </a:rPr>
              <a:t>Pakistan Journal of Meteorology</a:t>
            </a:r>
            <a:r>
              <a:rPr sz="1120" b="0" i="0">
                <a:solidFill>
                  <a:srgbClr val="1A2B4C"/>
                </a:solidFill>
                <a:latin typeface="Times New Roman"/>
              </a:rPr>
              <a:t>.</a:t>
            </a:r>
          </a:p>
        </p:txBody>
      </p:sp>
      <p:sp>
        <p:nvSpPr>
          <p:cNvPr id="15" name="TextBox 14"/>
          <p:cNvSpPr txBox="1"/>
          <p:nvPr/>
        </p:nvSpPr>
        <p:spPr>
          <a:xfrm>
            <a:off x="1123950" y="5086350"/>
            <a:ext cx="7848600" cy="209550"/>
          </a:xfrm>
          <a:prstGeom prst="rect">
            <a:avLst/>
          </a:prstGeom>
          <a:noFill/>
        </p:spPr>
        <p:txBody>
          <a:bodyPr wrap="square" lIns="0" rIns="0" tIns="0" bIns="0" anchor="ctr">
            <a:spAutoFit/>
          </a:bodyPr>
          <a:lstStyle/>
          <a:p>
            <a:pPr algn="l">
              <a:lnSpc>
                <a:spcPct val="120000"/>
              </a:lnSpc>
            </a:pPr>
            <a:r>
              <a:rPr sz="1200" b="0" i="0">
                <a:solidFill>
                  <a:srgbClr val="1A2B4C"/>
                </a:solidFill>
                <a:latin typeface="Times New Roman"/>
              </a:rPr>
              <a:t>Glaciers &amp; cryosphere</a:t>
            </a:r>
          </a:p>
        </p:txBody>
      </p:sp>
      <p:sp>
        <p:nvSpPr>
          <p:cNvPr id="16" name="TextBox 15"/>
          <p:cNvSpPr txBox="1"/>
          <p:nvPr/>
        </p:nvSpPr>
        <p:spPr>
          <a:xfrm>
            <a:off x="1333500" y="5391150"/>
            <a:ext cx="7639050"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1" i="0">
                <a:solidFill>
                  <a:srgbClr val="1A2B4C"/>
                </a:solidFill>
                <a:latin typeface="Times New Roman"/>
              </a:rPr>
              <a:t>Bajracharya, S.R. et al.</a:t>
            </a:r>
            <a:r>
              <a:rPr sz="1120" b="0" i="1">
                <a:solidFill>
                  <a:srgbClr val="1A2B4C"/>
                </a:solidFill>
                <a:latin typeface="Times New Roman"/>
              </a:rPr>
              <a:t>The Hindu Kush–Himalaya glaciers.</a:t>
            </a:r>
            <a:r>
              <a:rPr sz="1120" b="0" i="0">
                <a:solidFill>
                  <a:srgbClr val="1A2B4C"/>
                </a:solidFill>
                <a:latin typeface="Times New Roman"/>
              </a:rPr>
              <a:t> ICIMOD Himalayan Climate Change Portal.</a:t>
            </a:r>
          </a:p>
        </p:txBody>
      </p:sp>
      <p:sp>
        <p:nvSpPr>
          <p:cNvPr id="17" name="TextBox 16"/>
          <p:cNvSpPr txBox="1"/>
          <p:nvPr/>
        </p:nvSpPr>
        <p:spPr>
          <a:xfrm>
            <a:off x="1333500" y="5695950"/>
            <a:ext cx="7639050"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1" i="0">
                <a:solidFill>
                  <a:srgbClr val="1A2B4C"/>
                </a:solidFill>
                <a:latin typeface="Times New Roman"/>
              </a:rPr>
              <a:t>Bolch, T. et al.</a:t>
            </a:r>
            <a:r>
              <a:rPr sz="1120" b="0" i="0">
                <a:solidFill>
                  <a:srgbClr val="1A2B4C"/>
                </a:solidFill>
                <a:latin typeface="Times New Roman"/>
              </a:rPr>
              <a:t> (2012). State and fate of the cryosphere in the Indus basin.</a:t>
            </a:r>
          </a:p>
        </p:txBody>
      </p:sp>
      <p:sp>
        <p:nvSpPr>
          <p:cNvPr id="18" name="TextBox 17"/>
          <p:cNvSpPr txBox="1"/>
          <p:nvPr/>
        </p:nvSpPr>
        <p:spPr>
          <a:xfrm>
            <a:off x="9315450" y="1885950"/>
            <a:ext cx="7848600" cy="209550"/>
          </a:xfrm>
          <a:prstGeom prst="rect">
            <a:avLst/>
          </a:prstGeom>
          <a:noFill/>
        </p:spPr>
        <p:txBody>
          <a:bodyPr wrap="square" lIns="0" rIns="0" tIns="0" bIns="0" anchor="ctr">
            <a:spAutoFit/>
          </a:bodyPr>
          <a:lstStyle/>
          <a:p>
            <a:pPr algn="l">
              <a:lnSpc>
                <a:spcPct val="120000"/>
              </a:lnSpc>
            </a:pPr>
            <a:r>
              <a:rPr sz="1200" b="0" i="0">
                <a:solidFill>
                  <a:srgbClr val="1A2B4C"/>
                </a:solidFill>
                <a:latin typeface="Times New Roman"/>
              </a:rPr>
              <a:t>Indus Waters Treaty &amp; irrigation</a:t>
            </a:r>
          </a:p>
        </p:txBody>
      </p:sp>
      <p:sp>
        <p:nvSpPr>
          <p:cNvPr id="19" name="TextBox 18"/>
          <p:cNvSpPr txBox="1"/>
          <p:nvPr/>
        </p:nvSpPr>
        <p:spPr>
          <a:xfrm>
            <a:off x="9525000" y="2190750"/>
            <a:ext cx="7639050" cy="495300"/>
          </a:xfrm>
          <a:prstGeom prst="rect">
            <a:avLst/>
          </a:prstGeom>
          <a:noFill/>
        </p:spPr>
        <p:txBody>
          <a:bodyPr wrap="square" lIns="0" rIns="0" tIns="0" bIns="0" anchor="t">
            <a:spAutoFit/>
          </a:bodyPr>
          <a:lstStyle/>
          <a:p>
            <a:pPr algn="l">
              <a:lnSpc>
                <a:spcPct val="160000"/>
              </a:lnSpc>
            </a:pPr>
            <a:r>
              <a:rPr sz="1120" b="0" i="0">
                <a:solidFill>
                  <a:srgbClr val="1A2B4C"/>
                </a:solidFill>
                <a:latin typeface="Times New Roman"/>
              </a:rPr>
              <a:t>• </a:t>
            </a:r>
            <a:r>
              <a:rPr sz="1120" b="1" i="0">
                <a:solidFill>
                  <a:srgbClr val="1A2B4C"/>
                </a:solidFill>
                <a:latin typeface="Times New Roman"/>
              </a:rPr>
              <a:t>Rosegrant, M. &amp; Binswanger, H.</a:t>
            </a:r>
            <a:r>
              <a:rPr sz="1120" b="0" i="0">
                <a:solidFill>
                  <a:srgbClr val="1A2B4C"/>
                </a:solidFill>
                <a:latin typeface="Times New Roman"/>
              </a:rPr>
              <a:t> (1994). Markets in tradable water rights: potential for efficiency gains in developing-country irrigation. World Bank.</a:t>
            </a:r>
          </a:p>
        </p:txBody>
      </p:sp>
      <p:sp>
        <p:nvSpPr>
          <p:cNvPr id="20" name="TextBox 19"/>
          <p:cNvSpPr txBox="1"/>
          <p:nvPr/>
        </p:nvSpPr>
        <p:spPr>
          <a:xfrm>
            <a:off x="9525000" y="2724150"/>
            <a:ext cx="7639050"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1" i="0">
                <a:solidFill>
                  <a:srgbClr val="1A2B4C"/>
                </a:solidFill>
                <a:latin typeface="Times New Roman"/>
              </a:rPr>
              <a:t>Ahmed, S. &amp; Suphachalasai, A.</a:t>
            </a:r>
            <a:r>
              <a:rPr sz="1120" b="0" i="0">
                <a:solidFill>
                  <a:srgbClr val="1A2B4C"/>
                </a:solidFill>
                <a:latin typeface="Times New Roman"/>
              </a:rPr>
              <a:t> (2014). The Indus Basin Treaty: </a:t>
            </a:r>
            <a:r>
              <a:rPr sz="1120" b="0" i="1">
                <a:solidFill>
                  <a:srgbClr val="1A2B4C"/>
                </a:solidFill>
                <a:latin typeface="Times New Roman"/>
              </a:rPr>
              <a:t>Reservoirs of the Future?</a:t>
            </a:r>
            <a:r>
              <a:rPr sz="1120" b="0" i="0">
                <a:solidFill>
                  <a:srgbClr val="1A2B4C"/>
                </a:solidFill>
                <a:latin typeface="Times New Roman"/>
              </a:rPr>
              <a:t> ADB.</a:t>
            </a:r>
          </a:p>
        </p:txBody>
      </p:sp>
      <p:sp>
        <p:nvSpPr>
          <p:cNvPr id="21" name="TextBox 20"/>
          <p:cNvSpPr txBox="1"/>
          <p:nvPr/>
        </p:nvSpPr>
        <p:spPr>
          <a:xfrm>
            <a:off x="9525000" y="3028950"/>
            <a:ext cx="7639050"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1" i="0">
                <a:solidFill>
                  <a:srgbClr val="1A2B4C"/>
                </a:solidFill>
                <a:latin typeface="Times New Roman"/>
              </a:rPr>
              <a:t>Water Apportionment Accord</a:t>
            </a:r>
            <a:r>
              <a:rPr sz="1120" b="0" i="0">
                <a:solidFill>
                  <a:srgbClr val="1A2B4C"/>
                </a:solidFill>
                <a:latin typeface="Times New Roman"/>
              </a:rPr>
              <a:t> (1991). Provincial water allocation among Punjab, Sindh, KPK and Balochistan.</a:t>
            </a:r>
          </a:p>
        </p:txBody>
      </p:sp>
      <p:sp>
        <p:nvSpPr>
          <p:cNvPr id="22" name="TextBox 21"/>
          <p:cNvSpPr txBox="1"/>
          <p:nvPr/>
        </p:nvSpPr>
        <p:spPr>
          <a:xfrm>
            <a:off x="9315450" y="3486150"/>
            <a:ext cx="7848600" cy="209550"/>
          </a:xfrm>
          <a:prstGeom prst="rect">
            <a:avLst/>
          </a:prstGeom>
          <a:noFill/>
        </p:spPr>
        <p:txBody>
          <a:bodyPr wrap="square" lIns="0" rIns="0" tIns="0" bIns="0" anchor="ctr">
            <a:spAutoFit/>
          </a:bodyPr>
          <a:lstStyle/>
          <a:p>
            <a:pPr algn="l">
              <a:lnSpc>
                <a:spcPct val="120000"/>
              </a:lnSpc>
            </a:pPr>
            <a:r>
              <a:rPr sz="1200" b="0" i="0">
                <a:solidFill>
                  <a:srgbClr val="1A2B4C"/>
                </a:solidFill>
                <a:latin typeface="Times New Roman"/>
              </a:rPr>
              <a:t>Salinity &amp; agronomy</a:t>
            </a:r>
          </a:p>
        </p:txBody>
      </p:sp>
      <p:sp>
        <p:nvSpPr>
          <p:cNvPr id="23" name="TextBox 22"/>
          <p:cNvSpPr txBox="1"/>
          <p:nvPr/>
        </p:nvSpPr>
        <p:spPr>
          <a:xfrm>
            <a:off x="9525000" y="3790950"/>
            <a:ext cx="7639050"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1" i="0">
                <a:solidFill>
                  <a:srgbClr val="1A2B4C"/>
                </a:solidFill>
                <a:latin typeface="Times New Roman"/>
              </a:rPr>
              <a:t>Qureshi, A.S. et al.</a:t>
            </a:r>
            <a:r>
              <a:rPr sz="1120" b="0" i="0">
                <a:solidFill>
                  <a:srgbClr val="1A2B4C"/>
                </a:solidFill>
                <a:latin typeface="Times New Roman"/>
              </a:rPr>
              <a:t> (2008). Managing salinity in Pakistan’s Indus Basin. IWMI.</a:t>
            </a:r>
          </a:p>
        </p:txBody>
      </p:sp>
      <p:sp>
        <p:nvSpPr>
          <p:cNvPr id="24" name="TextBox 23"/>
          <p:cNvSpPr txBox="1"/>
          <p:nvPr/>
        </p:nvSpPr>
        <p:spPr>
          <a:xfrm>
            <a:off x="9525000" y="4095750"/>
            <a:ext cx="7639050"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1" i="0">
                <a:solidFill>
                  <a:srgbClr val="1A2B4C"/>
                </a:solidFill>
                <a:latin typeface="Times New Roman"/>
              </a:rPr>
              <a:t>Aslam, M. &amp; Prathapar, S.A.</a:t>
            </a:r>
            <a:r>
              <a:rPr sz="1120" b="0" i="0">
                <a:solidFill>
                  <a:srgbClr val="1A2B4C"/>
                </a:solidFill>
                <a:latin typeface="Times New Roman"/>
              </a:rPr>
              <a:t>. Managing tubewell drainage in Sindh.</a:t>
            </a:r>
          </a:p>
        </p:txBody>
      </p:sp>
      <p:sp>
        <p:nvSpPr>
          <p:cNvPr id="25" name="TextBox 24"/>
          <p:cNvSpPr txBox="1"/>
          <p:nvPr/>
        </p:nvSpPr>
        <p:spPr>
          <a:xfrm>
            <a:off x="9315450" y="4552950"/>
            <a:ext cx="7848600" cy="209550"/>
          </a:xfrm>
          <a:prstGeom prst="rect">
            <a:avLst/>
          </a:prstGeom>
          <a:noFill/>
        </p:spPr>
        <p:txBody>
          <a:bodyPr wrap="square" lIns="0" rIns="0" tIns="0" bIns="0" anchor="ctr">
            <a:spAutoFit/>
          </a:bodyPr>
          <a:lstStyle/>
          <a:p>
            <a:pPr algn="l">
              <a:lnSpc>
                <a:spcPct val="120000"/>
              </a:lnSpc>
            </a:pPr>
            <a:r>
              <a:rPr sz="1200" b="0" i="0">
                <a:solidFill>
                  <a:srgbClr val="1A2B4C"/>
                </a:solidFill>
                <a:latin typeface="Times New Roman"/>
              </a:rPr>
              <a:t>Data sources (live, periodical)</a:t>
            </a:r>
          </a:p>
        </p:txBody>
      </p:sp>
      <p:sp>
        <p:nvSpPr>
          <p:cNvPr id="26" name="TextBox 25"/>
          <p:cNvSpPr txBox="1"/>
          <p:nvPr/>
        </p:nvSpPr>
        <p:spPr>
          <a:xfrm>
            <a:off x="9525000" y="4857750"/>
            <a:ext cx="7639050"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0" i="0">
                <a:solidFill>
                  <a:srgbClr val="1A2B4C"/>
                </a:solidFill>
                <a:latin typeface="Times New Roman"/>
              </a:rPr>
              <a:t>Pakistan Meteorological Department (PMD) — monthly climate normals 1991–2020.</a:t>
            </a:r>
          </a:p>
        </p:txBody>
      </p:sp>
      <p:sp>
        <p:nvSpPr>
          <p:cNvPr id="27" name="TextBox 26"/>
          <p:cNvSpPr txBox="1"/>
          <p:nvPr/>
        </p:nvSpPr>
        <p:spPr>
          <a:xfrm>
            <a:off x="9525000" y="5162550"/>
            <a:ext cx="7639050"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0" i="0">
                <a:solidFill>
                  <a:srgbClr val="1A2B4C"/>
                </a:solidFill>
                <a:latin typeface="Times New Roman"/>
              </a:rPr>
              <a:t>Water &amp; Power Development Authority (WAPDA) — Indus discharge and storage data.</a:t>
            </a:r>
          </a:p>
        </p:txBody>
      </p:sp>
      <p:sp>
        <p:nvSpPr>
          <p:cNvPr id="28" name="TextBox 27"/>
          <p:cNvSpPr txBox="1"/>
          <p:nvPr/>
        </p:nvSpPr>
        <p:spPr>
          <a:xfrm>
            <a:off x="9525000" y="5467350"/>
            <a:ext cx="7639050"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0" i="0">
                <a:solidFill>
                  <a:srgbClr val="1A2B4C"/>
                </a:solidFill>
                <a:latin typeface="Times New Roman"/>
              </a:rPr>
              <a:t>Pakistan Bureau of Statistics — Agricultural Statistics of Pakistan (annual).</a:t>
            </a:r>
          </a:p>
        </p:txBody>
      </p:sp>
      <p:sp>
        <p:nvSpPr>
          <p:cNvPr id="29" name="TextBox 28"/>
          <p:cNvSpPr txBox="1"/>
          <p:nvPr/>
        </p:nvSpPr>
        <p:spPr>
          <a:xfrm>
            <a:off x="9525000" y="5772150"/>
            <a:ext cx="7639050"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0" i="0">
                <a:solidFill>
                  <a:srgbClr val="1A2B4C"/>
                </a:solidFill>
                <a:latin typeface="Times New Roman"/>
              </a:rPr>
              <a:t>FAO — Agro-Ecological Zones of Pakistan (1993, rev. 2018).</a:t>
            </a:r>
          </a:p>
        </p:txBody>
      </p:sp>
      <p:sp>
        <p:nvSpPr>
          <p:cNvPr id="30" name="TextBox 29"/>
          <p:cNvSpPr txBox="1"/>
          <p:nvPr/>
        </p:nvSpPr>
        <p:spPr>
          <a:xfrm>
            <a:off x="9525000" y="6076950"/>
            <a:ext cx="7639050"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0" i="0">
                <a:solidFill>
                  <a:srgbClr val="1A2B4C"/>
                </a:solidFill>
                <a:latin typeface="Times New Roman"/>
              </a:rPr>
              <a:t>SUPARCO — satellite-derived crop &amp; land-cover products.</a:t>
            </a:r>
          </a:p>
        </p:txBody>
      </p:sp>
      <p:sp>
        <p:nvSpPr>
          <p:cNvPr id="31" name="TextBox 30"/>
          <p:cNvSpPr txBox="1"/>
          <p:nvPr/>
        </p:nvSpPr>
        <p:spPr>
          <a:xfrm>
            <a:off x="9525000" y="6381750"/>
            <a:ext cx="7639050" cy="266700"/>
          </a:xfrm>
          <a:prstGeom prst="rect">
            <a:avLst/>
          </a:prstGeom>
          <a:noFill/>
        </p:spPr>
        <p:txBody>
          <a:bodyPr wrap="square" lIns="0" rIns="0" tIns="0" bIns="0" anchor="ctr">
            <a:spAutoFit/>
          </a:bodyPr>
          <a:lstStyle/>
          <a:p>
            <a:pPr algn="l">
              <a:lnSpc>
                <a:spcPct val="160000"/>
              </a:lnSpc>
            </a:pPr>
            <a:r>
              <a:rPr sz="1120" b="0" i="0">
                <a:solidFill>
                  <a:srgbClr val="1A2B4C"/>
                </a:solidFill>
                <a:latin typeface="Times New Roman"/>
              </a:rPr>
              <a:t>• </a:t>
            </a:r>
            <a:r>
              <a:rPr sz="1120" b="0" i="0">
                <a:solidFill>
                  <a:srgbClr val="1A2B4C"/>
                </a:solidFill>
                <a:latin typeface="Times New Roman"/>
              </a:rPr>
              <a:t>ICIMOD — HKH cryosphere monitoring.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